
<file path=[Content_Types].xml><?xml version="1.0" encoding="utf-8"?>
<Types xmlns="http://schemas.openxmlformats.org/package/2006/content-types">
  <Default Extension="xml" ContentType="application/xml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1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0.xml" ContentType="application/vnd.openxmlformats-officedocument.presentationml.slide+xml"/>
  <Override PartName="/ppt/slides/slide3.xml" ContentType="application/vnd.openxmlformats-officedocument.presentationml.slide+xml"/>
  <Override PartName="/ppt/theme/theme1.xml" ContentType="application/vnd.openxmlformats-officedocument.theme+xml"/>
  <Override PartName="/ppt/slides/slide13.xml" ContentType="application/vnd.openxmlformats-officedocument.presentationml.slide+xml"/>
  <Override PartName="/ppt/slides/slide6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8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8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12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s/slide12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saveSubsetFonts="1">
  <p:sldMasterIdLst>
    <p:sldMasterId id="2147483648" r:id="rId1"/>
  </p:sldMasterIdLst>
  <p:notesMasterIdLst>
    <p:notesMasterId r:id="rId16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12192000" cy="6858000"/>
  <p:notesSz cx="6858000" cy="12192000"/>
  <p:defaultTextStyle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>
        <p:guide pos="3840"/>
        <p:guide pos="2160" orient="horz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 /><Relationship Id="rId18" Type="http://schemas.openxmlformats.org/officeDocument/2006/relationships/tableStyles" Target="tableStyles.xml" /><Relationship Id="rId19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78196364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6993702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109909914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221314563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682933471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64308850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123651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1039557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Proyek ini adalah website review film yang mengintegrasikan model NLP untuk klasifikasi sentimen review secara realtime.</a:t>
            </a:r>
            <a:endParaRPr lang="en-US"/>
          </a:p>
        </p:txBody>
      </p:sp>
      <p:sp>
        <p:nvSpPr>
          <p:cNvPr id="109855654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6696907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4491733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UI dibuat seperti katalog streaming. User memilih film, masuk ke detail, menulis review, lalu mendapat hasil sentimen.</a:t>
            </a:r>
            <a:endParaRPr lang="en-US"/>
          </a:p>
        </p:txBody>
      </p:sp>
      <p:sp>
        <p:nvSpPr>
          <p:cNvPr id="202864478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47848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4505548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4966323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803236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9713899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4085121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8096541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6418615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8116672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104620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3071379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3205493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1068545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4320042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1379884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2231380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750489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2845262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601235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2060134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7219870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548844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7349909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5442294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476627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687394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5160333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8827129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9846166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3571588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463541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0039197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8504236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13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dt="0" ftr="0" hdr="0" sldNum="0"/>
  <p:txStyles>
    <p:titleStyle>
      <a:lvl1pPr algn="ctr" defTabSz="914400" rtl="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2.pn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3.png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4.png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">
    <p:bg>
      <p:bgPr shadeToTitle="0">
        <a:solidFill>
          <a:srgbClr val="050808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8018533" name="Shape 0"/>
          <p:cNvSpPr/>
          <p:nvPr/>
        </p:nvSpPr>
        <p:spPr bwMode="auto">
          <a:xfrm>
            <a:off x="0" y="0"/>
            <a:ext cx="12191695" cy="6858000"/>
          </a:xfrm>
          <a:prstGeom prst="rect">
            <a:avLst/>
          </a:prstGeom>
          <a:solidFill>
            <a:srgbClr val="050808"/>
          </a:solidFill>
          <a:ln w="12700">
            <a:solidFill>
              <a:srgbClr val="050808"/>
            </a:solidFill>
            <a:prstDash val="solid"/>
          </a:ln>
        </p:spPr>
      </p:sp>
      <p:sp>
        <p:nvSpPr>
          <p:cNvPr id="197182832" name="Shape 1"/>
          <p:cNvSpPr/>
          <p:nvPr/>
        </p:nvSpPr>
        <p:spPr bwMode="auto">
          <a:xfrm>
            <a:off x="0" y="0"/>
            <a:ext cx="12191695" cy="6858000"/>
          </a:xfrm>
          <a:prstGeom prst="rect">
            <a:avLst/>
          </a:prstGeom>
          <a:solidFill>
            <a:srgbClr val="071111">
              <a:alpha val="80000"/>
            </a:srgbClr>
          </a:solidFill>
          <a:ln w="12700">
            <a:solidFill>
              <a:srgbClr val="071111">
                <a:alpha val="0"/>
              </a:srgbClr>
            </a:solidFill>
            <a:prstDash val="solid"/>
          </a:ln>
        </p:spPr>
      </p:sp>
      <p:sp>
        <p:nvSpPr>
          <p:cNvPr id="591054718" name="Shape 2"/>
          <p:cNvSpPr/>
          <p:nvPr/>
        </p:nvSpPr>
        <p:spPr bwMode="auto">
          <a:xfrm>
            <a:off x="0" y="0"/>
            <a:ext cx="0" cy="6858000"/>
          </a:xfrm>
          <a:prstGeom prst="line">
            <a:avLst/>
          </a:prstGeom>
          <a:noFill/>
          <a:ln w="4445">
            <a:solidFill>
              <a:srgbClr val="132020">
                <a:alpha val="45000"/>
              </a:srgbClr>
            </a:solidFill>
            <a:prstDash val="solid"/>
          </a:ln>
        </p:spPr>
      </p:sp>
      <p:sp>
        <p:nvSpPr>
          <p:cNvPr id="519768336" name="Shape 3"/>
          <p:cNvSpPr/>
          <p:nvPr/>
        </p:nvSpPr>
        <p:spPr bwMode="auto">
          <a:xfrm>
            <a:off x="713232" y="0"/>
            <a:ext cx="0" cy="6858000"/>
          </a:xfrm>
          <a:prstGeom prst="line">
            <a:avLst/>
          </a:prstGeom>
          <a:noFill/>
          <a:ln w="4445">
            <a:solidFill>
              <a:srgbClr val="132020">
                <a:alpha val="45000"/>
              </a:srgbClr>
            </a:solidFill>
            <a:prstDash val="solid"/>
          </a:ln>
        </p:spPr>
      </p:sp>
      <p:sp>
        <p:nvSpPr>
          <p:cNvPr id="548623436" name="Shape 4"/>
          <p:cNvSpPr/>
          <p:nvPr/>
        </p:nvSpPr>
        <p:spPr bwMode="auto">
          <a:xfrm>
            <a:off x="1426464" y="0"/>
            <a:ext cx="0" cy="6858000"/>
          </a:xfrm>
          <a:prstGeom prst="line">
            <a:avLst/>
          </a:prstGeom>
          <a:noFill/>
          <a:ln w="4445">
            <a:solidFill>
              <a:srgbClr val="132020">
                <a:alpha val="45000"/>
              </a:srgbClr>
            </a:solidFill>
            <a:prstDash val="solid"/>
          </a:ln>
        </p:spPr>
      </p:sp>
      <p:sp>
        <p:nvSpPr>
          <p:cNvPr id="1728566454" name="Shape 5"/>
          <p:cNvSpPr/>
          <p:nvPr/>
        </p:nvSpPr>
        <p:spPr bwMode="auto">
          <a:xfrm>
            <a:off x="2139696" y="0"/>
            <a:ext cx="0" cy="6858000"/>
          </a:xfrm>
          <a:prstGeom prst="line">
            <a:avLst/>
          </a:prstGeom>
          <a:noFill/>
          <a:ln w="4445">
            <a:solidFill>
              <a:srgbClr val="132020">
                <a:alpha val="45000"/>
              </a:srgbClr>
            </a:solidFill>
            <a:prstDash val="solid"/>
          </a:ln>
        </p:spPr>
      </p:sp>
      <p:sp>
        <p:nvSpPr>
          <p:cNvPr id="1871087749" name="Shape 6"/>
          <p:cNvSpPr/>
          <p:nvPr/>
        </p:nvSpPr>
        <p:spPr bwMode="auto">
          <a:xfrm>
            <a:off x="2852928" y="0"/>
            <a:ext cx="0" cy="6858000"/>
          </a:xfrm>
          <a:prstGeom prst="line">
            <a:avLst/>
          </a:prstGeom>
          <a:noFill/>
          <a:ln w="4445">
            <a:solidFill>
              <a:srgbClr val="132020">
                <a:alpha val="45000"/>
              </a:srgbClr>
            </a:solidFill>
            <a:prstDash val="solid"/>
          </a:ln>
        </p:spPr>
      </p:sp>
      <p:sp>
        <p:nvSpPr>
          <p:cNvPr id="73436658" name="Shape 7"/>
          <p:cNvSpPr/>
          <p:nvPr/>
        </p:nvSpPr>
        <p:spPr bwMode="auto">
          <a:xfrm>
            <a:off x="3566160" y="0"/>
            <a:ext cx="0" cy="6858000"/>
          </a:xfrm>
          <a:prstGeom prst="line">
            <a:avLst/>
          </a:prstGeom>
          <a:noFill/>
          <a:ln w="4445">
            <a:solidFill>
              <a:srgbClr val="132020">
                <a:alpha val="45000"/>
              </a:srgbClr>
            </a:solidFill>
            <a:prstDash val="solid"/>
          </a:ln>
        </p:spPr>
      </p:sp>
      <p:sp>
        <p:nvSpPr>
          <p:cNvPr id="893217902" name="Shape 8"/>
          <p:cNvSpPr/>
          <p:nvPr/>
        </p:nvSpPr>
        <p:spPr bwMode="auto">
          <a:xfrm>
            <a:off x="4279392" y="0"/>
            <a:ext cx="0" cy="6858000"/>
          </a:xfrm>
          <a:prstGeom prst="line">
            <a:avLst/>
          </a:prstGeom>
          <a:noFill/>
          <a:ln w="4445">
            <a:solidFill>
              <a:srgbClr val="132020">
                <a:alpha val="45000"/>
              </a:srgbClr>
            </a:solidFill>
            <a:prstDash val="solid"/>
          </a:ln>
        </p:spPr>
      </p:sp>
      <p:sp>
        <p:nvSpPr>
          <p:cNvPr id="486183203" name="Shape 9"/>
          <p:cNvSpPr/>
          <p:nvPr/>
        </p:nvSpPr>
        <p:spPr bwMode="auto">
          <a:xfrm>
            <a:off x="4992624" y="0"/>
            <a:ext cx="0" cy="6858000"/>
          </a:xfrm>
          <a:prstGeom prst="line">
            <a:avLst/>
          </a:prstGeom>
          <a:noFill/>
          <a:ln w="4445">
            <a:solidFill>
              <a:srgbClr val="132020">
                <a:alpha val="45000"/>
              </a:srgbClr>
            </a:solidFill>
            <a:prstDash val="solid"/>
          </a:ln>
        </p:spPr>
      </p:sp>
      <p:sp>
        <p:nvSpPr>
          <p:cNvPr id="2014893111" name="Shape 10"/>
          <p:cNvSpPr/>
          <p:nvPr/>
        </p:nvSpPr>
        <p:spPr bwMode="auto">
          <a:xfrm>
            <a:off x="5705856" y="0"/>
            <a:ext cx="0" cy="6858000"/>
          </a:xfrm>
          <a:prstGeom prst="line">
            <a:avLst/>
          </a:prstGeom>
          <a:noFill/>
          <a:ln w="4445">
            <a:solidFill>
              <a:srgbClr val="132020">
                <a:alpha val="45000"/>
              </a:srgbClr>
            </a:solidFill>
            <a:prstDash val="solid"/>
          </a:ln>
        </p:spPr>
      </p:sp>
      <p:sp>
        <p:nvSpPr>
          <p:cNvPr id="1317994506" name="Shape 11"/>
          <p:cNvSpPr/>
          <p:nvPr/>
        </p:nvSpPr>
        <p:spPr bwMode="auto">
          <a:xfrm>
            <a:off x="6419088" y="0"/>
            <a:ext cx="0" cy="6858000"/>
          </a:xfrm>
          <a:prstGeom prst="line">
            <a:avLst/>
          </a:prstGeom>
          <a:noFill/>
          <a:ln w="4445">
            <a:solidFill>
              <a:srgbClr val="132020">
                <a:alpha val="45000"/>
              </a:srgbClr>
            </a:solidFill>
            <a:prstDash val="solid"/>
          </a:ln>
        </p:spPr>
      </p:sp>
      <p:sp>
        <p:nvSpPr>
          <p:cNvPr id="662098123" name="Shape 12"/>
          <p:cNvSpPr/>
          <p:nvPr/>
        </p:nvSpPr>
        <p:spPr bwMode="auto">
          <a:xfrm>
            <a:off x="7132320" y="0"/>
            <a:ext cx="0" cy="6858000"/>
          </a:xfrm>
          <a:prstGeom prst="line">
            <a:avLst/>
          </a:prstGeom>
          <a:noFill/>
          <a:ln w="4445">
            <a:solidFill>
              <a:srgbClr val="132020">
                <a:alpha val="45000"/>
              </a:srgbClr>
            </a:solidFill>
            <a:prstDash val="solid"/>
          </a:ln>
        </p:spPr>
      </p:sp>
      <p:sp>
        <p:nvSpPr>
          <p:cNvPr id="414204317" name="Shape 13"/>
          <p:cNvSpPr/>
          <p:nvPr/>
        </p:nvSpPr>
        <p:spPr bwMode="auto">
          <a:xfrm>
            <a:off x="7845552" y="0"/>
            <a:ext cx="0" cy="6858000"/>
          </a:xfrm>
          <a:prstGeom prst="line">
            <a:avLst/>
          </a:prstGeom>
          <a:noFill/>
          <a:ln w="4445">
            <a:solidFill>
              <a:srgbClr val="132020">
                <a:alpha val="45000"/>
              </a:srgbClr>
            </a:solidFill>
            <a:prstDash val="solid"/>
          </a:ln>
        </p:spPr>
      </p:sp>
      <p:sp>
        <p:nvSpPr>
          <p:cNvPr id="455800210" name="Shape 14"/>
          <p:cNvSpPr/>
          <p:nvPr/>
        </p:nvSpPr>
        <p:spPr bwMode="auto">
          <a:xfrm>
            <a:off x="8558784" y="0"/>
            <a:ext cx="0" cy="6858000"/>
          </a:xfrm>
          <a:prstGeom prst="line">
            <a:avLst/>
          </a:prstGeom>
          <a:noFill/>
          <a:ln w="4445">
            <a:solidFill>
              <a:srgbClr val="132020">
                <a:alpha val="45000"/>
              </a:srgbClr>
            </a:solidFill>
            <a:prstDash val="solid"/>
          </a:ln>
        </p:spPr>
      </p:sp>
      <p:sp>
        <p:nvSpPr>
          <p:cNvPr id="1352330188" name="Shape 15"/>
          <p:cNvSpPr/>
          <p:nvPr/>
        </p:nvSpPr>
        <p:spPr bwMode="auto">
          <a:xfrm>
            <a:off x="9272016" y="0"/>
            <a:ext cx="0" cy="6858000"/>
          </a:xfrm>
          <a:prstGeom prst="line">
            <a:avLst/>
          </a:prstGeom>
          <a:noFill/>
          <a:ln w="4445">
            <a:solidFill>
              <a:srgbClr val="132020">
                <a:alpha val="45000"/>
              </a:srgbClr>
            </a:solidFill>
            <a:prstDash val="solid"/>
          </a:ln>
        </p:spPr>
      </p:sp>
      <p:sp>
        <p:nvSpPr>
          <p:cNvPr id="1294223087" name="Shape 16"/>
          <p:cNvSpPr/>
          <p:nvPr/>
        </p:nvSpPr>
        <p:spPr bwMode="auto">
          <a:xfrm>
            <a:off x="9985248" y="0"/>
            <a:ext cx="0" cy="6858000"/>
          </a:xfrm>
          <a:prstGeom prst="line">
            <a:avLst/>
          </a:prstGeom>
          <a:noFill/>
          <a:ln w="4445">
            <a:solidFill>
              <a:srgbClr val="132020">
                <a:alpha val="45000"/>
              </a:srgbClr>
            </a:solidFill>
            <a:prstDash val="solid"/>
          </a:ln>
        </p:spPr>
      </p:sp>
      <p:sp>
        <p:nvSpPr>
          <p:cNvPr id="303890744" name="Shape 17"/>
          <p:cNvSpPr/>
          <p:nvPr/>
        </p:nvSpPr>
        <p:spPr bwMode="auto">
          <a:xfrm>
            <a:off x="10698480" y="0"/>
            <a:ext cx="0" cy="6858000"/>
          </a:xfrm>
          <a:prstGeom prst="line">
            <a:avLst/>
          </a:prstGeom>
          <a:noFill/>
          <a:ln w="4445">
            <a:solidFill>
              <a:srgbClr val="132020">
                <a:alpha val="45000"/>
              </a:srgbClr>
            </a:solidFill>
            <a:prstDash val="solid"/>
          </a:ln>
        </p:spPr>
      </p:sp>
      <p:sp>
        <p:nvSpPr>
          <p:cNvPr id="266714138" name="Shape 18"/>
          <p:cNvSpPr/>
          <p:nvPr/>
        </p:nvSpPr>
        <p:spPr bwMode="auto">
          <a:xfrm>
            <a:off x="11411712" y="0"/>
            <a:ext cx="0" cy="6858000"/>
          </a:xfrm>
          <a:prstGeom prst="line">
            <a:avLst/>
          </a:prstGeom>
          <a:noFill/>
          <a:ln w="4445">
            <a:solidFill>
              <a:srgbClr val="132020">
                <a:alpha val="45000"/>
              </a:srgbClr>
            </a:solidFill>
            <a:prstDash val="solid"/>
          </a:ln>
        </p:spPr>
      </p:sp>
      <p:sp>
        <p:nvSpPr>
          <p:cNvPr id="1596998970" name="Shape 19"/>
          <p:cNvSpPr/>
          <p:nvPr/>
        </p:nvSpPr>
        <p:spPr bwMode="auto">
          <a:xfrm>
            <a:off x="12124943" y="0"/>
            <a:ext cx="0" cy="6858000"/>
          </a:xfrm>
          <a:prstGeom prst="line">
            <a:avLst/>
          </a:prstGeom>
          <a:noFill/>
          <a:ln w="4445">
            <a:solidFill>
              <a:srgbClr val="132020">
                <a:alpha val="45000"/>
              </a:srgbClr>
            </a:solidFill>
            <a:prstDash val="solid"/>
          </a:ln>
        </p:spPr>
      </p:sp>
      <p:sp>
        <p:nvSpPr>
          <p:cNvPr id="114126135" name="Shape 20"/>
          <p:cNvSpPr/>
          <p:nvPr/>
        </p:nvSpPr>
        <p:spPr bwMode="auto">
          <a:xfrm>
            <a:off x="0" y="0"/>
            <a:ext cx="12191695" cy="0"/>
          </a:xfrm>
          <a:prstGeom prst="line">
            <a:avLst/>
          </a:prstGeom>
          <a:noFill/>
          <a:ln w="4445">
            <a:solidFill>
              <a:srgbClr val="132020">
                <a:alpha val="38000"/>
              </a:srgbClr>
            </a:solidFill>
            <a:prstDash val="solid"/>
          </a:ln>
        </p:spPr>
      </p:sp>
      <p:sp>
        <p:nvSpPr>
          <p:cNvPr id="1709357623" name="Shape 21"/>
          <p:cNvSpPr/>
          <p:nvPr/>
        </p:nvSpPr>
        <p:spPr bwMode="auto">
          <a:xfrm>
            <a:off x="0" y="713232"/>
            <a:ext cx="12191695" cy="0"/>
          </a:xfrm>
          <a:prstGeom prst="line">
            <a:avLst/>
          </a:prstGeom>
          <a:noFill/>
          <a:ln w="4445">
            <a:solidFill>
              <a:srgbClr val="132020">
                <a:alpha val="38000"/>
              </a:srgbClr>
            </a:solidFill>
            <a:prstDash val="solid"/>
          </a:ln>
        </p:spPr>
      </p:sp>
      <p:sp>
        <p:nvSpPr>
          <p:cNvPr id="1759551082" name="Shape 22"/>
          <p:cNvSpPr/>
          <p:nvPr/>
        </p:nvSpPr>
        <p:spPr bwMode="auto">
          <a:xfrm>
            <a:off x="0" y="1426464"/>
            <a:ext cx="12191695" cy="0"/>
          </a:xfrm>
          <a:prstGeom prst="line">
            <a:avLst/>
          </a:prstGeom>
          <a:noFill/>
          <a:ln w="4445">
            <a:solidFill>
              <a:srgbClr val="132020">
                <a:alpha val="38000"/>
              </a:srgbClr>
            </a:solidFill>
            <a:prstDash val="solid"/>
          </a:ln>
        </p:spPr>
      </p:sp>
      <p:sp>
        <p:nvSpPr>
          <p:cNvPr id="196612656" name="Shape 23"/>
          <p:cNvSpPr/>
          <p:nvPr/>
        </p:nvSpPr>
        <p:spPr bwMode="auto">
          <a:xfrm>
            <a:off x="0" y="2139696"/>
            <a:ext cx="12191695" cy="0"/>
          </a:xfrm>
          <a:prstGeom prst="line">
            <a:avLst/>
          </a:prstGeom>
          <a:noFill/>
          <a:ln w="4445">
            <a:solidFill>
              <a:srgbClr val="132020">
                <a:alpha val="38000"/>
              </a:srgbClr>
            </a:solidFill>
            <a:prstDash val="solid"/>
          </a:ln>
        </p:spPr>
      </p:sp>
      <p:sp>
        <p:nvSpPr>
          <p:cNvPr id="1163385433" name="Shape 24"/>
          <p:cNvSpPr/>
          <p:nvPr/>
        </p:nvSpPr>
        <p:spPr bwMode="auto">
          <a:xfrm>
            <a:off x="0" y="2852928"/>
            <a:ext cx="12191695" cy="0"/>
          </a:xfrm>
          <a:prstGeom prst="line">
            <a:avLst/>
          </a:prstGeom>
          <a:noFill/>
          <a:ln w="4445">
            <a:solidFill>
              <a:srgbClr val="132020">
                <a:alpha val="38000"/>
              </a:srgbClr>
            </a:solidFill>
            <a:prstDash val="solid"/>
          </a:ln>
        </p:spPr>
      </p:sp>
      <p:sp>
        <p:nvSpPr>
          <p:cNvPr id="12519475" name="Shape 25"/>
          <p:cNvSpPr/>
          <p:nvPr/>
        </p:nvSpPr>
        <p:spPr bwMode="auto">
          <a:xfrm>
            <a:off x="0" y="3566160"/>
            <a:ext cx="12191695" cy="0"/>
          </a:xfrm>
          <a:prstGeom prst="line">
            <a:avLst/>
          </a:prstGeom>
          <a:noFill/>
          <a:ln w="4445">
            <a:solidFill>
              <a:srgbClr val="132020">
                <a:alpha val="38000"/>
              </a:srgbClr>
            </a:solidFill>
            <a:prstDash val="solid"/>
          </a:ln>
        </p:spPr>
      </p:sp>
      <p:sp>
        <p:nvSpPr>
          <p:cNvPr id="901417858" name="Shape 26"/>
          <p:cNvSpPr/>
          <p:nvPr/>
        </p:nvSpPr>
        <p:spPr bwMode="auto">
          <a:xfrm>
            <a:off x="0" y="4279392"/>
            <a:ext cx="12191695" cy="0"/>
          </a:xfrm>
          <a:prstGeom prst="line">
            <a:avLst/>
          </a:prstGeom>
          <a:noFill/>
          <a:ln w="4445">
            <a:solidFill>
              <a:srgbClr val="132020">
                <a:alpha val="38000"/>
              </a:srgbClr>
            </a:solidFill>
            <a:prstDash val="solid"/>
          </a:ln>
        </p:spPr>
      </p:sp>
      <p:sp>
        <p:nvSpPr>
          <p:cNvPr id="1808047965" name="Shape 27"/>
          <p:cNvSpPr/>
          <p:nvPr/>
        </p:nvSpPr>
        <p:spPr bwMode="auto">
          <a:xfrm>
            <a:off x="0" y="4992624"/>
            <a:ext cx="12191695" cy="0"/>
          </a:xfrm>
          <a:prstGeom prst="line">
            <a:avLst/>
          </a:prstGeom>
          <a:noFill/>
          <a:ln w="4445">
            <a:solidFill>
              <a:srgbClr val="132020">
                <a:alpha val="38000"/>
              </a:srgbClr>
            </a:solidFill>
            <a:prstDash val="solid"/>
          </a:ln>
        </p:spPr>
      </p:sp>
      <p:sp>
        <p:nvSpPr>
          <p:cNvPr id="545455047" name="Shape 28"/>
          <p:cNvSpPr/>
          <p:nvPr/>
        </p:nvSpPr>
        <p:spPr bwMode="auto">
          <a:xfrm>
            <a:off x="0" y="5705856"/>
            <a:ext cx="12191695" cy="0"/>
          </a:xfrm>
          <a:prstGeom prst="line">
            <a:avLst/>
          </a:prstGeom>
          <a:noFill/>
          <a:ln w="4445">
            <a:solidFill>
              <a:srgbClr val="132020">
                <a:alpha val="38000"/>
              </a:srgbClr>
            </a:solidFill>
            <a:prstDash val="solid"/>
          </a:ln>
        </p:spPr>
      </p:sp>
      <p:sp>
        <p:nvSpPr>
          <p:cNvPr id="1889023020" name="Shape 29"/>
          <p:cNvSpPr/>
          <p:nvPr/>
        </p:nvSpPr>
        <p:spPr bwMode="auto">
          <a:xfrm>
            <a:off x="0" y="6419088"/>
            <a:ext cx="12191695" cy="0"/>
          </a:xfrm>
          <a:prstGeom prst="line">
            <a:avLst/>
          </a:prstGeom>
          <a:noFill/>
          <a:ln w="4445">
            <a:solidFill>
              <a:srgbClr val="132020">
                <a:alpha val="38000"/>
              </a:srgbClr>
            </a:solidFill>
            <a:prstDash val="solid"/>
          </a:ln>
        </p:spPr>
      </p:sp>
      <p:sp>
        <p:nvSpPr>
          <p:cNvPr id="1525683336" name="Shape 30"/>
          <p:cNvSpPr/>
          <p:nvPr/>
        </p:nvSpPr>
        <p:spPr bwMode="auto">
          <a:xfrm>
            <a:off x="0" y="0"/>
            <a:ext cx="82296" cy="6858000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pic>
        <p:nvPicPr>
          <p:cNvPr id="1403317810" name="Image 0" descr="/home/fanff/fanfan/ML/NLP_coolyeah/TA/ppt_nuxt_movies/assets/generated/nuxt-movies-logo.png"/>
          <p:cNvPicPr>
            <a:picLocks noChangeAspect="1"/>
          </p:cNvPicPr>
          <p:nvPr/>
        </p:nvPicPr>
        <p:blipFill rotWithShape="1">
          <a:blip r:embed="rId3">
            <a:alphaModFix amt="94000"/>
          </a:blip>
          <a:stretch/>
        </p:blipFill>
        <p:spPr bwMode="auto">
          <a:xfrm>
            <a:off x="11356848" y="237744"/>
            <a:ext cx="411480" cy="411480"/>
          </a:xfrm>
          <a:prstGeom prst="rect">
            <a:avLst/>
          </a:prstGeom>
        </p:spPr>
      </p:pic>
      <p:pic>
        <p:nvPicPr>
          <p:cNvPr id="406265598" name="Image 1" descr="/home/fanff/fanfan/ML/NLP_coolyeah/TA/movies-vue/public/social-card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4572000" y="502920"/>
            <a:ext cx="7223760" cy="4251960"/>
          </a:xfrm>
          <a:prstGeom prst="rect">
            <a:avLst/>
          </a:prstGeom>
        </p:spPr>
      </p:pic>
      <p:sp>
        <p:nvSpPr>
          <p:cNvPr id="2118561271" name="Shape 31"/>
          <p:cNvSpPr/>
          <p:nvPr/>
        </p:nvSpPr>
        <p:spPr bwMode="auto">
          <a:xfrm>
            <a:off x="3886200" y="0"/>
            <a:ext cx="8321039" cy="6858000"/>
          </a:xfrm>
          <a:prstGeom prst="rect">
            <a:avLst/>
          </a:prstGeom>
          <a:solidFill>
            <a:srgbClr val="050808">
              <a:alpha val="78000"/>
            </a:srgbClr>
          </a:solidFill>
          <a:ln w="12700">
            <a:solidFill>
              <a:srgbClr val="050808">
                <a:alpha val="0"/>
              </a:srgbClr>
            </a:solidFill>
            <a:prstDash val="solid"/>
          </a:ln>
        </p:spPr>
      </p:sp>
      <p:sp>
        <p:nvSpPr>
          <p:cNvPr id="1921547186" name="Shape 32"/>
          <p:cNvSpPr/>
          <p:nvPr/>
        </p:nvSpPr>
        <p:spPr bwMode="auto">
          <a:xfrm>
            <a:off x="685800" y="658368"/>
            <a:ext cx="1234440" cy="256032"/>
          </a:xfrm>
          <a:prstGeom prst="roundRect">
            <a:avLst>
              <a:gd name="adj" fmla="val 17857"/>
            </a:avLst>
          </a:prstGeom>
          <a:solidFill>
            <a:srgbClr val="E50914">
              <a:alpha val="95000"/>
            </a:srgbClr>
          </a:solidFill>
          <a:ln w="10160">
            <a:solidFill>
              <a:srgbClr val="E50914">
                <a:alpha val="75000"/>
              </a:srgbClr>
            </a:solidFill>
            <a:prstDash val="solid"/>
          </a:ln>
        </p:spPr>
      </p:sp>
      <p:sp>
        <p:nvSpPr>
          <p:cNvPr id="319023083" name="Text 33"/>
          <p:cNvSpPr/>
          <p:nvPr/>
        </p:nvSpPr>
        <p:spPr bwMode="auto">
          <a:xfrm>
            <a:off x="758952" y="708660"/>
            <a:ext cx="1097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700" b="1">
                <a:solidFill>
                  <a:srgbClr val="FFFFFF"/>
                </a:solidFill>
              </a:rPr>
              <a:t>Tugas Akhir NLP</a:t>
            </a:r>
            <a:endParaRPr lang="en-US" sz="700"/>
          </a:p>
        </p:txBody>
      </p:sp>
      <p:sp>
        <p:nvSpPr>
          <p:cNvPr id="1254748374" name="Text 34"/>
          <p:cNvSpPr/>
          <p:nvPr/>
        </p:nvSpPr>
        <p:spPr bwMode="auto">
          <a:xfrm>
            <a:off x="658368" y="1078992"/>
            <a:ext cx="585216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  <a:defRPr/>
            </a:pPr>
            <a:r>
              <a:rPr lang="en-US" sz="3800" b="1">
                <a:solidFill>
                  <a:srgbClr val="F4F7F6"/>
                </a:solidFill>
                <a:latin typeface="Georgia"/>
                <a:ea typeface="Georgia"/>
                <a:cs typeface="Georgia"/>
              </a:rPr>
              <a:t>Movie Review Website</a:t>
            </a:r>
            <a:endParaRPr lang="en-US" sz="3800"/>
          </a:p>
          <a:p>
            <a:pPr marL="0" indent="0">
              <a:buNone/>
              <a:defRPr/>
            </a:pPr>
            <a:r>
              <a:rPr lang="en-US" sz="3800" b="1">
                <a:solidFill>
                  <a:srgbClr val="F4F7F6"/>
                </a:solidFill>
                <a:latin typeface="Georgia"/>
                <a:ea typeface="Georgia"/>
                <a:cs typeface="Georgia"/>
              </a:rPr>
              <a:t>with Realtime NLP</a:t>
            </a:r>
            <a:endParaRPr lang="en-US" sz="3800"/>
          </a:p>
          <a:p>
            <a:pPr marL="0" indent="0">
              <a:buNone/>
              <a:defRPr/>
            </a:pPr>
            <a:r>
              <a:rPr lang="en-US" sz="3800" b="1">
                <a:solidFill>
                  <a:srgbClr val="F4F7F6"/>
                </a:solidFill>
                <a:latin typeface="Georgia"/>
                <a:ea typeface="Georgia"/>
                <a:cs typeface="Georgia"/>
              </a:rPr>
              <a:t>Sentiment Classification</a:t>
            </a:r>
            <a:endParaRPr lang="en-US" sz="3800"/>
          </a:p>
        </p:txBody>
      </p:sp>
      <p:sp>
        <p:nvSpPr>
          <p:cNvPr id="2007787718" name="Text 35"/>
          <p:cNvSpPr/>
          <p:nvPr/>
        </p:nvSpPr>
        <p:spPr bwMode="auto">
          <a:xfrm>
            <a:off x="694944" y="3401568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800" b="1">
                <a:solidFill>
                  <a:srgbClr val="24D6C3"/>
                </a:solidFill>
              </a:rPr>
              <a:t>Nuxt Movies</a:t>
            </a:r>
            <a:endParaRPr lang="en-US" sz="1800"/>
          </a:p>
        </p:txBody>
      </p:sp>
      <p:sp>
        <p:nvSpPr>
          <p:cNvPr id="1923324069" name="Text 36"/>
          <p:cNvSpPr/>
          <p:nvPr/>
        </p:nvSpPr>
        <p:spPr bwMode="auto">
          <a:xfrm>
            <a:off x="713232" y="3913632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00">
                <a:solidFill>
                  <a:srgbClr val="9EA8A6"/>
                </a:solidFill>
              </a:rPr>
              <a:t>1222624 - Fan Fan Firgiawan</a:t>
            </a:r>
            <a:endParaRPr lang="en-US" sz="1400"/>
          </a:p>
          <a:p>
            <a:pPr marL="0" indent="0">
              <a:buNone/>
              <a:defRPr/>
            </a:pPr>
            <a:r>
              <a:rPr lang="en-US" sz="1400" b="0" i="0" u="none" strike="noStrike" cap="none" spc="0">
                <a:solidFill>
                  <a:srgbClr val="9EA8A6"/>
                </a:solidFill>
                <a:latin typeface="Aptos"/>
                <a:ea typeface="Aptos"/>
                <a:cs typeface="Aptos"/>
              </a:rPr>
              <a:t>1222013</a:t>
            </a:r>
            <a:r>
              <a:rPr lang="en-US" sz="1400">
                <a:solidFill>
                  <a:srgbClr val="9EA8A6"/>
                </a:solidFill>
              </a:rPr>
              <a:t> - Ocsa Rifaldi</a:t>
            </a:r>
            <a:endParaRPr lang="en-US" sz="1400"/>
          </a:p>
          <a:p>
            <a:pPr marL="0" indent="0">
              <a:buNone/>
              <a:defRPr/>
            </a:pPr>
            <a:r>
              <a:rPr lang="en-US" sz="1400" b="0" i="0" u="none" strike="noStrike" cap="none" spc="0">
                <a:solidFill>
                  <a:srgbClr val="9EA8A6"/>
                </a:solidFill>
                <a:latin typeface="Aptos"/>
                <a:ea typeface="Aptos"/>
                <a:cs typeface="Aptos"/>
              </a:rPr>
              <a:t>1222638</a:t>
            </a:r>
            <a:r>
              <a:rPr lang="en-US" sz="1400">
                <a:solidFill>
                  <a:srgbClr val="9EA8A6"/>
                </a:solidFill>
              </a:rPr>
              <a:t> - Anggar Trisetyo</a:t>
            </a:r>
            <a:endParaRPr lang="en-US" sz="1400"/>
          </a:p>
        </p:txBody>
      </p:sp>
      <p:sp>
        <p:nvSpPr>
          <p:cNvPr id="295182947" name="Text 37"/>
          <p:cNvSpPr/>
          <p:nvPr/>
        </p:nvSpPr>
        <p:spPr bwMode="auto">
          <a:xfrm>
            <a:off x="713232" y="5715000"/>
            <a:ext cx="5623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>
                <a:solidFill>
                  <a:srgbClr val="F4F7F6"/>
                </a:solidFill>
              </a:rPr>
              <a:t>Website review film yang mengintegrasikan model NLP untuk klasifikasi sentimen review secara realtime.</a:t>
            </a:r>
            <a:endParaRPr lang="en-US" sz="1300"/>
          </a:p>
        </p:txBody>
      </p:sp>
      <p:sp>
        <p:nvSpPr>
          <p:cNvPr id="1520199114" name="Text 38"/>
          <p:cNvSpPr/>
          <p:nvPr/>
        </p:nvSpPr>
        <p:spPr bwMode="auto">
          <a:xfrm>
            <a:off x="566928" y="6446520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700">
                <a:solidFill>
                  <a:srgbClr val="9EA8A6"/>
                </a:solidFill>
              </a:rPr>
              <a:t>Nuxt Movies · NLP Sentiment Classification · 01</a:t>
            </a:r>
            <a:endParaRPr lang="en-US" sz="7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2">
    <p:bg>
      <p:bgPr shadeToTitle="0">
        <a:solidFill>
          <a:srgbClr val="050808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8261427" name="Shape 0"/>
          <p:cNvSpPr/>
          <p:nvPr/>
        </p:nvSpPr>
        <p:spPr bwMode="auto">
          <a:xfrm>
            <a:off x="0" y="0"/>
            <a:ext cx="12191695" cy="6858000"/>
          </a:xfrm>
          <a:prstGeom prst="rect">
            <a:avLst/>
          </a:prstGeom>
          <a:solidFill>
            <a:srgbClr val="050808"/>
          </a:solidFill>
          <a:ln w="12700">
            <a:solidFill>
              <a:srgbClr val="050808"/>
            </a:solidFill>
            <a:prstDash val="solid"/>
          </a:ln>
        </p:spPr>
      </p:sp>
      <p:sp>
        <p:nvSpPr>
          <p:cNvPr id="1884775041" name="Shape 1"/>
          <p:cNvSpPr/>
          <p:nvPr/>
        </p:nvSpPr>
        <p:spPr bwMode="auto">
          <a:xfrm>
            <a:off x="0" y="0"/>
            <a:ext cx="12191695" cy="6858000"/>
          </a:xfrm>
          <a:prstGeom prst="rect">
            <a:avLst/>
          </a:prstGeom>
          <a:solidFill>
            <a:srgbClr val="071111">
              <a:alpha val="80000"/>
            </a:srgbClr>
          </a:solidFill>
          <a:ln w="12700">
            <a:solidFill>
              <a:srgbClr val="071111">
                <a:alpha val="0"/>
              </a:srgbClr>
            </a:solidFill>
            <a:prstDash val="solid"/>
          </a:ln>
        </p:spPr>
      </p:sp>
      <p:sp>
        <p:nvSpPr>
          <p:cNvPr id="1330336651" name="Shape 2"/>
          <p:cNvSpPr/>
          <p:nvPr/>
        </p:nvSpPr>
        <p:spPr bwMode="auto">
          <a:xfrm>
            <a:off x="0" y="0"/>
            <a:ext cx="0" cy="6858000"/>
          </a:xfrm>
          <a:prstGeom prst="line">
            <a:avLst/>
          </a:prstGeom>
          <a:noFill/>
          <a:ln w="4445">
            <a:solidFill>
              <a:srgbClr val="132020">
                <a:alpha val="45000"/>
              </a:srgbClr>
            </a:solidFill>
            <a:prstDash val="solid"/>
          </a:ln>
        </p:spPr>
      </p:sp>
      <p:sp>
        <p:nvSpPr>
          <p:cNvPr id="1745972374" name="Shape 3"/>
          <p:cNvSpPr/>
          <p:nvPr/>
        </p:nvSpPr>
        <p:spPr bwMode="auto">
          <a:xfrm>
            <a:off x="713232" y="0"/>
            <a:ext cx="0" cy="6858000"/>
          </a:xfrm>
          <a:prstGeom prst="line">
            <a:avLst/>
          </a:prstGeom>
          <a:noFill/>
          <a:ln w="4445">
            <a:solidFill>
              <a:srgbClr val="132020">
                <a:alpha val="45000"/>
              </a:srgbClr>
            </a:solidFill>
            <a:prstDash val="solid"/>
          </a:ln>
        </p:spPr>
      </p:sp>
      <p:sp>
        <p:nvSpPr>
          <p:cNvPr id="1317008649" name="Shape 4"/>
          <p:cNvSpPr/>
          <p:nvPr/>
        </p:nvSpPr>
        <p:spPr bwMode="auto">
          <a:xfrm>
            <a:off x="1426464" y="0"/>
            <a:ext cx="0" cy="6858000"/>
          </a:xfrm>
          <a:prstGeom prst="line">
            <a:avLst/>
          </a:prstGeom>
          <a:noFill/>
          <a:ln w="4445">
            <a:solidFill>
              <a:srgbClr val="132020">
                <a:alpha val="45000"/>
              </a:srgbClr>
            </a:solidFill>
            <a:prstDash val="solid"/>
          </a:ln>
        </p:spPr>
      </p:sp>
      <p:sp>
        <p:nvSpPr>
          <p:cNvPr id="1279565347" name="Shape 5"/>
          <p:cNvSpPr/>
          <p:nvPr/>
        </p:nvSpPr>
        <p:spPr bwMode="auto">
          <a:xfrm>
            <a:off x="2139696" y="0"/>
            <a:ext cx="0" cy="6858000"/>
          </a:xfrm>
          <a:prstGeom prst="line">
            <a:avLst/>
          </a:prstGeom>
          <a:noFill/>
          <a:ln w="4445">
            <a:solidFill>
              <a:srgbClr val="132020">
                <a:alpha val="45000"/>
              </a:srgbClr>
            </a:solidFill>
            <a:prstDash val="solid"/>
          </a:ln>
        </p:spPr>
      </p:sp>
      <p:sp>
        <p:nvSpPr>
          <p:cNvPr id="987282702" name="Shape 6"/>
          <p:cNvSpPr/>
          <p:nvPr/>
        </p:nvSpPr>
        <p:spPr bwMode="auto">
          <a:xfrm>
            <a:off x="2852928" y="0"/>
            <a:ext cx="0" cy="6858000"/>
          </a:xfrm>
          <a:prstGeom prst="line">
            <a:avLst/>
          </a:prstGeom>
          <a:noFill/>
          <a:ln w="4445">
            <a:solidFill>
              <a:srgbClr val="132020">
                <a:alpha val="45000"/>
              </a:srgbClr>
            </a:solidFill>
            <a:prstDash val="solid"/>
          </a:ln>
        </p:spPr>
      </p:sp>
      <p:sp>
        <p:nvSpPr>
          <p:cNvPr id="813990769" name="Shape 7"/>
          <p:cNvSpPr/>
          <p:nvPr/>
        </p:nvSpPr>
        <p:spPr bwMode="auto">
          <a:xfrm>
            <a:off x="3566160" y="0"/>
            <a:ext cx="0" cy="6858000"/>
          </a:xfrm>
          <a:prstGeom prst="line">
            <a:avLst/>
          </a:prstGeom>
          <a:noFill/>
          <a:ln w="4445">
            <a:solidFill>
              <a:srgbClr val="132020">
                <a:alpha val="45000"/>
              </a:srgbClr>
            </a:solidFill>
            <a:prstDash val="solid"/>
          </a:ln>
        </p:spPr>
      </p:sp>
      <p:sp>
        <p:nvSpPr>
          <p:cNvPr id="1550110991" name="Shape 8"/>
          <p:cNvSpPr/>
          <p:nvPr/>
        </p:nvSpPr>
        <p:spPr bwMode="auto">
          <a:xfrm>
            <a:off x="4279392" y="0"/>
            <a:ext cx="0" cy="6858000"/>
          </a:xfrm>
          <a:prstGeom prst="line">
            <a:avLst/>
          </a:prstGeom>
          <a:noFill/>
          <a:ln w="4445">
            <a:solidFill>
              <a:srgbClr val="132020">
                <a:alpha val="45000"/>
              </a:srgbClr>
            </a:solidFill>
            <a:prstDash val="solid"/>
          </a:ln>
        </p:spPr>
      </p:sp>
      <p:sp>
        <p:nvSpPr>
          <p:cNvPr id="671417697" name="Shape 9"/>
          <p:cNvSpPr/>
          <p:nvPr/>
        </p:nvSpPr>
        <p:spPr bwMode="auto">
          <a:xfrm>
            <a:off x="4992624" y="0"/>
            <a:ext cx="0" cy="6858000"/>
          </a:xfrm>
          <a:prstGeom prst="line">
            <a:avLst/>
          </a:prstGeom>
          <a:noFill/>
          <a:ln w="4445">
            <a:solidFill>
              <a:srgbClr val="132020">
                <a:alpha val="45000"/>
              </a:srgbClr>
            </a:solidFill>
            <a:prstDash val="solid"/>
          </a:ln>
        </p:spPr>
      </p:sp>
      <p:sp>
        <p:nvSpPr>
          <p:cNvPr id="171168132" name="Shape 10"/>
          <p:cNvSpPr/>
          <p:nvPr/>
        </p:nvSpPr>
        <p:spPr bwMode="auto">
          <a:xfrm>
            <a:off x="5705856" y="0"/>
            <a:ext cx="0" cy="6858000"/>
          </a:xfrm>
          <a:prstGeom prst="line">
            <a:avLst/>
          </a:prstGeom>
          <a:noFill/>
          <a:ln w="4445">
            <a:solidFill>
              <a:srgbClr val="132020">
                <a:alpha val="45000"/>
              </a:srgbClr>
            </a:solidFill>
            <a:prstDash val="solid"/>
          </a:ln>
        </p:spPr>
      </p:sp>
      <p:sp>
        <p:nvSpPr>
          <p:cNvPr id="286605510" name="Shape 11"/>
          <p:cNvSpPr/>
          <p:nvPr/>
        </p:nvSpPr>
        <p:spPr bwMode="auto">
          <a:xfrm>
            <a:off x="6419088" y="0"/>
            <a:ext cx="0" cy="6858000"/>
          </a:xfrm>
          <a:prstGeom prst="line">
            <a:avLst/>
          </a:prstGeom>
          <a:noFill/>
          <a:ln w="4445">
            <a:solidFill>
              <a:srgbClr val="132020">
                <a:alpha val="45000"/>
              </a:srgbClr>
            </a:solidFill>
            <a:prstDash val="solid"/>
          </a:ln>
        </p:spPr>
      </p:sp>
      <p:sp>
        <p:nvSpPr>
          <p:cNvPr id="360028608" name="Shape 12"/>
          <p:cNvSpPr/>
          <p:nvPr/>
        </p:nvSpPr>
        <p:spPr bwMode="auto">
          <a:xfrm>
            <a:off x="7132320" y="0"/>
            <a:ext cx="0" cy="6858000"/>
          </a:xfrm>
          <a:prstGeom prst="line">
            <a:avLst/>
          </a:prstGeom>
          <a:noFill/>
          <a:ln w="4445">
            <a:solidFill>
              <a:srgbClr val="132020">
                <a:alpha val="45000"/>
              </a:srgbClr>
            </a:solidFill>
            <a:prstDash val="solid"/>
          </a:ln>
        </p:spPr>
      </p:sp>
      <p:sp>
        <p:nvSpPr>
          <p:cNvPr id="914972893" name="Shape 13"/>
          <p:cNvSpPr/>
          <p:nvPr/>
        </p:nvSpPr>
        <p:spPr bwMode="auto">
          <a:xfrm>
            <a:off x="7845552" y="0"/>
            <a:ext cx="0" cy="6858000"/>
          </a:xfrm>
          <a:prstGeom prst="line">
            <a:avLst/>
          </a:prstGeom>
          <a:noFill/>
          <a:ln w="4445">
            <a:solidFill>
              <a:srgbClr val="132020">
                <a:alpha val="45000"/>
              </a:srgbClr>
            </a:solidFill>
            <a:prstDash val="solid"/>
          </a:ln>
        </p:spPr>
      </p:sp>
      <p:sp>
        <p:nvSpPr>
          <p:cNvPr id="911941992" name="Shape 14"/>
          <p:cNvSpPr/>
          <p:nvPr/>
        </p:nvSpPr>
        <p:spPr bwMode="auto">
          <a:xfrm>
            <a:off x="8558784" y="0"/>
            <a:ext cx="0" cy="6858000"/>
          </a:xfrm>
          <a:prstGeom prst="line">
            <a:avLst/>
          </a:prstGeom>
          <a:noFill/>
          <a:ln w="4445">
            <a:solidFill>
              <a:srgbClr val="132020">
                <a:alpha val="45000"/>
              </a:srgbClr>
            </a:solidFill>
            <a:prstDash val="solid"/>
          </a:ln>
        </p:spPr>
      </p:sp>
      <p:sp>
        <p:nvSpPr>
          <p:cNvPr id="181775363" name="Shape 15"/>
          <p:cNvSpPr/>
          <p:nvPr/>
        </p:nvSpPr>
        <p:spPr bwMode="auto">
          <a:xfrm>
            <a:off x="9272016" y="0"/>
            <a:ext cx="0" cy="6858000"/>
          </a:xfrm>
          <a:prstGeom prst="line">
            <a:avLst/>
          </a:prstGeom>
          <a:noFill/>
          <a:ln w="4445">
            <a:solidFill>
              <a:srgbClr val="132020">
                <a:alpha val="45000"/>
              </a:srgbClr>
            </a:solidFill>
            <a:prstDash val="solid"/>
          </a:ln>
        </p:spPr>
      </p:sp>
      <p:sp>
        <p:nvSpPr>
          <p:cNvPr id="1148155592" name="Shape 16"/>
          <p:cNvSpPr/>
          <p:nvPr/>
        </p:nvSpPr>
        <p:spPr bwMode="auto">
          <a:xfrm>
            <a:off x="9985248" y="0"/>
            <a:ext cx="0" cy="6858000"/>
          </a:xfrm>
          <a:prstGeom prst="line">
            <a:avLst/>
          </a:prstGeom>
          <a:noFill/>
          <a:ln w="4445">
            <a:solidFill>
              <a:srgbClr val="132020">
                <a:alpha val="45000"/>
              </a:srgbClr>
            </a:solidFill>
            <a:prstDash val="solid"/>
          </a:ln>
        </p:spPr>
      </p:sp>
      <p:sp>
        <p:nvSpPr>
          <p:cNvPr id="635092740" name="Shape 17"/>
          <p:cNvSpPr/>
          <p:nvPr/>
        </p:nvSpPr>
        <p:spPr bwMode="auto">
          <a:xfrm>
            <a:off x="10698480" y="0"/>
            <a:ext cx="0" cy="6858000"/>
          </a:xfrm>
          <a:prstGeom prst="line">
            <a:avLst/>
          </a:prstGeom>
          <a:noFill/>
          <a:ln w="4445">
            <a:solidFill>
              <a:srgbClr val="132020">
                <a:alpha val="45000"/>
              </a:srgbClr>
            </a:solidFill>
            <a:prstDash val="solid"/>
          </a:ln>
        </p:spPr>
      </p:sp>
      <p:sp>
        <p:nvSpPr>
          <p:cNvPr id="1317550563" name="Shape 18"/>
          <p:cNvSpPr/>
          <p:nvPr/>
        </p:nvSpPr>
        <p:spPr bwMode="auto">
          <a:xfrm>
            <a:off x="11411712" y="0"/>
            <a:ext cx="0" cy="6858000"/>
          </a:xfrm>
          <a:prstGeom prst="line">
            <a:avLst/>
          </a:prstGeom>
          <a:noFill/>
          <a:ln w="4445">
            <a:solidFill>
              <a:srgbClr val="132020">
                <a:alpha val="45000"/>
              </a:srgbClr>
            </a:solidFill>
            <a:prstDash val="solid"/>
          </a:ln>
        </p:spPr>
      </p:sp>
      <p:sp>
        <p:nvSpPr>
          <p:cNvPr id="389975438" name="Shape 19"/>
          <p:cNvSpPr/>
          <p:nvPr/>
        </p:nvSpPr>
        <p:spPr bwMode="auto">
          <a:xfrm>
            <a:off x="12124943" y="0"/>
            <a:ext cx="0" cy="6858000"/>
          </a:xfrm>
          <a:prstGeom prst="line">
            <a:avLst/>
          </a:prstGeom>
          <a:noFill/>
          <a:ln w="4445">
            <a:solidFill>
              <a:srgbClr val="132020">
                <a:alpha val="45000"/>
              </a:srgbClr>
            </a:solidFill>
            <a:prstDash val="solid"/>
          </a:ln>
        </p:spPr>
      </p:sp>
      <p:sp>
        <p:nvSpPr>
          <p:cNvPr id="1206259455" name="Shape 20"/>
          <p:cNvSpPr/>
          <p:nvPr/>
        </p:nvSpPr>
        <p:spPr bwMode="auto">
          <a:xfrm>
            <a:off x="0" y="0"/>
            <a:ext cx="12191695" cy="0"/>
          </a:xfrm>
          <a:prstGeom prst="line">
            <a:avLst/>
          </a:prstGeom>
          <a:noFill/>
          <a:ln w="4445">
            <a:solidFill>
              <a:srgbClr val="132020">
                <a:alpha val="38000"/>
              </a:srgbClr>
            </a:solidFill>
            <a:prstDash val="solid"/>
          </a:ln>
        </p:spPr>
      </p:sp>
      <p:sp>
        <p:nvSpPr>
          <p:cNvPr id="56966467" name="Shape 21"/>
          <p:cNvSpPr/>
          <p:nvPr/>
        </p:nvSpPr>
        <p:spPr bwMode="auto">
          <a:xfrm>
            <a:off x="0" y="713232"/>
            <a:ext cx="12191695" cy="0"/>
          </a:xfrm>
          <a:prstGeom prst="line">
            <a:avLst/>
          </a:prstGeom>
          <a:noFill/>
          <a:ln w="4445">
            <a:solidFill>
              <a:srgbClr val="132020">
                <a:alpha val="38000"/>
              </a:srgbClr>
            </a:solidFill>
            <a:prstDash val="solid"/>
          </a:ln>
        </p:spPr>
      </p:sp>
      <p:sp>
        <p:nvSpPr>
          <p:cNvPr id="1010520857" name="Shape 22"/>
          <p:cNvSpPr/>
          <p:nvPr/>
        </p:nvSpPr>
        <p:spPr bwMode="auto">
          <a:xfrm>
            <a:off x="0" y="1426464"/>
            <a:ext cx="12191695" cy="0"/>
          </a:xfrm>
          <a:prstGeom prst="line">
            <a:avLst/>
          </a:prstGeom>
          <a:noFill/>
          <a:ln w="4445">
            <a:solidFill>
              <a:srgbClr val="132020">
                <a:alpha val="38000"/>
              </a:srgbClr>
            </a:solidFill>
            <a:prstDash val="solid"/>
          </a:ln>
        </p:spPr>
      </p:sp>
      <p:sp>
        <p:nvSpPr>
          <p:cNvPr id="1448229361" name="Shape 23"/>
          <p:cNvSpPr/>
          <p:nvPr/>
        </p:nvSpPr>
        <p:spPr bwMode="auto">
          <a:xfrm>
            <a:off x="0" y="2139696"/>
            <a:ext cx="12191695" cy="0"/>
          </a:xfrm>
          <a:prstGeom prst="line">
            <a:avLst/>
          </a:prstGeom>
          <a:noFill/>
          <a:ln w="4445">
            <a:solidFill>
              <a:srgbClr val="132020">
                <a:alpha val="38000"/>
              </a:srgbClr>
            </a:solidFill>
            <a:prstDash val="solid"/>
          </a:ln>
        </p:spPr>
      </p:sp>
      <p:sp>
        <p:nvSpPr>
          <p:cNvPr id="1877200215" name="Shape 24"/>
          <p:cNvSpPr/>
          <p:nvPr/>
        </p:nvSpPr>
        <p:spPr bwMode="auto">
          <a:xfrm>
            <a:off x="0" y="2852928"/>
            <a:ext cx="12191695" cy="0"/>
          </a:xfrm>
          <a:prstGeom prst="line">
            <a:avLst/>
          </a:prstGeom>
          <a:noFill/>
          <a:ln w="4445">
            <a:solidFill>
              <a:srgbClr val="132020">
                <a:alpha val="38000"/>
              </a:srgbClr>
            </a:solidFill>
            <a:prstDash val="solid"/>
          </a:ln>
        </p:spPr>
      </p:sp>
      <p:sp>
        <p:nvSpPr>
          <p:cNvPr id="1637295146" name="Shape 25"/>
          <p:cNvSpPr/>
          <p:nvPr/>
        </p:nvSpPr>
        <p:spPr bwMode="auto">
          <a:xfrm>
            <a:off x="0" y="3566160"/>
            <a:ext cx="12191695" cy="0"/>
          </a:xfrm>
          <a:prstGeom prst="line">
            <a:avLst/>
          </a:prstGeom>
          <a:noFill/>
          <a:ln w="4445">
            <a:solidFill>
              <a:srgbClr val="132020">
                <a:alpha val="38000"/>
              </a:srgbClr>
            </a:solidFill>
            <a:prstDash val="solid"/>
          </a:ln>
        </p:spPr>
      </p:sp>
      <p:sp>
        <p:nvSpPr>
          <p:cNvPr id="139329047" name="Shape 26"/>
          <p:cNvSpPr/>
          <p:nvPr/>
        </p:nvSpPr>
        <p:spPr bwMode="auto">
          <a:xfrm>
            <a:off x="0" y="4279392"/>
            <a:ext cx="12191695" cy="0"/>
          </a:xfrm>
          <a:prstGeom prst="line">
            <a:avLst/>
          </a:prstGeom>
          <a:noFill/>
          <a:ln w="4445">
            <a:solidFill>
              <a:srgbClr val="132020">
                <a:alpha val="38000"/>
              </a:srgbClr>
            </a:solidFill>
            <a:prstDash val="solid"/>
          </a:ln>
        </p:spPr>
      </p:sp>
      <p:sp>
        <p:nvSpPr>
          <p:cNvPr id="1515766291" name="Shape 27"/>
          <p:cNvSpPr/>
          <p:nvPr/>
        </p:nvSpPr>
        <p:spPr bwMode="auto">
          <a:xfrm>
            <a:off x="0" y="4992624"/>
            <a:ext cx="12191695" cy="0"/>
          </a:xfrm>
          <a:prstGeom prst="line">
            <a:avLst/>
          </a:prstGeom>
          <a:noFill/>
          <a:ln w="4445">
            <a:solidFill>
              <a:srgbClr val="132020">
                <a:alpha val="38000"/>
              </a:srgbClr>
            </a:solidFill>
            <a:prstDash val="solid"/>
          </a:ln>
        </p:spPr>
      </p:sp>
      <p:sp>
        <p:nvSpPr>
          <p:cNvPr id="2143675531" name="Shape 28"/>
          <p:cNvSpPr/>
          <p:nvPr/>
        </p:nvSpPr>
        <p:spPr bwMode="auto">
          <a:xfrm>
            <a:off x="0" y="5705856"/>
            <a:ext cx="12191695" cy="0"/>
          </a:xfrm>
          <a:prstGeom prst="line">
            <a:avLst/>
          </a:prstGeom>
          <a:noFill/>
          <a:ln w="4445">
            <a:solidFill>
              <a:srgbClr val="132020">
                <a:alpha val="38000"/>
              </a:srgbClr>
            </a:solidFill>
            <a:prstDash val="solid"/>
          </a:ln>
        </p:spPr>
      </p:sp>
      <p:sp>
        <p:nvSpPr>
          <p:cNvPr id="67515250" name="Shape 29"/>
          <p:cNvSpPr/>
          <p:nvPr/>
        </p:nvSpPr>
        <p:spPr bwMode="auto">
          <a:xfrm>
            <a:off x="0" y="6419088"/>
            <a:ext cx="12191695" cy="0"/>
          </a:xfrm>
          <a:prstGeom prst="line">
            <a:avLst/>
          </a:prstGeom>
          <a:noFill/>
          <a:ln w="4445">
            <a:solidFill>
              <a:srgbClr val="132020">
                <a:alpha val="38000"/>
              </a:srgbClr>
            </a:solidFill>
            <a:prstDash val="solid"/>
          </a:ln>
        </p:spPr>
      </p:sp>
      <p:sp>
        <p:nvSpPr>
          <p:cNvPr id="1020779185" name="Shape 30"/>
          <p:cNvSpPr/>
          <p:nvPr/>
        </p:nvSpPr>
        <p:spPr bwMode="auto">
          <a:xfrm>
            <a:off x="0" y="0"/>
            <a:ext cx="82296" cy="6858000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pic>
        <p:nvPicPr>
          <p:cNvPr id="1625958595" name="Image 0" descr="/home/fanff/fanfan/ML/NLP_coolyeah/TA/ppt_nuxt_movies/assets/generated/nuxt-movies-logo.png"/>
          <p:cNvPicPr>
            <a:picLocks noChangeAspect="1"/>
          </p:cNvPicPr>
          <p:nvPr/>
        </p:nvPicPr>
        <p:blipFill rotWithShape="1">
          <a:blip r:embed="rId3">
            <a:alphaModFix amt="94000"/>
          </a:blip>
          <a:stretch/>
        </p:blipFill>
        <p:spPr bwMode="auto">
          <a:xfrm>
            <a:off x="11356848" y="237744"/>
            <a:ext cx="411480" cy="411480"/>
          </a:xfrm>
          <a:prstGeom prst="rect">
            <a:avLst/>
          </a:prstGeom>
        </p:spPr>
      </p:pic>
      <p:sp>
        <p:nvSpPr>
          <p:cNvPr id="479945006" name="Text 31"/>
          <p:cNvSpPr/>
          <p:nvPr/>
        </p:nvSpPr>
        <p:spPr bwMode="auto">
          <a:xfrm>
            <a:off x="548640" y="329184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000" b="1">
                <a:solidFill>
                  <a:srgbClr val="F4F7F6"/>
                </a:solidFill>
                <a:latin typeface="Georgia"/>
                <a:ea typeface="Georgia"/>
                <a:cs typeface="Georgia"/>
              </a:rPr>
              <a:t>Tampilan dan Fitur Website</a:t>
            </a:r>
            <a:endParaRPr lang="en-US" sz="2000"/>
          </a:p>
        </p:txBody>
      </p:sp>
      <p:sp>
        <p:nvSpPr>
          <p:cNvPr id="175180896" name="Shape 32"/>
          <p:cNvSpPr/>
          <p:nvPr/>
        </p:nvSpPr>
        <p:spPr bwMode="auto">
          <a:xfrm>
            <a:off x="548640" y="804672"/>
            <a:ext cx="1828800" cy="0"/>
          </a:xfrm>
          <a:prstGeom prst="line">
            <a:avLst/>
          </a:prstGeom>
          <a:noFill/>
          <a:ln w="25400">
            <a:solidFill>
              <a:srgbClr val="24D6C3"/>
            </a:solidFill>
            <a:prstDash val="solid"/>
          </a:ln>
        </p:spPr>
      </p:sp>
      <p:pic>
        <p:nvPicPr>
          <p:cNvPr id="2060015474" name="Image 1" descr="/home/fanff/fanfan/ML/NLP_coolyeah/TA/movies-vue/public/social-card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5623560" y="914400"/>
            <a:ext cx="5989320" cy="3383280"/>
          </a:xfrm>
          <a:prstGeom prst="rect">
            <a:avLst/>
          </a:prstGeom>
        </p:spPr>
      </p:pic>
      <p:sp>
        <p:nvSpPr>
          <p:cNvPr id="78592510" name="Shape 33"/>
          <p:cNvSpPr/>
          <p:nvPr/>
        </p:nvSpPr>
        <p:spPr bwMode="auto">
          <a:xfrm>
            <a:off x="621792" y="1051560"/>
            <a:ext cx="4663440" cy="4434840"/>
          </a:xfrm>
          <a:prstGeom prst="roundRect">
            <a:avLst>
              <a:gd name="adj" fmla="val 1443"/>
            </a:avLst>
          </a:prstGeom>
          <a:solidFill>
            <a:srgbClr val="0B1111"/>
          </a:solidFill>
          <a:ln w="12700">
            <a:solidFill>
              <a:srgbClr val="253232"/>
            </a:solidFill>
            <a:prstDash val="solid"/>
          </a:ln>
        </p:spPr>
      </p:sp>
      <p:sp>
        <p:nvSpPr>
          <p:cNvPr id="1489222056" name="Shape 34"/>
          <p:cNvSpPr/>
          <p:nvPr/>
        </p:nvSpPr>
        <p:spPr bwMode="auto">
          <a:xfrm>
            <a:off x="932688" y="1490472"/>
            <a:ext cx="73152" cy="73152"/>
          </a:xfrm>
          <a:prstGeom prst="ellipse">
            <a:avLst/>
          </a:prstGeom>
          <a:solidFill>
            <a:srgbClr val="24D6C3"/>
          </a:solidFill>
          <a:ln w="12700">
            <a:solidFill>
              <a:srgbClr val="24D6C3"/>
            </a:solidFill>
            <a:prstDash val="solid"/>
          </a:ln>
        </p:spPr>
      </p:sp>
      <p:sp>
        <p:nvSpPr>
          <p:cNvPr id="1960716603" name="Text 35"/>
          <p:cNvSpPr/>
          <p:nvPr/>
        </p:nvSpPr>
        <p:spPr bwMode="auto">
          <a:xfrm>
            <a:off x="1097280" y="1417320"/>
            <a:ext cx="4069080" cy="2286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300">
                <a:solidFill>
                  <a:srgbClr val="F4F7F6"/>
                </a:solidFill>
              </a:rPr>
              <a:t>Tampilan katalog film bergaya streaming.</a:t>
            </a:r>
            <a:endParaRPr lang="en-US" sz="1300"/>
          </a:p>
        </p:txBody>
      </p:sp>
      <p:sp>
        <p:nvSpPr>
          <p:cNvPr id="1953750096" name="Shape 36"/>
          <p:cNvSpPr/>
          <p:nvPr/>
        </p:nvSpPr>
        <p:spPr bwMode="auto">
          <a:xfrm>
            <a:off x="932688" y="2057400"/>
            <a:ext cx="73152" cy="73152"/>
          </a:xfrm>
          <a:prstGeom prst="ellipse">
            <a:avLst/>
          </a:prstGeom>
          <a:solidFill>
            <a:srgbClr val="24D6C3"/>
          </a:solidFill>
          <a:ln w="12700">
            <a:solidFill>
              <a:srgbClr val="24D6C3"/>
            </a:solidFill>
            <a:prstDash val="solid"/>
          </a:ln>
        </p:spPr>
      </p:sp>
      <p:sp>
        <p:nvSpPr>
          <p:cNvPr id="444327500" name="Text 37"/>
          <p:cNvSpPr/>
          <p:nvPr/>
        </p:nvSpPr>
        <p:spPr bwMode="auto">
          <a:xfrm>
            <a:off x="1097280" y="1984248"/>
            <a:ext cx="4069080" cy="2286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300">
                <a:solidFill>
                  <a:srgbClr val="F4F7F6"/>
                </a:solidFill>
              </a:rPr>
              <a:t>Browse movie dan TV dari TMDB.</a:t>
            </a:r>
            <a:endParaRPr lang="en-US" sz="1300"/>
          </a:p>
        </p:txBody>
      </p:sp>
      <p:sp>
        <p:nvSpPr>
          <p:cNvPr id="161567741" name="Shape 38"/>
          <p:cNvSpPr/>
          <p:nvPr/>
        </p:nvSpPr>
        <p:spPr bwMode="auto">
          <a:xfrm>
            <a:off x="932688" y="2624328"/>
            <a:ext cx="73152" cy="73152"/>
          </a:xfrm>
          <a:prstGeom prst="ellipse">
            <a:avLst/>
          </a:prstGeom>
          <a:solidFill>
            <a:srgbClr val="24D6C3"/>
          </a:solidFill>
          <a:ln w="12700">
            <a:solidFill>
              <a:srgbClr val="24D6C3"/>
            </a:solidFill>
            <a:prstDash val="solid"/>
          </a:ln>
        </p:spPr>
      </p:sp>
      <p:sp>
        <p:nvSpPr>
          <p:cNvPr id="312389202" name="Text 39"/>
          <p:cNvSpPr/>
          <p:nvPr/>
        </p:nvSpPr>
        <p:spPr bwMode="auto">
          <a:xfrm>
            <a:off x="1097280" y="2551176"/>
            <a:ext cx="4069080" cy="2286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300">
                <a:solidFill>
                  <a:srgbClr val="F4F7F6"/>
                </a:solidFill>
              </a:rPr>
              <a:t>Detail media: poster, sinopsis, cast, rating, trailer/video.</a:t>
            </a:r>
            <a:endParaRPr lang="en-US" sz="1300"/>
          </a:p>
        </p:txBody>
      </p:sp>
      <p:sp>
        <p:nvSpPr>
          <p:cNvPr id="652533604" name="Shape 40"/>
          <p:cNvSpPr/>
          <p:nvPr/>
        </p:nvSpPr>
        <p:spPr bwMode="auto">
          <a:xfrm>
            <a:off x="932688" y="3191256"/>
            <a:ext cx="73152" cy="73152"/>
          </a:xfrm>
          <a:prstGeom prst="ellipse">
            <a:avLst/>
          </a:prstGeom>
          <a:solidFill>
            <a:srgbClr val="24D6C3"/>
          </a:solidFill>
          <a:ln w="12700">
            <a:solidFill>
              <a:srgbClr val="24D6C3"/>
            </a:solidFill>
            <a:prstDash val="solid"/>
          </a:ln>
        </p:spPr>
      </p:sp>
      <p:sp>
        <p:nvSpPr>
          <p:cNvPr id="1996039947" name="Text 41"/>
          <p:cNvSpPr/>
          <p:nvPr/>
        </p:nvSpPr>
        <p:spPr bwMode="auto">
          <a:xfrm>
            <a:off x="1097280" y="3118104"/>
            <a:ext cx="4069080" cy="2286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300">
                <a:solidFill>
                  <a:srgbClr val="F4F7F6"/>
                </a:solidFill>
              </a:rPr>
              <a:t>User login, profile, review, dan history review.</a:t>
            </a:r>
            <a:endParaRPr lang="en-US" sz="1300"/>
          </a:p>
        </p:txBody>
      </p:sp>
      <p:sp>
        <p:nvSpPr>
          <p:cNvPr id="1887411089" name="Shape 42"/>
          <p:cNvSpPr/>
          <p:nvPr/>
        </p:nvSpPr>
        <p:spPr bwMode="auto">
          <a:xfrm>
            <a:off x="932688" y="3758184"/>
            <a:ext cx="73152" cy="73152"/>
          </a:xfrm>
          <a:prstGeom prst="ellipse">
            <a:avLst/>
          </a:prstGeom>
          <a:solidFill>
            <a:srgbClr val="24D6C3"/>
          </a:solidFill>
          <a:ln w="12700">
            <a:solidFill>
              <a:srgbClr val="24D6C3"/>
            </a:solidFill>
            <a:prstDash val="solid"/>
          </a:ln>
        </p:spPr>
      </p:sp>
      <p:sp>
        <p:nvSpPr>
          <p:cNvPr id="1803739005" name="Text 43"/>
          <p:cNvSpPr/>
          <p:nvPr/>
        </p:nvSpPr>
        <p:spPr bwMode="auto">
          <a:xfrm>
            <a:off x="1097280" y="3685032"/>
            <a:ext cx="4069080" cy="2286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300">
                <a:solidFill>
                  <a:srgbClr val="F4F7F6"/>
                </a:solidFill>
              </a:rPr>
              <a:t>Admin approve user dan moderasi review.</a:t>
            </a:r>
            <a:endParaRPr lang="en-US" sz="1300"/>
          </a:p>
        </p:txBody>
      </p:sp>
      <p:sp>
        <p:nvSpPr>
          <p:cNvPr id="1183005839" name="Shape 44"/>
          <p:cNvSpPr/>
          <p:nvPr/>
        </p:nvSpPr>
        <p:spPr bwMode="auto">
          <a:xfrm>
            <a:off x="932688" y="4325112"/>
            <a:ext cx="73152" cy="73152"/>
          </a:xfrm>
          <a:prstGeom prst="ellipse">
            <a:avLst/>
          </a:prstGeom>
          <a:solidFill>
            <a:srgbClr val="24D6C3"/>
          </a:solidFill>
          <a:ln w="12700">
            <a:solidFill>
              <a:srgbClr val="24D6C3"/>
            </a:solidFill>
            <a:prstDash val="solid"/>
          </a:ln>
        </p:spPr>
      </p:sp>
      <p:sp>
        <p:nvSpPr>
          <p:cNvPr id="1790908961" name="Text 45"/>
          <p:cNvSpPr/>
          <p:nvPr/>
        </p:nvSpPr>
        <p:spPr bwMode="auto">
          <a:xfrm>
            <a:off x="1097280" y="4251960"/>
            <a:ext cx="4069080" cy="2286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300">
                <a:solidFill>
                  <a:srgbClr val="F4F7F6"/>
                </a:solidFill>
              </a:rPr>
              <a:t>Review dianalisis otomatis menjadi positive atau negative.</a:t>
            </a:r>
            <a:endParaRPr lang="en-US" sz="1300"/>
          </a:p>
        </p:txBody>
      </p:sp>
      <p:sp>
        <p:nvSpPr>
          <p:cNvPr id="829382211" name="Shape 46"/>
          <p:cNvSpPr/>
          <p:nvPr/>
        </p:nvSpPr>
        <p:spPr bwMode="auto">
          <a:xfrm>
            <a:off x="5779008" y="4617720"/>
            <a:ext cx="1234440" cy="256032"/>
          </a:xfrm>
          <a:prstGeom prst="roundRect">
            <a:avLst>
              <a:gd name="adj" fmla="val 17857"/>
            </a:avLst>
          </a:prstGeom>
          <a:solidFill>
            <a:srgbClr val="24D6C3">
              <a:alpha val="95000"/>
            </a:srgbClr>
          </a:solidFill>
          <a:ln w="10160">
            <a:solidFill>
              <a:srgbClr val="24D6C3">
                <a:alpha val="75000"/>
              </a:srgbClr>
            </a:solidFill>
            <a:prstDash val="solid"/>
          </a:ln>
        </p:spPr>
      </p:sp>
      <p:sp>
        <p:nvSpPr>
          <p:cNvPr id="824885244" name="Text 47"/>
          <p:cNvSpPr/>
          <p:nvPr/>
        </p:nvSpPr>
        <p:spPr bwMode="auto">
          <a:xfrm>
            <a:off x="5852160" y="4668012"/>
            <a:ext cx="1097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700" b="1">
                <a:solidFill>
                  <a:srgbClr val="021817"/>
                </a:solidFill>
              </a:rPr>
              <a:t>realtime</a:t>
            </a:r>
            <a:endParaRPr lang="en-US" sz="700"/>
          </a:p>
        </p:txBody>
      </p:sp>
      <p:sp>
        <p:nvSpPr>
          <p:cNvPr id="878867129" name="Shape 48"/>
          <p:cNvSpPr/>
          <p:nvPr/>
        </p:nvSpPr>
        <p:spPr bwMode="auto">
          <a:xfrm>
            <a:off x="7150607" y="4617720"/>
            <a:ext cx="1234440" cy="256032"/>
          </a:xfrm>
          <a:prstGeom prst="roundRect">
            <a:avLst>
              <a:gd name="adj" fmla="val 17857"/>
            </a:avLst>
          </a:prstGeom>
          <a:solidFill>
            <a:srgbClr val="F4B942">
              <a:alpha val="95000"/>
            </a:srgbClr>
          </a:solidFill>
          <a:ln w="10160">
            <a:solidFill>
              <a:srgbClr val="F4B942">
                <a:alpha val="75000"/>
              </a:srgbClr>
            </a:solidFill>
            <a:prstDash val="solid"/>
          </a:ln>
        </p:spPr>
      </p:sp>
      <p:sp>
        <p:nvSpPr>
          <p:cNvPr id="486414344" name="Text 49"/>
          <p:cNvSpPr/>
          <p:nvPr/>
        </p:nvSpPr>
        <p:spPr bwMode="auto">
          <a:xfrm>
            <a:off x="7223760" y="4668012"/>
            <a:ext cx="1097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700" b="1">
                <a:solidFill>
                  <a:srgbClr val="021817"/>
                </a:solidFill>
              </a:rPr>
              <a:t>moderation</a:t>
            </a:r>
            <a:endParaRPr lang="en-US" sz="700"/>
          </a:p>
        </p:txBody>
      </p:sp>
      <p:sp>
        <p:nvSpPr>
          <p:cNvPr id="298050896" name="Shape 50"/>
          <p:cNvSpPr/>
          <p:nvPr/>
        </p:nvSpPr>
        <p:spPr bwMode="auto">
          <a:xfrm>
            <a:off x="8522208" y="4617720"/>
            <a:ext cx="1234440" cy="256032"/>
          </a:xfrm>
          <a:prstGeom prst="roundRect">
            <a:avLst>
              <a:gd name="adj" fmla="val 17857"/>
            </a:avLst>
          </a:prstGeom>
          <a:solidFill>
            <a:srgbClr val="E50914">
              <a:alpha val="95000"/>
            </a:srgbClr>
          </a:solidFill>
          <a:ln w="10160">
            <a:solidFill>
              <a:srgbClr val="E50914">
                <a:alpha val="75000"/>
              </a:srgbClr>
            </a:solidFill>
            <a:prstDash val="solid"/>
          </a:ln>
        </p:spPr>
      </p:sp>
      <p:sp>
        <p:nvSpPr>
          <p:cNvPr id="400836822" name="Text 51"/>
          <p:cNvSpPr/>
          <p:nvPr/>
        </p:nvSpPr>
        <p:spPr bwMode="auto">
          <a:xfrm>
            <a:off x="8595360" y="4668012"/>
            <a:ext cx="1097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700" b="1">
                <a:solidFill>
                  <a:srgbClr val="FFFFFF"/>
                </a:solidFill>
              </a:rPr>
              <a:t>sentiment</a:t>
            </a:r>
            <a:endParaRPr lang="en-US" sz="700"/>
          </a:p>
        </p:txBody>
      </p:sp>
      <p:sp>
        <p:nvSpPr>
          <p:cNvPr id="1218903301" name="Text 52"/>
          <p:cNvSpPr/>
          <p:nvPr/>
        </p:nvSpPr>
        <p:spPr bwMode="auto">
          <a:xfrm>
            <a:off x="566928" y="6446520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700">
                <a:solidFill>
                  <a:srgbClr val="9EA8A6"/>
                </a:solidFill>
              </a:rPr>
              <a:t>Nuxt Movies · NLP Sentiment Classification · 02</a:t>
            </a:r>
            <a:endParaRPr lang="en-US" sz="7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3">
    <p:bg>
      <p:bgPr shadeToTitle="0">
        <a:solidFill>
          <a:srgbClr val="050808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15829033" name="Shape 0"/>
          <p:cNvSpPr/>
          <p:nvPr/>
        </p:nvSpPr>
        <p:spPr bwMode="auto">
          <a:xfrm>
            <a:off x="0" y="0"/>
            <a:ext cx="12191695" cy="6858000"/>
          </a:xfrm>
          <a:prstGeom prst="rect">
            <a:avLst/>
          </a:prstGeom>
          <a:solidFill>
            <a:srgbClr val="050808"/>
          </a:solidFill>
          <a:ln w="12700">
            <a:solidFill>
              <a:srgbClr val="050808"/>
            </a:solidFill>
            <a:prstDash val="solid"/>
          </a:ln>
        </p:spPr>
      </p:sp>
      <p:sp>
        <p:nvSpPr>
          <p:cNvPr id="866758846" name="Shape 1"/>
          <p:cNvSpPr/>
          <p:nvPr/>
        </p:nvSpPr>
        <p:spPr bwMode="auto">
          <a:xfrm>
            <a:off x="0" y="0"/>
            <a:ext cx="12191695" cy="6858000"/>
          </a:xfrm>
          <a:prstGeom prst="rect">
            <a:avLst/>
          </a:prstGeom>
          <a:solidFill>
            <a:srgbClr val="071111">
              <a:alpha val="80000"/>
            </a:srgbClr>
          </a:solidFill>
          <a:ln w="12700">
            <a:solidFill>
              <a:srgbClr val="071111">
                <a:alpha val="0"/>
              </a:srgbClr>
            </a:solidFill>
            <a:prstDash val="solid"/>
          </a:ln>
        </p:spPr>
      </p:sp>
      <p:sp>
        <p:nvSpPr>
          <p:cNvPr id="884694314" name="Shape 2"/>
          <p:cNvSpPr/>
          <p:nvPr/>
        </p:nvSpPr>
        <p:spPr bwMode="auto">
          <a:xfrm>
            <a:off x="0" y="0"/>
            <a:ext cx="0" cy="6858000"/>
          </a:xfrm>
          <a:prstGeom prst="line">
            <a:avLst/>
          </a:prstGeom>
          <a:noFill/>
          <a:ln w="4445">
            <a:solidFill>
              <a:srgbClr val="132020">
                <a:alpha val="45000"/>
              </a:srgbClr>
            </a:solidFill>
            <a:prstDash val="solid"/>
          </a:ln>
        </p:spPr>
      </p:sp>
      <p:sp>
        <p:nvSpPr>
          <p:cNvPr id="154522414" name="Shape 3"/>
          <p:cNvSpPr/>
          <p:nvPr/>
        </p:nvSpPr>
        <p:spPr bwMode="auto">
          <a:xfrm>
            <a:off x="713232" y="0"/>
            <a:ext cx="0" cy="6858000"/>
          </a:xfrm>
          <a:prstGeom prst="line">
            <a:avLst/>
          </a:prstGeom>
          <a:noFill/>
          <a:ln w="4445">
            <a:solidFill>
              <a:srgbClr val="132020">
                <a:alpha val="45000"/>
              </a:srgbClr>
            </a:solidFill>
            <a:prstDash val="solid"/>
          </a:ln>
        </p:spPr>
      </p:sp>
      <p:sp>
        <p:nvSpPr>
          <p:cNvPr id="1779714554" name="Shape 4"/>
          <p:cNvSpPr/>
          <p:nvPr/>
        </p:nvSpPr>
        <p:spPr bwMode="auto">
          <a:xfrm>
            <a:off x="1426464" y="0"/>
            <a:ext cx="0" cy="6858000"/>
          </a:xfrm>
          <a:prstGeom prst="line">
            <a:avLst/>
          </a:prstGeom>
          <a:noFill/>
          <a:ln w="4445">
            <a:solidFill>
              <a:srgbClr val="132020">
                <a:alpha val="45000"/>
              </a:srgbClr>
            </a:solidFill>
            <a:prstDash val="solid"/>
          </a:ln>
        </p:spPr>
      </p:sp>
      <p:sp>
        <p:nvSpPr>
          <p:cNvPr id="920011635" name="Shape 5"/>
          <p:cNvSpPr/>
          <p:nvPr/>
        </p:nvSpPr>
        <p:spPr bwMode="auto">
          <a:xfrm>
            <a:off x="2139696" y="0"/>
            <a:ext cx="0" cy="6858000"/>
          </a:xfrm>
          <a:prstGeom prst="line">
            <a:avLst/>
          </a:prstGeom>
          <a:noFill/>
          <a:ln w="4445">
            <a:solidFill>
              <a:srgbClr val="132020">
                <a:alpha val="45000"/>
              </a:srgbClr>
            </a:solidFill>
            <a:prstDash val="solid"/>
          </a:ln>
        </p:spPr>
      </p:sp>
      <p:sp>
        <p:nvSpPr>
          <p:cNvPr id="2030271857" name="Shape 6"/>
          <p:cNvSpPr/>
          <p:nvPr/>
        </p:nvSpPr>
        <p:spPr bwMode="auto">
          <a:xfrm>
            <a:off x="2852928" y="0"/>
            <a:ext cx="0" cy="6858000"/>
          </a:xfrm>
          <a:prstGeom prst="line">
            <a:avLst/>
          </a:prstGeom>
          <a:noFill/>
          <a:ln w="4445">
            <a:solidFill>
              <a:srgbClr val="132020">
                <a:alpha val="45000"/>
              </a:srgbClr>
            </a:solidFill>
            <a:prstDash val="solid"/>
          </a:ln>
        </p:spPr>
      </p:sp>
      <p:sp>
        <p:nvSpPr>
          <p:cNvPr id="560828985" name="Shape 7"/>
          <p:cNvSpPr/>
          <p:nvPr/>
        </p:nvSpPr>
        <p:spPr bwMode="auto">
          <a:xfrm>
            <a:off x="3566160" y="0"/>
            <a:ext cx="0" cy="6858000"/>
          </a:xfrm>
          <a:prstGeom prst="line">
            <a:avLst/>
          </a:prstGeom>
          <a:noFill/>
          <a:ln w="4445">
            <a:solidFill>
              <a:srgbClr val="132020">
                <a:alpha val="45000"/>
              </a:srgbClr>
            </a:solidFill>
            <a:prstDash val="solid"/>
          </a:ln>
        </p:spPr>
      </p:sp>
      <p:sp>
        <p:nvSpPr>
          <p:cNvPr id="1501062168" name="Shape 8"/>
          <p:cNvSpPr/>
          <p:nvPr/>
        </p:nvSpPr>
        <p:spPr bwMode="auto">
          <a:xfrm>
            <a:off x="4279392" y="0"/>
            <a:ext cx="0" cy="6858000"/>
          </a:xfrm>
          <a:prstGeom prst="line">
            <a:avLst/>
          </a:prstGeom>
          <a:noFill/>
          <a:ln w="4445">
            <a:solidFill>
              <a:srgbClr val="132020">
                <a:alpha val="45000"/>
              </a:srgbClr>
            </a:solidFill>
            <a:prstDash val="solid"/>
          </a:ln>
        </p:spPr>
      </p:sp>
      <p:sp>
        <p:nvSpPr>
          <p:cNvPr id="1130895780" name="Shape 9"/>
          <p:cNvSpPr/>
          <p:nvPr/>
        </p:nvSpPr>
        <p:spPr bwMode="auto">
          <a:xfrm>
            <a:off x="4992624" y="0"/>
            <a:ext cx="0" cy="6858000"/>
          </a:xfrm>
          <a:prstGeom prst="line">
            <a:avLst/>
          </a:prstGeom>
          <a:noFill/>
          <a:ln w="4445">
            <a:solidFill>
              <a:srgbClr val="132020">
                <a:alpha val="45000"/>
              </a:srgbClr>
            </a:solidFill>
            <a:prstDash val="solid"/>
          </a:ln>
        </p:spPr>
      </p:sp>
      <p:sp>
        <p:nvSpPr>
          <p:cNvPr id="46382277" name="Shape 10"/>
          <p:cNvSpPr/>
          <p:nvPr/>
        </p:nvSpPr>
        <p:spPr bwMode="auto">
          <a:xfrm>
            <a:off x="5705856" y="0"/>
            <a:ext cx="0" cy="6858000"/>
          </a:xfrm>
          <a:prstGeom prst="line">
            <a:avLst/>
          </a:prstGeom>
          <a:noFill/>
          <a:ln w="4445">
            <a:solidFill>
              <a:srgbClr val="132020">
                <a:alpha val="45000"/>
              </a:srgbClr>
            </a:solidFill>
            <a:prstDash val="solid"/>
          </a:ln>
        </p:spPr>
      </p:sp>
      <p:sp>
        <p:nvSpPr>
          <p:cNvPr id="2005266599" name="Shape 11"/>
          <p:cNvSpPr/>
          <p:nvPr/>
        </p:nvSpPr>
        <p:spPr bwMode="auto">
          <a:xfrm>
            <a:off x="6419088" y="0"/>
            <a:ext cx="0" cy="6858000"/>
          </a:xfrm>
          <a:prstGeom prst="line">
            <a:avLst/>
          </a:prstGeom>
          <a:noFill/>
          <a:ln w="4445">
            <a:solidFill>
              <a:srgbClr val="132020">
                <a:alpha val="45000"/>
              </a:srgbClr>
            </a:solidFill>
            <a:prstDash val="solid"/>
          </a:ln>
        </p:spPr>
      </p:sp>
      <p:sp>
        <p:nvSpPr>
          <p:cNvPr id="1126657166" name="Shape 12"/>
          <p:cNvSpPr/>
          <p:nvPr/>
        </p:nvSpPr>
        <p:spPr bwMode="auto">
          <a:xfrm>
            <a:off x="7132320" y="0"/>
            <a:ext cx="0" cy="6858000"/>
          </a:xfrm>
          <a:prstGeom prst="line">
            <a:avLst/>
          </a:prstGeom>
          <a:noFill/>
          <a:ln w="4445">
            <a:solidFill>
              <a:srgbClr val="132020">
                <a:alpha val="45000"/>
              </a:srgbClr>
            </a:solidFill>
            <a:prstDash val="solid"/>
          </a:ln>
        </p:spPr>
      </p:sp>
      <p:sp>
        <p:nvSpPr>
          <p:cNvPr id="1192714456" name="Shape 13"/>
          <p:cNvSpPr/>
          <p:nvPr/>
        </p:nvSpPr>
        <p:spPr bwMode="auto">
          <a:xfrm>
            <a:off x="7845552" y="0"/>
            <a:ext cx="0" cy="6858000"/>
          </a:xfrm>
          <a:prstGeom prst="line">
            <a:avLst/>
          </a:prstGeom>
          <a:noFill/>
          <a:ln w="4445">
            <a:solidFill>
              <a:srgbClr val="132020">
                <a:alpha val="45000"/>
              </a:srgbClr>
            </a:solidFill>
            <a:prstDash val="solid"/>
          </a:ln>
        </p:spPr>
      </p:sp>
      <p:sp>
        <p:nvSpPr>
          <p:cNvPr id="1831750576" name="Shape 14"/>
          <p:cNvSpPr/>
          <p:nvPr/>
        </p:nvSpPr>
        <p:spPr bwMode="auto">
          <a:xfrm>
            <a:off x="8558784" y="0"/>
            <a:ext cx="0" cy="6858000"/>
          </a:xfrm>
          <a:prstGeom prst="line">
            <a:avLst/>
          </a:prstGeom>
          <a:noFill/>
          <a:ln w="4445">
            <a:solidFill>
              <a:srgbClr val="132020">
                <a:alpha val="45000"/>
              </a:srgbClr>
            </a:solidFill>
            <a:prstDash val="solid"/>
          </a:ln>
        </p:spPr>
      </p:sp>
      <p:sp>
        <p:nvSpPr>
          <p:cNvPr id="1094351376" name="Shape 15"/>
          <p:cNvSpPr/>
          <p:nvPr/>
        </p:nvSpPr>
        <p:spPr bwMode="auto">
          <a:xfrm>
            <a:off x="9272016" y="0"/>
            <a:ext cx="0" cy="6858000"/>
          </a:xfrm>
          <a:prstGeom prst="line">
            <a:avLst/>
          </a:prstGeom>
          <a:noFill/>
          <a:ln w="4445">
            <a:solidFill>
              <a:srgbClr val="132020">
                <a:alpha val="45000"/>
              </a:srgbClr>
            </a:solidFill>
            <a:prstDash val="solid"/>
          </a:ln>
        </p:spPr>
      </p:sp>
      <p:sp>
        <p:nvSpPr>
          <p:cNvPr id="759234999" name="Shape 16"/>
          <p:cNvSpPr/>
          <p:nvPr/>
        </p:nvSpPr>
        <p:spPr bwMode="auto">
          <a:xfrm>
            <a:off x="9985248" y="0"/>
            <a:ext cx="0" cy="6858000"/>
          </a:xfrm>
          <a:prstGeom prst="line">
            <a:avLst/>
          </a:prstGeom>
          <a:noFill/>
          <a:ln w="4445">
            <a:solidFill>
              <a:srgbClr val="132020">
                <a:alpha val="45000"/>
              </a:srgbClr>
            </a:solidFill>
            <a:prstDash val="solid"/>
          </a:ln>
        </p:spPr>
      </p:sp>
      <p:sp>
        <p:nvSpPr>
          <p:cNvPr id="57247462" name="Shape 17"/>
          <p:cNvSpPr/>
          <p:nvPr/>
        </p:nvSpPr>
        <p:spPr bwMode="auto">
          <a:xfrm>
            <a:off x="10698480" y="0"/>
            <a:ext cx="0" cy="6858000"/>
          </a:xfrm>
          <a:prstGeom prst="line">
            <a:avLst/>
          </a:prstGeom>
          <a:noFill/>
          <a:ln w="4445">
            <a:solidFill>
              <a:srgbClr val="132020">
                <a:alpha val="45000"/>
              </a:srgbClr>
            </a:solidFill>
            <a:prstDash val="solid"/>
          </a:ln>
        </p:spPr>
      </p:sp>
      <p:sp>
        <p:nvSpPr>
          <p:cNvPr id="612660070" name="Shape 18"/>
          <p:cNvSpPr/>
          <p:nvPr/>
        </p:nvSpPr>
        <p:spPr bwMode="auto">
          <a:xfrm>
            <a:off x="11411712" y="0"/>
            <a:ext cx="0" cy="6858000"/>
          </a:xfrm>
          <a:prstGeom prst="line">
            <a:avLst/>
          </a:prstGeom>
          <a:noFill/>
          <a:ln w="4445">
            <a:solidFill>
              <a:srgbClr val="132020">
                <a:alpha val="45000"/>
              </a:srgbClr>
            </a:solidFill>
            <a:prstDash val="solid"/>
          </a:ln>
        </p:spPr>
      </p:sp>
      <p:sp>
        <p:nvSpPr>
          <p:cNvPr id="528107907" name="Shape 19"/>
          <p:cNvSpPr/>
          <p:nvPr/>
        </p:nvSpPr>
        <p:spPr bwMode="auto">
          <a:xfrm>
            <a:off x="12124943" y="0"/>
            <a:ext cx="0" cy="6858000"/>
          </a:xfrm>
          <a:prstGeom prst="line">
            <a:avLst/>
          </a:prstGeom>
          <a:noFill/>
          <a:ln w="4445">
            <a:solidFill>
              <a:srgbClr val="132020">
                <a:alpha val="45000"/>
              </a:srgbClr>
            </a:solidFill>
            <a:prstDash val="solid"/>
          </a:ln>
        </p:spPr>
      </p:sp>
      <p:sp>
        <p:nvSpPr>
          <p:cNvPr id="77080618" name="Shape 20"/>
          <p:cNvSpPr/>
          <p:nvPr/>
        </p:nvSpPr>
        <p:spPr bwMode="auto">
          <a:xfrm>
            <a:off x="0" y="0"/>
            <a:ext cx="12191695" cy="0"/>
          </a:xfrm>
          <a:prstGeom prst="line">
            <a:avLst/>
          </a:prstGeom>
          <a:noFill/>
          <a:ln w="4445">
            <a:solidFill>
              <a:srgbClr val="132020">
                <a:alpha val="38000"/>
              </a:srgbClr>
            </a:solidFill>
            <a:prstDash val="solid"/>
          </a:ln>
        </p:spPr>
      </p:sp>
      <p:sp>
        <p:nvSpPr>
          <p:cNvPr id="609261171" name="Shape 21"/>
          <p:cNvSpPr/>
          <p:nvPr/>
        </p:nvSpPr>
        <p:spPr bwMode="auto">
          <a:xfrm>
            <a:off x="0" y="713232"/>
            <a:ext cx="12191695" cy="0"/>
          </a:xfrm>
          <a:prstGeom prst="line">
            <a:avLst/>
          </a:prstGeom>
          <a:noFill/>
          <a:ln w="4445">
            <a:solidFill>
              <a:srgbClr val="132020">
                <a:alpha val="38000"/>
              </a:srgbClr>
            </a:solidFill>
            <a:prstDash val="solid"/>
          </a:ln>
        </p:spPr>
      </p:sp>
      <p:sp>
        <p:nvSpPr>
          <p:cNvPr id="994267694" name="Shape 22"/>
          <p:cNvSpPr/>
          <p:nvPr/>
        </p:nvSpPr>
        <p:spPr bwMode="auto">
          <a:xfrm>
            <a:off x="0" y="1426464"/>
            <a:ext cx="12191695" cy="0"/>
          </a:xfrm>
          <a:prstGeom prst="line">
            <a:avLst/>
          </a:prstGeom>
          <a:noFill/>
          <a:ln w="4445">
            <a:solidFill>
              <a:srgbClr val="132020">
                <a:alpha val="38000"/>
              </a:srgbClr>
            </a:solidFill>
            <a:prstDash val="solid"/>
          </a:ln>
        </p:spPr>
      </p:sp>
      <p:sp>
        <p:nvSpPr>
          <p:cNvPr id="102414381" name="Shape 23"/>
          <p:cNvSpPr/>
          <p:nvPr/>
        </p:nvSpPr>
        <p:spPr bwMode="auto">
          <a:xfrm>
            <a:off x="0" y="2139696"/>
            <a:ext cx="12191695" cy="0"/>
          </a:xfrm>
          <a:prstGeom prst="line">
            <a:avLst/>
          </a:prstGeom>
          <a:noFill/>
          <a:ln w="4445">
            <a:solidFill>
              <a:srgbClr val="132020">
                <a:alpha val="38000"/>
              </a:srgbClr>
            </a:solidFill>
            <a:prstDash val="solid"/>
          </a:ln>
        </p:spPr>
      </p:sp>
      <p:sp>
        <p:nvSpPr>
          <p:cNvPr id="793925185" name="Shape 24"/>
          <p:cNvSpPr/>
          <p:nvPr/>
        </p:nvSpPr>
        <p:spPr bwMode="auto">
          <a:xfrm>
            <a:off x="0" y="2852928"/>
            <a:ext cx="12191695" cy="0"/>
          </a:xfrm>
          <a:prstGeom prst="line">
            <a:avLst/>
          </a:prstGeom>
          <a:noFill/>
          <a:ln w="4445">
            <a:solidFill>
              <a:srgbClr val="132020">
                <a:alpha val="38000"/>
              </a:srgbClr>
            </a:solidFill>
            <a:prstDash val="solid"/>
          </a:ln>
        </p:spPr>
      </p:sp>
      <p:sp>
        <p:nvSpPr>
          <p:cNvPr id="562889695" name="Shape 25"/>
          <p:cNvSpPr/>
          <p:nvPr/>
        </p:nvSpPr>
        <p:spPr bwMode="auto">
          <a:xfrm>
            <a:off x="0" y="3566160"/>
            <a:ext cx="12191695" cy="0"/>
          </a:xfrm>
          <a:prstGeom prst="line">
            <a:avLst/>
          </a:prstGeom>
          <a:noFill/>
          <a:ln w="4445">
            <a:solidFill>
              <a:srgbClr val="132020">
                <a:alpha val="38000"/>
              </a:srgbClr>
            </a:solidFill>
            <a:prstDash val="solid"/>
          </a:ln>
        </p:spPr>
      </p:sp>
      <p:sp>
        <p:nvSpPr>
          <p:cNvPr id="1867903369" name="Shape 26"/>
          <p:cNvSpPr/>
          <p:nvPr/>
        </p:nvSpPr>
        <p:spPr bwMode="auto">
          <a:xfrm>
            <a:off x="0" y="4279392"/>
            <a:ext cx="12191695" cy="0"/>
          </a:xfrm>
          <a:prstGeom prst="line">
            <a:avLst/>
          </a:prstGeom>
          <a:noFill/>
          <a:ln w="4445">
            <a:solidFill>
              <a:srgbClr val="132020">
                <a:alpha val="38000"/>
              </a:srgbClr>
            </a:solidFill>
            <a:prstDash val="solid"/>
          </a:ln>
        </p:spPr>
      </p:sp>
      <p:sp>
        <p:nvSpPr>
          <p:cNvPr id="1777300546" name="Shape 27"/>
          <p:cNvSpPr/>
          <p:nvPr/>
        </p:nvSpPr>
        <p:spPr bwMode="auto">
          <a:xfrm>
            <a:off x="0" y="4992624"/>
            <a:ext cx="12191695" cy="0"/>
          </a:xfrm>
          <a:prstGeom prst="line">
            <a:avLst/>
          </a:prstGeom>
          <a:noFill/>
          <a:ln w="4445">
            <a:solidFill>
              <a:srgbClr val="132020">
                <a:alpha val="38000"/>
              </a:srgbClr>
            </a:solidFill>
            <a:prstDash val="solid"/>
          </a:ln>
        </p:spPr>
      </p:sp>
      <p:sp>
        <p:nvSpPr>
          <p:cNvPr id="1939166874" name="Shape 28"/>
          <p:cNvSpPr/>
          <p:nvPr/>
        </p:nvSpPr>
        <p:spPr bwMode="auto">
          <a:xfrm>
            <a:off x="0" y="5705856"/>
            <a:ext cx="12191695" cy="0"/>
          </a:xfrm>
          <a:prstGeom prst="line">
            <a:avLst/>
          </a:prstGeom>
          <a:noFill/>
          <a:ln w="4445">
            <a:solidFill>
              <a:srgbClr val="132020">
                <a:alpha val="38000"/>
              </a:srgbClr>
            </a:solidFill>
            <a:prstDash val="solid"/>
          </a:ln>
        </p:spPr>
      </p:sp>
      <p:sp>
        <p:nvSpPr>
          <p:cNvPr id="639824005" name="Shape 29"/>
          <p:cNvSpPr/>
          <p:nvPr/>
        </p:nvSpPr>
        <p:spPr bwMode="auto">
          <a:xfrm>
            <a:off x="0" y="6419088"/>
            <a:ext cx="12191695" cy="0"/>
          </a:xfrm>
          <a:prstGeom prst="line">
            <a:avLst/>
          </a:prstGeom>
          <a:noFill/>
          <a:ln w="4445">
            <a:solidFill>
              <a:srgbClr val="132020">
                <a:alpha val="38000"/>
              </a:srgbClr>
            </a:solidFill>
            <a:prstDash val="solid"/>
          </a:ln>
        </p:spPr>
      </p:sp>
      <p:sp>
        <p:nvSpPr>
          <p:cNvPr id="1075607685" name="Shape 30"/>
          <p:cNvSpPr/>
          <p:nvPr/>
        </p:nvSpPr>
        <p:spPr bwMode="auto">
          <a:xfrm>
            <a:off x="0" y="0"/>
            <a:ext cx="82296" cy="6858000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pic>
        <p:nvPicPr>
          <p:cNvPr id="768942801" name="Image 0" descr="/home/fanff/fanfan/ML/NLP_coolyeah/TA/ppt_nuxt_movies/assets/generated/nuxt-movies-logo.png"/>
          <p:cNvPicPr>
            <a:picLocks noChangeAspect="1"/>
          </p:cNvPicPr>
          <p:nvPr/>
        </p:nvPicPr>
        <p:blipFill rotWithShape="1">
          <a:blip r:embed="rId3">
            <a:alphaModFix amt="94000"/>
          </a:blip>
          <a:stretch/>
        </p:blipFill>
        <p:spPr bwMode="auto">
          <a:xfrm>
            <a:off x="11356848" y="237744"/>
            <a:ext cx="411480" cy="411480"/>
          </a:xfrm>
          <a:prstGeom prst="rect">
            <a:avLst/>
          </a:prstGeom>
        </p:spPr>
      </p:pic>
      <p:sp>
        <p:nvSpPr>
          <p:cNvPr id="347852844" name="Text 31"/>
          <p:cNvSpPr/>
          <p:nvPr/>
        </p:nvSpPr>
        <p:spPr bwMode="auto">
          <a:xfrm>
            <a:off x="548640" y="329184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000" b="1">
                <a:solidFill>
                  <a:srgbClr val="F4F7F6"/>
                </a:solidFill>
                <a:latin typeface="Georgia"/>
                <a:ea typeface="Georgia"/>
                <a:cs typeface="Georgia"/>
              </a:rPr>
              <a:t>Stack Teknologi</a:t>
            </a:r>
            <a:endParaRPr lang="en-US" sz="2000"/>
          </a:p>
        </p:txBody>
      </p:sp>
      <p:sp>
        <p:nvSpPr>
          <p:cNvPr id="136687206" name="Shape 32"/>
          <p:cNvSpPr/>
          <p:nvPr/>
        </p:nvSpPr>
        <p:spPr bwMode="auto">
          <a:xfrm>
            <a:off x="548640" y="804672"/>
            <a:ext cx="1828800" cy="0"/>
          </a:xfrm>
          <a:prstGeom prst="line">
            <a:avLst/>
          </a:prstGeom>
          <a:noFill/>
          <a:ln w="25400">
            <a:solidFill>
              <a:srgbClr val="24D6C3"/>
            </a:solidFill>
            <a:prstDash val="solid"/>
          </a:ln>
        </p:spPr>
      </p:sp>
      <p:sp>
        <p:nvSpPr>
          <p:cNvPr id="952395099" name="Shape 33"/>
          <p:cNvSpPr/>
          <p:nvPr/>
        </p:nvSpPr>
        <p:spPr bwMode="auto">
          <a:xfrm>
            <a:off x="731520" y="1051560"/>
            <a:ext cx="10698480" cy="4800600"/>
          </a:xfrm>
          <a:prstGeom prst="roundRect">
            <a:avLst>
              <a:gd name="adj" fmla="val 1333"/>
            </a:avLst>
          </a:prstGeom>
          <a:solidFill>
            <a:srgbClr val="0B1111"/>
          </a:solidFill>
          <a:ln w="12700">
            <a:solidFill>
              <a:srgbClr val="253232"/>
            </a:solidFill>
            <a:prstDash val="solid"/>
          </a:ln>
        </p:spPr>
      </p:sp>
      <p:sp>
        <p:nvSpPr>
          <p:cNvPr id="1589672878" name="Shape 34"/>
          <p:cNvSpPr/>
          <p:nvPr/>
        </p:nvSpPr>
        <p:spPr bwMode="auto">
          <a:xfrm>
            <a:off x="1051560" y="1307592"/>
            <a:ext cx="2011680" cy="347472"/>
          </a:xfrm>
          <a:prstGeom prst="rect">
            <a:avLst/>
          </a:prstGeom>
          <a:solidFill>
            <a:srgbClr val="132121"/>
          </a:solidFill>
          <a:ln w="12700">
            <a:solidFill>
              <a:srgbClr val="233333"/>
            </a:solidFill>
            <a:prstDash val="solid"/>
          </a:ln>
        </p:spPr>
      </p:sp>
      <p:sp>
        <p:nvSpPr>
          <p:cNvPr id="1821888070" name="Text 35"/>
          <p:cNvSpPr/>
          <p:nvPr/>
        </p:nvSpPr>
        <p:spPr bwMode="auto">
          <a:xfrm>
            <a:off x="1188720" y="1380744"/>
            <a:ext cx="1691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24D6C3"/>
                </a:solidFill>
              </a:rPr>
              <a:t>Frontend</a:t>
            </a:r>
            <a:endParaRPr lang="en-US" sz="1100"/>
          </a:p>
        </p:txBody>
      </p:sp>
      <p:sp>
        <p:nvSpPr>
          <p:cNvPr id="231768245" name="Shape 36"/>
          <p:cNvSpPr/>
          <p:nvPr/>
        </p:nvSpPr>
        <p:spPr bwMode="auto">
          <a:xfrm>
            <a:off x="3246120" y="1307592"/>
            <a:ext cx="7680960" cy="347472"/>
          </a:xfrm>
          <a:prstGeom prst="rect">
            <a:avLst/>
          </a:prstGeom>
          <a:solidFill>
            <a:srgbClr val="0F1717"/>
          </a:solidFill>
          <a:ln w="12700">
            <a:solidFill>
              <a:srgbClr val="233333"/>
            </a:solidFill>
            <a:prstDash val="solid"/>
          </a:ln>
        </p:spPr>
      </p:sp>
      <p:sp>
        <p:nvSpPr>
          <p:cNvPr id="205998466" name="Text 37"/>
          <p:cNvSpPr/>
          <p:nvPr/>
        </p:nvSpPr>
        <p:spPr bwMode="auto">
          <a:xfrm>
            <a:off x="3401568" y="1380744"/>
            <a:ext cx="7132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F4F7F6"/>
                </a:solidFill>
              </a:rPr>
              <a:t>Nuxt 3, Vue 3, TypeScript, UnoCSS</a:t>
            </a:r>
            <a:endParaRPr lang="en-US" sz="1100"/>
          </a:p>
        </p:txBody>
      </p:sp>
      <p:sp>
        <p:nvSpPr>
          <p:cNvPr id="2053966747" name="Shape 38"/>
          <p:cNvSpPr/>
          <p:nvPr/>
        </p:nvSpPr>
        <p:spPr bwMode="auto">
          <a:xfrm>
            <a:off x="1051560" y="1883664"/>
            <a:ext cx="2011680" cy="347472"/>
          </a:xfrm>
          <a:prstGeom prst="rect">
            <a:avLst/>
          </a:prstGeom>
          <a:solidFill>
            <a:srgbClr val="101818"/>
          </a:solidFill>
          <a:ln w="12700">
            <a:solidFill>
              <a:srgbClr val="233333"/>
            </a:solidFill>
            <a:prstDash val="solid"/>
          </a:ln>
        </p:spPr>
      </p:sp>
      <p:sp>
        <p:nvSpPr>
          <p:cNvPr id="720168913" name="Text 39"/>
          <p:cNvSpPr/>
          <p:nvPr/>
        </p:nvSpPr>
        <p:spPr bwMode="auto">
          <a:xfrm>
            <a:off x="1188720" y="1956816"/>
            <a:ext cx="1691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24D6C3"/>
                </a:solidFill>
              </a:rPr>
              <a:t>Backend web</a:t>
            </a:r>
            <a:endParaRPr lang="en-US" sz="1100"/>
          </a:p>
        </p:txBody>
      </p:sp>
      <p:sp>
        <p:nvSpPr>
          <p:cNvPr id="670400446" name="Shape 40"/>
          <p:cNvSpPr/>
          <p:nvPr/>
        </p:nvSpPr>
        <p:spPr bwMode="auto">
          <a:xfrm>
            <a:off x="3246120" y="1883664"/>
            <a:ext cx="7680960" cy="347472"/>
          </a:xfrm>
          <a:prstGeom prst="rect">
            <a:avLst/>
          </a:prstGeom>
          <a:solidFill>
            <a:srgbClr val="0B1111"/>
          </a:solidFill>
          <a:ln w="12700">
            <a:solidFill>
              <a:srgbClr val="233333"/>
            </a:solidFill>
            <a:prstDash val="solid"/>
          </a:ln>
        </p:spPr>
      </p:sp>
      <p:sp>
        <p:nvSpPr>
          <p:cNvPr id="1041378297" name="Text 41"/>
          <p:cNvSpPr/>
          <p:nvPr/>
        </p:nvSpPr>
        <p:spPr bwMode="auto">
          <a:xfrm>
            <a:off x="3401568" y="1956816"/>
            <a:ext cx="7132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F4F7F6"/>
                </a:solidFill>
              </a:rPr>
              <a:t>Nuxt Server API / Nitro</a:t>
            </a:r>
            <a:endParaRPr lang="en-US" sz="1100"/>
          </a:p>
        </p:txBody>
      </p:sp>
      <p:sp>
        <p:nvSpPr>
          <p:cNvPr id="296360128" name="Shape 42"/>
          <p:cNvSpPr/>
          <p:nvPr/>
        </p:nvSpPr>
        <p:spPr bwMode="auto">
          <a:xfrm>
            <a:off x="1051560" y="2459735"/>
            <a:ext cx="2011680" cy="347472"/>
          </a:xfrm>
          <a:prstGeom prst="rect">
            <a:avLst/>
          </a:prstGeom>
          <a:solidFill>
            <a:srgbClr val="132121"/>
          </a:solidFill>
          <a:ln w="12700">
            <a:solidFill>
              <a:srgbClr val="233333"/>
            </a:solidFill>
            <a:prstDash val="solid"/>
          </a:ln>
        </p:spPr>
      </p:sp>
      <p:sp>
        <p:nvSpPr>
          <p:cNvPr id="1898652369" name="Text 43"/>
          <p:cNvSpPr/>
          <p:nvPr/>
        </p:nvSpPr>
        <p:spPr bwMode="auto">
          <a:xfrm>
            <a:off x="1188720" y="2532888"/>
            <a:ext cx="1691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24D6C3"/>
                </a:solidFill>
              </a:rPr>
              <a:t>Database</a:t>
            </a:r>
            <a:endParaRPr lang="en-US" sz="1100"/>
          </a:p>
        </p:txBody>
      </p:sp>
      <p:sp>
        <p:nvSpPr>
          <p:cNvPr id="568014223" name="Shape 44"/>
          <p:cNvSpPr/>
          <p:nvPr/>
        </p:nvSpPr>
        <p:spPr bwMode="auto">
          <a:xfrm>
            <a:off x="3246120" y="2459735"/>
            <a:ext cx="7680960" cy="347472"/>
          </a:xfrm>
          <a:prstGeom prst="rect">
            <a:avLst/>
          </a:prstGeom>
          <a:solidFill>
            <a:srgbClr val="0F1717"/>
          </a:solidFill>
          <a:ln w="12700">
            <a:solidFill>
              <a:srgbClr val="233333"/>
            </a:solidFill>
            <a:prstDash val="solid"/>
          </a:ln>
        </p:spPr>
      </p:sp>
      <p:sp>
        <p:nvSpPr>
          <p:cNvPr id="1237585524" name="Text 45"/>
          <p:cNvSpPr/>
          <p:nvPr/>
        </p:nvSpPr>
        <p:spPr bwMode="auto">
          <a:xfrm>
            <a:off x="3401568" y="2532888"/>
            <a:ext cx="7132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F4F7F6"/>
                </a:solidFill>
              </a:rPr>
              <a:t>PostgreSQL</a:t>
            </a:r>
            <a:endParaRPr lang="en-US" sz="1100"/>
          </a:p>
        </p:txBody>
      </p:sp>
      <p:sp>
        <p:nvSpPr>
          <p:cNvPr id="1952074978" name="Shape 46"/>
          <p:cNvSpPr/>
          <p:nvPr/>
        </p:nvSpPr>
        <p:spPr bwMode="auto">
          <a:xfrm>
            <a:off x="1051560" y="3035808"/>
            <a:ext cx="2011680" cy="347472"/>
          </a:xfrm>
          <a:prstGeom prst="rect">
            <a:avLst/>
          </a:prstGeom>
          <a:solidFill>
            <a:srgbClr val="101818"/>
          </a:solidFill>
          <a:ln w="12700">
            <a:solidFill>
              <a:srgbClr val="233333"/>
            </a:solidFill>
            <a:prstDash val="solid"/>
          </a:ln>
        </p:spPr>
      </p:sp>
      <p:sp>
        <p:nvSpPr>
          <p:cNvPr id="190293374" name="Text 47"/>
          <p:cNvSpPr/>
          <p:nvPr/>
        </p:nvSpPr>
        <p:spPr bwMode="auto">
          <a:xfrm>
            <a:off x="1188720" y="3108960"/>
            <a:ext cx="1691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24D6C3"/>
                </a:solidFill>
              </a:rPr>
              <a:t>ORM</a:t>
            </a:r>
            <a:endParaRPr lang="en-US" sz="1100"/>
          </a:p>
        </p:txBody>
      </p:sp>
      <p:sp>
        <p:nvSpPr>
          <p:cNvPr id="862141264" name="Shape 48"/>
          <p:cNvSpPr/>
          <p:nvPr/>
        </p:nvSpPr>
        <p:spPr bwMode="auto">
          <a:xfrm>
            <a:off x="3246120" y="3035808"/>
            <a:ext cx="7680960" cy="347472"/>
          </a:xfrm>
          <a:prstGeom prst="rect">
            <a:avLst/>
          </a:prstGeom>
          <a:solidFill>
            <a:srgbClr val="0B1111"/>
          </a:solidFill>
          <a:ln w="12700">
            <a:solidFill>
              <a:srgbClr val="233333"/>
            </a:solidFill>
            <a:prstDash val="solid"/>
          </a:ln>
        </p:spPr>
      </p:sp>
      <p:sp>
        <p:nvSpPr>
          <p:cNvPr id="1863369748" name="Text 49"/>
          <p:cNvSpPr/>
          <p:nvPr/>
        </p:nvSpPr>
        <p:spPr bwMode="auto">
          <a:xfrm>
            <a:off x="3401568" y="3108960"/>
            <a:ext cx="7132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F4F7F6"/>
                </a:solidFill>
              </a:rPr>
              <a:t>Prisma ORM</a:t>
            </a:r>
            <a:endParaRPr lang="en-US" sz="1100"/>
          </a:p>
        </p:txBody>
      </p:sp>
      <p:sp>
        <p:nvSpPr>
          <p:cNvPr id="187970935" name="Shape 50"/>
          <p:cNvSpPr/>
          <p:nvPr/>
        </p:nvSpPr>
        <p:spPr bwMode="auto">
          <a:xfrm>
            <a:off x="1051560" y="3611880"/>
            <a:ext cx="2011680" cy="347472"/>
          </a:xfrm>
          <a:prstGeom prst="rect">
            <a:avLst/>
          </a:prstGeom>
          <a:solidFill>
            <a:srgbClr val="132121"/>
          </a:solidFill>
          <a:ln w="12700">
            <a:solidFill>
              <a:srgbClr val="233333"/>
            </a:solidFill>
            <a:prstDash val="solid"/>
          </a:ln>
        </p:spPr>
      </p:sp>
      <p:sp>
        <p:nvSpPr>
          <p:cNvPr id="1920933087" name="Text 51"/>
          <p:cNvSpPr/>
          <p:nvPr/>
        </p:nvSpPr>
        <p:spPr bwMode="auto">
          <a:xfrm>
            <a:off x="1188720" y="3685032"/>
            <a:ext cx="1691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24D6C3"/>
                </a:solidFill>
              </a:rPr>
              <a:t>Model API</a:t>
            </a:r>
            <a:endParaRPr lang="en-US" sz="1100"/>
          </a:p>
        </p:txBody>
      </p:sp>
      <p:sp>
        <p:nvSpPr>
          <p:cNvPr id="123798971" name="Shape 52"/>
          <p:cNvSpPr/>
          <p:nvPr/>
        </p:nvSpPr>
        <p:spPr bwMode="auto">
          <a:xfrm>
            <a:off x="3246120" y="3611880"/>
            <a:ext cx="7680960" cy="347472"/>
          </a:xfrm>
          <a:prstGeom prst="rect">
            <a:avLst/>
          </a:prstGeom>
          <a:solidFill>
            <a:srgbClr val="0F1717"/>
          </a:solidFill>
          <a:ln w="12700">
            <a:solidFill>
              <a:srgbClr val="233333"/>
            </a:solidFill>
            <a:prstDash val="solid"/>
          </a:ln>
        </p:spPr>
      </p:sp>
      <p:sp>
        <p:nvSpPr>
          <p:cNvPr id="677729527" name="Text 53"/>
          <p:cNvSpPr/>
          <p:nvPr/>
        </p:nvSpPr>
        <p:spPr bwMode="auto">
          <a:xfrm>
            <a:off x="3401568" y="3685032"/>
            <a:ext cx="7132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F4F7F6"/>
                </a:solidFill>
              </a:rPr>
              <a:t>FastAPI</a:t>
            </a:r>
            <a:endParaRPr lang="en-US" sz="1100"/>
          </a:p>
        </p:txBody>
      </p:sp>
      <p:sp>
        <p:nvSpPr>
          <p:cNvPr id="150804554" name="Shape 54"/>
          <p:cNvSpPr/>
          <p:nvPr/>
        </p:nvSpPr>
        <p:spPr bwMode="auto">
          <a:xfrm>
            <a:off x="1051560" y="4187952"/>
            <a:ext cx="2011680" cy="347472"/>
          </a:xfrm>
          <a:prstGeom prst="rect">
            <a:avLst/>
          </a:prstGeom>
          <a:solidFill>
            <a:srgbClr val="101818"/>
          </a:solidFill>
          <a:ln w="12700">
            <a:solidFill>
              <a:srgbClr val="233333"/>
            </a:solidFill>
            <a:prstDash val="solid"/>
          </a:ln>
        </p:spPr>
      </p:sp>
      <p:sp>
        <p:nvSpPr>
          <p:cNvPr id="1612425820" name="Text 55"/>
          <p:cNvSpPr/>
          <p:nvPr/>
        </p:nvSpPr>
        <p:spPr bwMode="auto">
          <a:xfrm>
            <a:off x="1188720" y="4261104"/>
            <a:ext cx="1691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24D6C3"/>
                </a:solidFill>
              </a:rPr>
              <a:t>ML/NLP</a:t>
            </a:r>
            <a:endParaRPr lang="en-US" sz="1100"/>
          </a:p>
        </p:txBody>
      </p:sp>
      <p:sp>
        <p:nvSpPr>
          <p:cNvPr id="1118746427" name="Shape 56"/>
          <p:cNvSpPr/>
          <p:nvPr/>
        </p:nvSpPr>
        <p:spPr bwMode="auto">
          <a:xfrm>
            <a:off x="3246120" y="4187952"/>
            <a:ext cx="7680960" cy="347472"/>
          </a:xfrm>
          <a:prstGeom prst="rect">
            <a:avLst/>
          </a:prstGeom>
          <a:solidFill>
            <a:srgbClr val="0B1111"/>
          </a:solidFill>
          <a:ln w="12700">
            <a:solidFill>
              <a:srgbClr val="233333"/>
            </a:solidFill>
            <a:prstDash val="solid"/>
          </a:ln>
        </p:spPr>
      </p:sp>
      <p:sp>
        <p:nvSpPr>
          <p:cNvPr id="1793783838" name="Text 57"/>
          <p:cNvSpPr/>
          <p:nvPr/>
        </p:nvSpPr>
        <p:spPr bwMode="auto">
          <a:xfrm>
            <a:off x="3401568" y="4261104"/>
            <a:ext cx="7132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F4F7F6"/>
                </a:solidFill>
              </a:rPr>
              <a:t>scikit-learn, TF-IDF, Logistic Regression</a:t>
            </a:r>
            <a:endParaRPr lang="en-US" sz="1100"/>
          </a:p>
        </p:txBody>
      </p:sp>
      <p:sp>
        <p:nvSpPr>
          <p:cNvPr id="255169084" name="Shape 58"/>
          <p:cNvSpPr/>
          <p:nvPr/>
        </p:nvSpPr>
        <p:spPr bwMode="auto">
          <a:xfrm>
            <a:off x="1051560" y="4764024"/>
            <a:ext cx="2011680" cy="347472"/>
          </a:xfrm>
          <a:prstGeom prst="rect">
            <a:avLst/>
          </a:prstGeom>
          <a:solidFill>
            <a:srgbClr val="132121"/>
          </a:solidFill>
          <a:ln w="12700">
            <a:solidFill>
              <a:srgbClr val="233333"/>
            </a:solidFill>
            <a:prstDash val="solid"/>
          </a:ln>
        </p:spPr>
      </p:sp>
      <p:sp>
        <p:nvSpPr>
          <p:cNvPr id="1198560030" name="Text 59"/>
          <p:cNvSpPr/>
          <p:nvPr/>
        </p:nvSpPr>
        <p:spPr bwMode="auto">
          <a:xfrm>
            <a:off x="1188720" y="4837176"/>
            <a:ext cx="1691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24D6C3"/>
                </a:solidFill>
              </a:rPr>
              <a:t>Data film</a:t>
            </a:r>
            <a:endParaRPr lang="en-US" sz="1100"/>
          </a:p>
        </p:txBody>
      </p:sp>
      <p:sp>
        <p:nvSpPr>
          <p:cNvPr id="789364684" name="Shape 60"/>
          <p:cNvSpPr/>
          <p:nvPr/>
        </p:nvSpPr>
        <p:spPr bwMode="auto">
          <a:xfrm>
            <a:off x="3246120" y="4764024"/>
            <a:ext cx="7680960" cy="347472"/>
          </a:xfrm>
          <a:prstGeom prst="rect">
            <a:avLst/>
          </a:prstGeom>
          <a:solidFill>
            <a:srgbClr val="0F1717"/>
          </a:solidFill>
          <a:ln w="12700">
            <a:solidFill>
              <a:srgbClr val="233333"/>
            </a:solidFill>
            <a:prstDash val="solid"/>
          </a:ln>
        </p:spPr>
      </p:sp>
      <p:sp>
        <p:nvSpPr>
          <p:cNvPr id="1595740140" name="Text 61"/>
          <p:cNvSpPr/>
          <p:nvPr/>
        </p:nvSpPr>
        <p:spPr bwMode="auto">
          <a:xfrm>
            <a:off x="3401568" y="4837176"/>
            <a:ext cx="7132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F4F7F6"/>
                </a:solidFill>
              </a:rPr>
              <a:t>TMDB API</a:t>
            </a:r>
            <a:endParaRPr lang="en-US" sz="1100"/>
          </a:p>
        </p:txBody>
      </p:sp>
      <p:sp>
        <p:nvSpPr>
          <p:cNvPr id="1548893823" name="Text 62"/>
          <p:cNvSpPr/>
          <p:nvPr/>
        </p:nvSpPr>
        <p:spPr bwMode="auto">
          <a:xfrm>
            <a:off x="1097280" y="5486400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9EA8A6"/>
                </a:solidFill>
              </a:rPr>
              <a:t>Pembagian sistem: UI dan server web di Nuxt, data tersimpan di PostgreSQL, model berjalan sebagai service FastAPI.</a:t>
            </a:r>
            <a:endParaRPr lang="en-US" sz="1200"/>
          </a:p>
        </p:txBody>
      </p:sp>
      <p:sp>
        <p:nvSpPr>
          <p:cNvPr id="1156982530" name="Text 63"/>
          <p:cNvSpPr/>
          <p:nvPr/>
        </p:nvSpPr>
        <p:spPr bwMode="auto">
          <a:xfrm>
            <a:off x="566928" y="6446520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700">
                <a:solidFill>
                  <a:srgbClr val="9EA8A6"/>
                </a:solidFill>
              </a:rPr>
              <a:t>Nuxt Movies · NLP Sentiment Classification · 03</a:t>
            </a:r>
            <a:endParaRPr lang="en-US" sz="7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4">
    <p:bg>
      <p:bgPr shadeToTitle="0">
        <a:solidFill>
          <a:srgbClr val="050808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67229609" name="Shape 0"/>
          <p:cNvSpPr/>
          <p:nvPr/>
        </p:nvSpPr>
        <p:spPr bwMode="auto">
          <a:xfrm>
            <a:off x="0" y="0"/>
            <a:ext cx="12191695" cy="6858000"/>
          </a:xfrm>
          <a:prstGeom prst="rect">
            <a:avLst/>
          </a:prstGeom>
          <a:solidFill>
            <a:srgbClr val="050808"/>
          </a:solidFill>
          <a:ln w="12700">
            <a:solidFill>
              <a:srgbClr val="050808"/>
            </a:solidFill>
            <a:prstDash val="solid"/>
          </a:ln>
        </p:spPr>
      </p:sp>
      <p:sp>
        <p:nvSpPr>
          <p:cNvPr id="208770312" name="Shape 1"/>
          <p:cNvSpPr/>
          <p:nvPr/>
        </p:nvSpPr>
        <p:spPr bwMode="auto">
          <a:xfrm>
            <a:off x="0" y="0"/>
            <a:ext cx="12191695" cy="6858000"/>
          </a:xfrm>
          <a:prstGeom prst="rect">
            <a:avLst/>
          </a:prstGeom>
          <a:solidFill>
            <a:srgbClr val="071111">
              <a:alpha val="80000"/>
            </a:srgbClr>
          </a:solidFill>
          <a:ln w="12700">
            <a:solidFill>
              <a:srgbClr val="071111">
                <a:alpha val="0"/>
              </a:srgbClr>
            </a:solidFill>
            <a:prstDash val="solid"/>
          </a:ln>
        </p:spPr>
      </p:sp>
      <p:sp>
        <p:nvSpPr>
          <p:cNvPr id="2060829577" name="Shape 2"/>
          <p:cNvSpPr/>
          <p:nvPr/>
        </p:nvSpPr>
        <p:spPr bwMode="auto">
          <a:xfrm>
            <a:off x="0" y="0"/>
            <a:ext cx="0" cy="6858000"/>
          </a:xfrm>
          <a:prstGeom prst="line">
            <a:avLst/>
          </a:prstGeom>
          <a:noFill/>
          <a:ln w="4445">
            <a:solidFill>
              <a:srgbClr val="132020">
                <a:alpha val="45000"/>
              </a:srgbClr>
            </a:solidFill>
            <a:prstDash val="solid"/>
          </a:ln>
        </p:spPr>
      </p:sp>
      <p:sp>
        <p:nvSpPr>
          <p:cNvPr id="128685727" name="Shape 3"/>
          <p:cNvSpPr/>
          <p:nvPr/>
        </p:nvSpPr>
        <p:spPr bwMode="auto">
          <a:xfrm>
            <a:off x="713232" y="0"/>
            <a:ext cx="0" cy="6858000"/>
          </a:xfrm>
          <a:prstGeom prst="line">
            <a:avLst/>
          </a:prstGeom>
          <a:noFill/>
          <a:ln w="4445">
            <a:solidFill>
              <a:srgbClr val="132020">
                <a:alpha val="45000"/>
              </a:srgbClr>
            </a:solidFill>
            <a:prstDash val="solid"/>
          </a:ln>
        </p:spPr>
      </p:sp>
      <p:sp>
        <p:nvSpPr>
          <p:cNvPr id="391198340" name="Shape 4"/>
          <p:cNvSpPr/>
          <p:nvPr/>
        </p:nvSpPr>
        <p:spPr bwMode="auto">
          <a:xfrm>
            <a:off x="1426464" y="0"/>
            <a:ext cx="0" cy="6858000"/>
          </a:xfrm>
          <a:prstGeom prst="line">
            <a:avLst/>
          </a:prstGeom>
          <a:noFill/>
          <a:ln w="4445">
            <a:solidFill>
              <a:srgbClr val="132020">
                <a:alpha val="45000"/>
              </a:srgbClr>
            </a:solidFill>
            <a:prstDash val="solid"/>
          </a:ln>
        </p:spPr>
      </p:sp>
      <p:sp>
        <p:nvSpPr>
          <p:cNvPr id="1996116972" name="Shape 5"/>
          <p:cNvSpPr/>
          <p:nvPr/>
        </p:nvSpPr>
        <p:spPr bwMode="auto">
          <a:xfrm>
            <a:off x="2139696" y="0"/>
            <a:ext cx="0" cy="6858000"/>
          </a:xfrm>
          <a:prstGeom prst="line">
            <a:avLst/>
          </a:prstGeom>
          <a:noFill/>
          <a:ln w="4445">
            <a:solidFill>
              <a:srgbClr val="132020">
                <a:alpha val="45000"/>
              </a:srgbClr>
            </a:solidFill>
            <a:prstDash val="solid"/>
          </a:ln>
        </p:spPr>
      </p:sp>
      <p:sp>
        <p:nvSpPr>
          <p:cNvPr id="358258212" name="Shape 6"/>
          <p:cNvSpPr/>
          <p:nvPr/>
        </p:nvSpPr>
        <p:spPr bwMode="auto">
          <a:xfrm>
            <a:off x="2852928" y="0"/>
            <a:ext cx="0" cy="6858000"/>
          </a:xfrm>
          <a:prstGeom prst="line">
            <a:avLst/>
          </a:prstGeom>
          <a:noFill/>
          <a:ln w="4445">
            <a:solidFill>
              <a:srgbClr val="132020">
                <a:alpha val="45000"/>
              </a:srgbClr>
            </a:solidFill>
            <a:prstDash val="solid"/>
          </a:ln>
        </p:spPr>
      </p:sp>
      <p:sp>
        <p:nvSpPr>
          <p:cNvPr id="493695112" name="Shape 7"/>
          <p:cNvSpPr/>
          <p:nvPr/>
        </p:nvSpPr>
        <p:spPr bwMode="auto">
          <a:xfrm>
            <a:off x="3566160" y="0"/>
            <a:ext cx="0" cy="6858000"/>
          </a:xfrm>
          <a:prstGeom prst="line">
            <a:avLst/>
          </a:prstGeom>
          <a:noFill/>
          <a:ln w="4445">
            <a:solidFill>
              <a:srgbClr val="132020">
                <a:alpha val="45000"/>
              </a:srgbClr>
            </a:solidFill>
            <a:prstDash val="solid"/>
          </a:ln>
        </p:spPr>
      </p:sp>
      <p:sp>
        <p:nvSpPr>
          <p:cNvPr id="227176986" name="Shape 8"/>
          <p:cNvSpPr/>
          <p:nvPr/>
        </p:nvSpPr>
        <p:spPr bwMode="auto">
          <a:xfrm>
            <a:off x="4279392" y="0"/>
            <a:ext cx="0" cy="6858000"/>
          </a:xfrm>
          <a:prstGeom prst="line">
            <a:avLst/>
          </a:prstGeom>
          <a:noFill/>
          <a:ln w="4445">
            <a:solidFill>
              <a:srgbClr val="132020">
                <a:alpha val="45000"/>
              </a:srgbClr>
            </a:solidFill>
            <a:prstDash val="solid"/>
          </a:ln>
        </p:spPr>
      </p:sp>
      <p:sp>
        <p:nvSpPr>
          <p:cNvPr id="1316853680" name="Shape 9"/>
          <p:cNvSpPr/>
          <p:nvPr/>
        </p:nvSpPr>
        <p:spPr bwMode="auto">
          <a:xfrm>
            <a:off x="4992624" y="0"/>
            <a:ext cx="0" cy="6858000"/>
          </a:xfrm>
          <a:prstGeom prst="line">
            <a:avLst/>
          </a:prstGeom>
          <a:noFill/>
          <a:ln w="4445">
            <a:solidFill>
              <a:srgbClr val="132020">
                <a:alpha val="45000"/>
              </a:srgbClr>
            </a:solidFill>
            <a:prstDash val="solid"/>
          </a:ln>
        </p:spPr>
      </p:sp>
      <p:sp>
        <p:nvSpPr>
          <p:cNvPr id="1600663554" name="Shape 10"/>
          <p:cNvSpPr/>
          <p:nvPr/>
        </p:nvSpPr>
        <p:spPr bwMode="auto">
          <a:xfrm>
            <a:off x="5705856" y="0"/>
            <a:ext cx="0" cy="6858000"/>
          </a:xfrm>
          <a:prstGeom prst="line">
            <a:avLst/>
          </a:prstGeom>
          <a:noFill/>
          <a:ln w="4445">
            <a:solidFill>
              <a:srgbClr val="132020">
                <a:alpha val="45000"/>
              </a:srgbClr>
            </a:solidFill>
            <a:prstDash val="solid"/>
          </a:ln>
        </p:spPr>
      </p:sp>
      <p:sp>
        <p:nvSpPr>
          <p:cNvPr id="852603825" name="Shape 11"/>
          <p:cNvSpPr/>
          <p:nvPr/>
        </p:nvSpPr>
        <p:spPr bwMode="auto">
          <a:xfrm>
            <a:off x="6419088" y="0"/>
            <a:ext cx="0" cy="6858000"/>
          </a:xfrm>
          <a:prstGeom prst="line">
            <a:avLst/>
          </a:prstGeom>
          <a:noFill/>
          <a:ln w="4445">
            <a:solidFill>
              <a:srgbClr val="132020">
                <a:alpha val="45000"/>
              </a:srgbClr>
            </a:solidFill>
            <a:prstDash val="solid"/>
          </a:ln>
        </p:spPr>
      </p:sp>
      <p:sp>
        <p:nvSpPr>
          <p:cNvPr id="836151481" name="Shape 12"/>
          <p:cNvSpPr/>
          <p:nvPr/>
        </p:nvSpPr>
        <p:spPr bwMode="auto">
          <a:xfrm>
            <a:off x="7132320" y="0"/>
            <a:ext cx="0" cy="6858000"/>
          </a:xfrm>
          <a:prstGeom prst="line">
            <a:avLst/>
          </a:prstGeom>
          <a:noFill/>
          <a:ln w="4445">
            <a:solidFill>
              <a:srgbClr val="132020">
                <a:alpha val="45000"/>
              </a:srgbClr>
            </a:solidFill>
            <a:prstDash val="solid"/>
          </a:ln>
        </p:spPr>
      </p:sp>
      <p:sp>
        <p:nvSpPr>
          <p:cNvPr id="541171189" name="Shape 13"/>
          <p:cNvSpPr/>
          <p:nvPr/>
        </p:nvSpPr>
        <p:spPr bwMode="auto">
          <a:xfrm>
            <a:off x="7845552" y="0"/>
            <a:ext cx="0" cy="6858000"/>
          </a:xfrm>
          <a:prstGeom prst="line">
            <a:avLst/>
          </a:prstGeom>
          <a:noFill/>
          <a:ln w="4445">
            <a:solidFill>
              <a:srgbClr val="132020">
                <a:alpha val="45000"/>
              </a:srgbClr>
            </a:solidFill>
            <a:prstDash val="solid"/>
          </a:ln>
        </p:spPr>
      </p:sp>
      <p:sp>
        <p:nvSpPr>
          <p:cNvPr id="1096910922" name="Shape 14"/>
          <p:cNvSpPr/>
          <p:nvPr/>
        </p:nvSpPr>
        <p:spPr bwMode="auto">
          <a:xfrm>
            <a:off x="8558784" y="0"/>
            <a:ext cx="0" cy="6858000"/>
          </a:xfrm>
          <a:prstGeom prst="line">
            <a:avLst/>
          </a:prstGeom>
          <a:noFill/>
          <a:ln w="4445">
            <a:solidFill>
              <a:srgbClr val="132020">
                <a:alpha val="45000"/>
              </a:srgbClr>
            </a:solidFill>
            <a:prstDash val="solid"/>
          </a:ln>
        </p:spPr>
      </p:sp>
      <p:sp>
        <p:nvSpPr>
          <p:cNvPr id="274217646" name="Shape 15"/>
          <p:cNvSpPr/>
          <p:nvPr/>
        </p:nvSpPr>
        <p:spPr bwMode="auto">
          <a:xfrm>
            <a:off x="9272016" y="0"/>
            <a:ext cx="0" cy="6858000"/>
          </a:xfrm>
          <a:prstGeom prst="line">
            <a:avLst/>
          </a:prstGeom>
          <a:noFill/>
          <a:ln w="4445">
            <a:solidFill>
              <a:srgbClr val="132020">
                <a:alpha val="45000"/>
              </a:srgbClr>
            </a:solidFill>
            <a:prstDash val="solid"/>
          </a:ln>
        </p:spPr>
      </p:sp>
      <p:sp>
        <p:nvSpPr>
          <p:cNvPr id="1344516606" name="Shape 16"/>
          <p:cNvSpPr/>
          <p:nvPr/>
        </p:nvSpPr>
        <p:spPr bwMode="auto">
          <a:xfrm>
            <a:off x="9985248" y="0"/>
            <a:ext cx="0" cy="6858000"/>
          </a:xfrm>
          <a:prstGeom prst="line">
            <a:avLst/>
          </a:prstGeom>
          <a:noFill/>
          <a:ln w="4445">
            <a:solidFill>
              <a:srgbClr val="132020">
                <a:alpha val="45000"/>
              </a:srgbClr>
            </a:solidFill>
            <a:prstDash val="solid"/>
          </a:ln>
        </p:spPr>
      </p:sp>
      <p:sp>
        <p:nvSpPr>
          <p:cNvPr id="883726621" name="Shape 17"/>
          <p:cNvSpPr/>
          <p:nvPr/>
        </p:nvSpPr>
        <p:spPr bwMode="auto">
          <a:xfrm>
            <a:off x="10698480" y="0"/>
            <a:ext cx="0" cy="6858000"/>
          </a:xfrm>
          <a:prstGeom prst="line">
            <a:avLst/>
          </a:prstGeom>
          <a:noFill/>
          <a:ln w="4445">
            <a:solidFill>
              <a:srgbClr val="132020">
                <a:alpha val="45000"/>
              </a:srgbClr>
            </a:solidFill>
            <a:prstDash val="solid"/>
          </a:ln>
        </p:spPr>
      </p:sp>
      <p:sp>
        <p:nvSpPr>
          <p:cNvPr id="1963816357" name="Shape 18"/>
          <p:cNvSpPr/>
          <p:nvPr/>
        </p:nvSpPr>
        <p:spPr bwMode="auto">
          <a:xfrm>
            <a:off x="11411712" y="0"/>
            <a:ext cx="0" cy="6858000"/>
          </a:xfrm>
          <a:prstGeom prst="line">
            <a:avLst/>
          </a:prstGeom>
          <a:noFill/>
          <a:ln w="4445">
            <a:solidFill>
              <a:srgbClr val="132020">
                <a:alpha val="45000"/>
              </a:srgbClr>
            </a:solidFill>
            <a:prstDash val="solid"/>
          </a:ln>
        </p:spPr>
      </p:sp>
      <p:sp>
        <p:nvSpPr>
          <p:cNvPr id="751986548" name="Shape 19"/>
          <p:cNvSpPr/>
          <p:nvPr/>
        </p:nvSpPr>
        <p:spPr bwMode="auto">
          <a:xfrm>
            <a:off x="12124943" y="0"/>
            <a:ext cx="0" cy="6858000"/>
          </a:xfrm>
          <a:prstGeom prst="line">
            <a:avLst/>
          </a:prstGeom>
          <a:noFill/>
          <a:ln w="4445">
            <a:solidFill>
              <a:srgbClr val="132020">
                <a:alpha val="45000"/>
              </a:srgbClr>
            </a:solidFill>
            <a:prstDash val="solid"/>
          </a:ln>
        </p:spPr>
      </p:sp>
      <p:sp>
        <p:nvSpPr>
          <p:cNvPr id="1976307560" name="Shape 20"/>
          <p:cNvSpPr/>
          <p:nvPr/>
        </p:nvSpPr>
        <p:spPr bwMode="auto">
          <a:xfrm>
            <a:off x="0" y="0"/>
            <a:ext cx="12191695" cy="0"/>
          </a:xfrm>
          <a:prstGeom prst="line">
            <a:avLst/>
          </a:prstGeom>
          <a:noFill/>
          <a:ln w="4445">
            <a:solidFill>
              <a:srgbClr val="132020">
                <a:alpha val="38000"/>
              </a:srgbClr>
            </a:solidFill>
            <a:prstDash val="solid"/>
          </a:ln>
        </p:spPr>
      </p:sp>
      <p:sp>
        <p:nvSpPr>
          <p:cNvPr id="1361946317" name="Shape 21"/>
          <p:cNvSpPr/>
          <p:nvPr/>
        </p:nvSpPr>
        <p:spPr bwMode="auto">
          <a:xfrm>
            <a:off x="0" y="713232"/>
            <a:ext cx="12191695" cy="0"/>
          </a:xfrm>
          <a:prstGeom prst="line">
            <a:avLst/>
          </a:prstGeom>
          <a:noFill/>
          <a:ln w="4445">
            <a:solidFill>
              <a:srgbClr val="132020">
                <a:alpha val="38000"/>
              </a:srgbClr>
            </a:solidFill>
            <a:prstDash val="solid"/>
          </a:ln>
        </p:spPr>
      </p:sp>
      <p:sp>
        <p:nvSpPr>
          <p:cNvPr id="179618427" name="Shape 22"/>
          <p:cNvSpPr/>
          <p:nvPr/>
        </p:nvSpPr>
        <p:spPr bwMode="auto">
          <a:xfrm>
            <a:off x="0" y="1426464"/>
            <a:ext cx="12191695" cy="0"/>
          </a:xfrm>
          <a:prstGeom prst="line">
            <a:avLst/>
          </a:prstGeom>
          <a:noFill/>
          <a:ln w="4445">
            <a:solidFill>
              <a:srgbClr val="132020">
                <a:alpha val="38000"/>
              </a:srgbClr>
            </a:solidFill>
            <a:prstDash val="solid"/>
          </a:ln>
        </p:spPr>
      </p:sp>
      <p:sp>
        <p:nvSpPr>
          <p:cNvPr id="1070202136" name="Shape 23"/>
          <p:cNvSpPr/>
          <p:nvPr/>
        </p:nvSpPr>
        <p:spPr bwMode="auto">
          <a:xfrm>
            <a:off x="0" y="2139696"/>
            <a:ext cx="12191695" cy="0"/>
          </a:xfrm>
          <a:prstGeom prst="line">
            <a:avLst/>
          </a:prstGeom>
          <a:noFill/>
          <a:ln w="4445">
            <a:solidFill>
              <a:srgbClr val="132020">
                <a:alpha val="38000"/>
              </a:srgbClr>
            </a:solidFill>
            <a:prstDash val="solid"/>
          </a:ln>
        </p:spPr>
      </p:sp>
      <p:sp>
        <p:nvSpPr>
          <p:cNvPr id="1405817914" name="Shape 24"/>
          <p:cNvSpPr/>
          <p:nvPr/>
        </p:nvSpPr>
        <p:spPr bwMode="auto">
          <a:xfrm>
            <a:off x="0" y="2852928"/>
            <a:ext cx="12191695" cy="0"/>
          </a:xfrm>
          <a:prstGeom prst="line">
            <a:avLst/>
          </a:prstGeom>
          <a:noFill/>
          <a:ln w="4445">
            <a:solidFill>
              <a:srgbClr val="132020">
                <a:alpha val="38000"/>
              </a:srgbClr>
            </a:solidFill>
            <a:prstDash val="solid"/>
          </a:ln>
        </p:spPr>
      </p:sp>
      <p:sp>
        <p:nvSpPr>
          <p:cNvPr id="1235597017" name="Shape 25"/>
          <p:cNvSpPr/>
          <p:nvPr/>
        </p:nvSpPr>
        <p:spPr bwMode="auto">
          <a:xfrm>
            <a:off x="0" y="3566160"/>
            <a:ext cx="12191695" cy="0"/>
          </a:xfrm>
          <a:prstGeom prst="line">
            <a:avLst/>
          </a:prstGeom>
          <a:noFill/>
          <a:ln w="4445">
            <a:solidFill>
              <a:srgbClr val="132020">
                <a:alpha val="38000"/>
              </a:srgbClr>
            </a:solidFill>
            <a:prstDash val="solid"/>
          </a:ln>
        </p:spPr>
      </p:sp>
      <p:sp>
        <p:nvSpPr>
          <p:cNvPr id="1533124937" name="Shape 26"/>
          <p:cNvSpPr/>
          <p:nvPr/>
        </p:nvSpPr>
        <p:spPr bwMode="auto">
          <a:xfrm>
            <a:off x="0" y="4279392"/>
            <a:ext cx="12191695" cy="0"/>
          </a:xfrm>
          <a:prstGeom prst="line">
            <a:avLst/>
          </a:prstGeom>
          <a:noFill/>
          <a:ln w="4445">
            <a:solidFill>
              <a:srgbClr val="132020">
                <a:alpha val="38000"/>
              </a:srgbClr>
            </a:solidFill>
            <a:prstDash val="solid"/>
          </a:ln>
        </p:spPr>
      </p:sp>
      <p:sp>
        <p:nvSpPr>
          <p:cNvPr id="970600656" name="Shape 27"/>
          <p:cNvSpPr/>
          <p:nvPr/>
        </p:nvSpPr>
        <p:spPr bwMode="auto">
          <a:xfrm>
            <a:off x="0" y="4992624"/>
            <a:ext cx="12191695" cy="0"/>
          </a:xfrm>
          <a:prstGeom prst="line">
            <a:avLst/>
          </a:prstGeom>
          <a:noFill/>
          <a:ln w="4445">
            <a:solidFill>
              <a:srgbClr val="132020">
                <a:alpha val="38000"/>
              </a:srgbClr>
            </a:solidFill>
            <a:prstDash val="solid"/>
          </a:ln>
        </p:spPr>
      </p:sp>
      <p:sp>
        <p:nvSpPr>
          <p:cNvPr id="347683625" name="Shape 28"/>
          <p:cNvSpPr/>
          <p:nvPr/>
        </p:nvSpPr>
        <p:spPr bwMode="auto">
          <a:xfrm>
            <a:off x="0" y="5705856"/>
            <a:ext cx="12191695" cy="0"/>
          </a:xfrm>
          <a:prstGeom prst="line">
            <a:avLst/>
          </a:prstGeom>
          <a:noFill/>
          <a:ln w="4445">
            <a:solidFill>
              <a:srgbClr val="132020">
                <a:alpha val="38000"/>
              </a:srgbClr>
            </a:solidFill>
            <a:prstDash val="solid"/>
          </a:ln>
        </p:spPr>
      </p:sp>
      <p:sp>
        <p:nvSpPr>
          <p:cNvPr id="446001687" name="Shape 29"/>
          <p:cNvSpPr/>
          <p:nvPr/>
        </p:nvSpPr>
        <p:spPr bwMode="auto">
          <a:xfrm>
            <a:off x="0" y="6419088"/>
            <a:ext cx="12191695" cy="0"/>
          </a:xfrm>
          <a:prstGeom prst="line">
            <a:avLst/>
          </a:prstGeom>
          <a:noFill/>
          <a:ln w="4445">
            <a:solidFill>
              <a:srgbClr val="132020">
                <a:alpha val="38000"/>
              </a:srgbClr>
            </a:solidFill>
            <a:prstDash val="solid"/>
          </a:ln>
        </p:spPr>
      </p:sp>
      <p:sp>
        <p:nvSpPr>
          <p:cNvPr id="679580677" name="Shape 30"/>
          <p:cNvSpPr/>
          <p:nvPr/>
        </p:nvSpPr>
        <p:spPr bwMode="auto">
          <a:xfrm>
            <a:off x="0" y="0"/>
            <a:ext cx="82296" cy="6858000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pic>
        <p:nvPicPr>
          <p:cNvPr id="625848830" name="Image 0" descr="/home/fanff/fanfan/ML/NLP_coolyeah/TA/ppt_nuxt_movies/assets/generated/nuxt-movies-logo.png"/>
          <p:cNvPicPr>
            <a:picLocks noChangeAspect="1"/>
          </p:cNvPicPr>
          <p:nvPr/>
        </p:nvPicPr>
        <p:blipFill rotWithShape="1">
          <a:blip r:embed="rId3">
            <a:alphaModFix amt="94000"/>
          </a:blip>
          <a:stretch/>
        </p:blipFill>
        <p:spPr bwMode="auto">
          <a:xfrm>
            <a:off x="11356848" y="237744"/>
            <a:ext cx="411480" cy="411480"/>
          </a:xfrm>
          <a:prstGeom prst="rect">
            <a:avLst/>
          </a:prstGeom>
        </p:spPr>
      </p:pic>
      <p:sp>
        <p:nvSpPr>
          <p:cNvPr id="804390335" name="Text 31"/>
          <p:cNvSpPr/>
          <p:nvPr/>
        </p:nvSpPr>
        <p:spPr bwMode="auto">
          <a:xfrm>
            <a:off x="548640" y="329184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000" b="1">
                <a:solidFill>
                  <a:srgbClr val="F4F7F6"/>
                </a:solidFill>
                <a:latin typeface="Georgia"/>
                <a:ea typeface="Georgia"/>
                <a:cs typeface="Georgia"/>
              </a:rPr>
              <a:t>Struktur Project</a:t>
            </a:r>
            <a:endParaRPr lang="en-US" sz="2000"/>
          </a:p>
        </p:txBody>
      </p:sp>
      <p:sp>
        <p:nvSpPr>
          <p:cNvPr id="1430275256" name="Shape 32"/>
          <p:cNvSpPr/>
          <p:nvPr/>
        </p:nvSpPr>
        <p:spPr bwMode="auto">
          <a:xfrm>
            <a:off x="548640" y="804672"/>
            <a:ext cx="1828800" cy="0"/>
          </a:xfrm>
          <a:prstGeom prst="line">
            <a:avLst/>
          </a:prstGeom>
          <a:noFill/>
          <a:ln w="25400">
            <a:solidFill>
              <a:srgbClr val="24D6C3"/>
            </a:solidFill>
            <a:prstDash val="solid"/>
          </a:ln>
        </p:spPr>
      </p:sp>
      <p:sp>
        <p:nvSpPr>
          <p:cNvPr id="1807841604" name="Shape 33"/>
          <p:cNvSpPr/>
          <p:nvPr/>
        </p:nvSpPr>
        <p:spPr bwMode="auto">
          <a:xfrm>
            <a:off x="777240" y="1097280"/>
            <a:ext cx="4892039" cy="4389120"/>
          </a:xfrm>
          <a:prstGeom prst="roundRect">
            <a:avLst>
              <a:gd name="adj" fmla="val 1458"/>
            </a:avLst>
          </a:prstGeom>
          <a:solidFill>
            <a:srgbClr val="030606"/>
          </a:solidFill>
          <a:ln w="12700">
            <a:solidFill>
              <a:srgbClr val="263636"/>
            </a:solidFill>
            <a:prstDash val="solid"/>
          </a:ln>
        </p:spPr>
      </p:sp>
      <p:sp>
        <p:nvSpPr>
          <p:cNvPr id="252172319" name="Text 34"/>
          <p:cNvSpPr/>
          <p:nvPr/>
        </p:nvSpPr>
        <p:spPr bwMode="auto">
          <a:xfrm>
            <a:off x="914400" y="1234440"/>
            <a:ext cx="461772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D6ECE9"/>
                </a:solidFill>
                <a:latin typeface="Courier New"/>
                <a:ea typeface="Courier New"/>
                <a:cs typeface="Courier New"/>
              </a:rPr>
              <a:t>TA/</a:t>
            </a:r>
            <a:endParaRPr lang="en-US" sz="950"/>
          </a:p>
          <a:p>
            <a:pPr marL="0" indent="0">
              <a:buNone/>
              <a:defRPr/>
            </a:pPr>
            <a:r>
              <a:rPr lang="en-US" sz="950">
                <a:solidFill>
                  <a:srgbClr val="D6ECE9"/>
                </a:solidFill>
                <a:latin typeface="Courier New"/>
                <a:ea typeface="Courier New"/>
                <a:cs typeface="Courier New"/>
              </a:rPr>
              <a:t>├── imdb_sentiment_api_ready.ipynb</a:t>
            </a:r>
            <a:endParaRPr lang="en-US" sz="950"/>
          </a:p>
          <a:p>
            <a:pPr marL="0" indent="0">
              <a:buNone/>
              <a:defRPr/>
            </a:pPr>
            <a:r>
              <a:rPr lang="en-US" sz="950">
                <a:solidFill>
                  <a:srgbClr val="D6ECE9"/>
                </a:solidFill>
                <a:latin typeface="Courier New"/>
                <a:ea typeface="Courier New"/>
                <a:cs typeface="Courier New"/>
              </a:rPr>
              <a:t>├── IMDB Dataset.csv</a:t>
            </a:r>
            <a:endParaRPr lang="en-US" sz="950"/>
          </a:p>
          <a:p>
            <a:pPr marL="0" indent="0">
              <a:buNone/>
              <a:defRPr/>
            </a:pPr>
            <a:r>
              <a:rPr lang="en-US" sz="950">
                <a:solidFill>
                  <a:srgbClr val="D6ECE9"/>
                </a:solidFill>
                <a:latin typeface="Courier New"/>
                <a:ea typeface="Courier New"/>
                <a:cs typeface="Courier New"/>
              </a:rPr>
              <a:t>├── artifacts/</a:t>
            </a:r>
            <a:endParaRPr lang="en-US" sz="950"/>
          </a:p>
          <a:p>
            <a:pPr marL="0" indent="0">
              <a:buNone/>
              <a:defRPr/>
            </a:pPr>
            <a:r>
              <a:rPr lang="en-US" sz="950">
                <a:solidFill>
                  <a:srgbClr val="D6ECE9"/>
                </a:solidFill>
                <a:latin typeface="Courier New"/>
                <a:ea typeface="Courier New"/>
                <a:cs typeface="Courier New"/>
              </a:rPr>
              <a:t>│   ├── imdb_sentiment_metrics.json</a:t>
            </a:r>
            <a:endParaRPr lang="en-US" sz="950"/>
          </a:p>
          <a:p>
            <a:pPr marL="0" indent="0">
              <a:buNone/>
              <a:defRPr/>
            </a:pPr>
            <a:r>
              <a:rPr lang="en-US" sz="950">
                <a:solidFill>
                  <a:srgbClr val="D6ECE9"/>
                </a:solidFill>
                <a:latin typeface="Courier New"/>
                <a:ea typeface="Courier New"/>
                <a:cs typeface="Courier New"/>
              </a:rPr>
              <a:t>│   └── imdb_sentiment_pipeline.joblib</a:t>
            </a:r>
            <a:endParaRPr lang="en-US" sz="950"/>
          </a:p>
          <a:p>
            <a:pPr marL="0" indent="0">
              <a:buNone/>
              <a:defRPr/>
            </a:pPr>
            <a:r>
              <a:rPr lang="en-US" sz="950">
                <a:solidFill>
                  <a:srgbClr val="D6ECE9"/>
                </a:solidFill>
                <a:latin typeface="Courier New"/>
                <a:ea typeface="Courier New"/>
                <a:cs typeface="Courier New"/>
              </a:rPr>
              <a:t>├── model_api/</a:t>
            </a:r>
            <a:endParaRPr lang="en-US" sz="950"/>
          </a:p>
          <a:p>
            <a:pPr marL="0" indent="0">
              <a:buNone/>
              <a:defRPr/>
            </a:pPr>
            <a:r>
              <a:rPr lang="en-US" sz="950">
                <a:solidFill>
                  <a:srgbClr val="D6ECE9"/>
                </a:solidFill>
                <a:latin typeface="Courier New"/>
                <a:ea typeface="Courier New"/>
                <a:cs typeface="Courier New"/>
              </a:rPr>
              <a:t>│   └── FastAPI sentiment service</a:t>
            </a:r>
            <a:endParaRPr lang="en-US" sz="950"/>
          </a:p>
          <a:p>
            <a:pPr marL="0" indent="0">
              <a:buNone/>
              <a:defRPr/>
            </a:pPr>
            <a:r>
              <a:rPr lang="en-US" sz="950">
                <a:solidFill>
                  <a:srgbClr val="D6ECE9"/>
                </a:solidFill>
                <a:latin typeface="Courier New"/>
                <a:ea typeface="Courier New"/>
                <a:cs typeface="Courier New"/>
              </a:rPr>
              <a:t>└── movies-vue/</a:t>
            </a:r>
            <a:endParaRPr lang="en-US" sz="950"/>
          </a:p>
          <a:p>
            <a:pPr marL="0" indent="0">
              <a:buNone/>
              <a:defRPr/>
            </a:pPr>
            <a:r>
              <a:rPr lang="en-US" sz="950">
                <a:solidFill>
                  <a:srgbClr val="D6ECE9"/>
                </a:solidFill>
                <a:latin typeface="Courier New"/>
                <a:ea typeface="Courier New"/>
                <a:cs typeface="Courier New"/>
              </a:rPr>
              <a:t>    └── Nuxt movie review website</a:t>
            </a:r>
            <a:endParaRPr lang="en-US" sz="950"/>
          </a:p>
        </p:txBody>
      </p:sp>
      <p:sp>
        <p:nvSpPr>
          <p:cNvPr id="1407513572" name="Shape 35"/>
          <p:cNvSpPr/>
          <p:nvPr/>
        </p:nvSpPr>
        <p:spPr bwMode="auto">
          <a:xfrm>
            <a:off x="6126480" y="1325880"/>
            <a:ext cx="2057400" cy="1143000"/>
          </a:xfrm>
          <a:prstGeom prst="roundRect">
            <a:avLst>
              <a:gd name="adj" fmla="val 5600"/>
            </a:avLst>
          </a:prstGeom>
          <a:solidFill>
            <a:srgbClr val="101818"/>
          </a:solidFill>
          <a:ln w="12700">
            <a:solidFill>
              <a:srgbClr val="253232"/>
            </a:solidFill>
            <a:prstDash val="solid"/>
          </a:ln>
        </p:spPr>
      </p:sp>
      <p:sp>
        <p:nvSpPr>
          <p:cNvPr id="2068683714" name="Text 36"/>
          <p:cNvSpPr/>
          <p:nvPr/>
        </p:nvSpPr>
        <p:spPr bwMode="auto">
          <a:xfrm>
            <a:off x="6327648" y="1527048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500" b="1">
                <a:solidFill>
                  <a:srgbClr val="24D6C3"/>
                </a:solidFill>
              </a:rPr>
              <a:t>Notebook</a:t>
            </a:r>
            <a:endParaRPr lang="en-US" sz="1500"/>
          </a:p>
        </p:txBody>
      </p:sp>
      <p:sp>
        <p:nvSpPr>
          <p:cNvPr id="1511170980" name="Text 37"/>
          <p:cNvSpPr/>
          <p:nvPr/>
        </p:nvSpPr>
        <p:spPr bwMode="auto">
          <a:xfrm>
            <a:off x="6327648" y="1892808"/>
            <a:ext cx="157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9EA8A6"/>
                </a:solidFill>
              </a:rPr>
              <a:t>training + evaluasi</a:t>
            </a:r>
            <a:endParaRPr lang="en-US" sz="1000"/>
          </a:p>
        </p:txBody>
      </p:sp>
      <p:sp>
        <p:nvSpPr>
          <p:cNvPr id="1482767430" name="Shape 38"/>
          <p:cNvSpPr/>
          <p:nvPr/>
        </p:nvSpPr>
        <p:spPr bwMode="auto">
          <a:xfrm>
            <a:off x="8549640" y="1325880"/>
            <a:ext cx="2057400" cy="1143000"/>
          </a:xfrm>
          <a:prstGeom prst="roundRect">
            <a:avLst>
              <a:gd name="adj" fmla="val 5600"/>
            </a:avLst>
          </a:prstGeom>
          <a:solidFill>
            <a:srgbClr val="101818"/>
          </a:solidFill>
          <a:ln w="12700">
            <a:solidFill>
              <a:srgbClr val="253232"/>
            </a:solidFill>
            <a:prstDash val="solid"/>
          </a:ln>
        </p:spPr>
      </p:sp>
      <p:sp>
        <p:nvSpPr>
          <p:cNvPr id="1176129810" name="Text 39"/>
          <p:cNvSpPr/>
          <p:nvPr/>
        </p:nvSpPr>
        <p:spPr bwMode="auto">
          <a:xfrm>
            <a:off x="8750808" y="1527048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500" b="1">
                <a:solidFill>
                  <a:srgbClr val="24D6C3"/>
                </a:solidFill>
              </a:rPr>
              <a:t>artifacts</a:t>
            </a:r>
            <a:endParaRPr lang="en-US" sz="1500"/>
          </a:p>
        </p:txBody>
      </p:sp>
      <p:sp>
        <p:nvSpPr>
          <p:cNvPr id="1966904458" name="Text 40"/>
          <p:cNvSpPr/>
          <p:nvPr/>
        </p:nvSpPr>
        <p:spPr bwMode="auto">
          <a:xfrm>
            <a:off x="8750808" y="1892808"/>
            <a:ext cx="157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9EA8A6"/>
                </a:solidFill>
              </a:rPr>
              <a:t>metrics + pipeline .joblib</a:t>
            </a:r>
            <a:endParaRPr lang="en-US" sz="1000"/>
          </a:p>
        </p:txBody>
      </p:sp>
      <p:sp>
        <p:nvSpPr>
          <p:cNvPr id="1727153995" name="Shape 41"/>
          <p:cNvSpPr/>
          <p:nvPr/>
        </p:nvSpPr>
        <p:spPr bwMode="auto">
          <a:xfrm>
            <a:off x="6126480" y="2926080"/>
            <a:ext cx="2057400" cy="1143000"/>
          </a:xfrm>
          <a:prstGeom prst="roundRect">
            <a:avLst>
              <a:gd name="adj" fmla="val 5600"/>
            </a:avLst>
          </a:prstGeom>
          <a:solidFill>
            <a:srgbClr val="101818"/>
          </a:solidFill>
          <a:ln w="12700">
            <a:solidFill>
              <a:srgbClr val="253232"/>
            </a:solidFill>
            <a:prstDash val="solid"/>
          </a:ln>
        </p:spPr>
      </p:sp>
      <p:sp>
        <p:nvSpPr>
          <p:cNvPr id="952406392" name="Text 42"/>
          <p:cNvSpPr/>
          <p:nvPr/>
        </p:nvSpPr>
        <p:spPr bwMode="auto">
          <a:xfrm>
            <a:off x="6327648" y="3127248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500" b="1">
                <a:solidFill>
                  <a:srgbClr val="24D6C3"/>
                </a:solidFill>
              </a:rPr>
              <a:t>model_api</a:t>
            </a:r>
            <a:endParaRPr lang="en-US" sz="1500"/>
          </a:p>
        </p:txBody>
      </p:sp>
      <p:sp>
        <p:nvSpPr>
          <p:cNvPr id="697575955" name="Text 43"/>
          <p:cNvSpPr/>
          <p:nvPr/>
        </p:nvSpPr>
        <p:spPr bwMode="auto">
          <a:xfrm>
            <a:off x="6327648" y="3493008"/>
            <a:ext cx="157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9EA8A6"/>
                </a:solidFill>
              </a:rPr>
              <a:t>FastAPI /predict</a:t>
            </a:r>
            <a:endParaRPr lang="en-US" sz="1000"/>
          </a:p>
        </p:txBody>
      </p:sp>
      <p:sp>
        <p:nvSpPr>
          <p:cNvPr id="370736144" name="Shape 44"/>
          <p:cNvSpPr/>
          <p:nvPr/>
        </p:nvSpPr>
        <p:spPr bwMode="auto">
          <a:xfrm>
            <a:off x="8549640" y="2926080"/>
            <a:ext cx="2057400" cy="1143000"/>
          </a:xfrm>
          <a:prstGeom prst="roundRect">
            <a:avLst>
              <a:gd name="adj" fmla="val 5600"/>
            </a:avLst>
          </a:prstGeom>
          <a:solidFill>
            <a:srgbClr val="101818"/>
          </a:solidFill>
          <a:ln w="12700">
            <a:solidFill>
              <a:srgbClr val="253232"/>
            </a:solidFill>
            <a:prstDash val="solid"/>
          </a:ln>
        </p:spPr>
      </p:sp>
      <p:sp>
        <p:nvSpPr>
          <p:cNvPr id="538578269" name="Text 45"/>
          <p:cNvSpPr/>
          <p:nvPr/>
        </p:nvSpPr>
        <p:spPr bwMode="auto">
          <a:xfrm>
            <a:off x="8750808" y="3127248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500" b="1">
                <a:solidFill>
                  <a:srgbClr val="24D6C3"/>
                </a:solidFill>
              </a:rPr>
              <a:t>movies-vue</a:t>
            </a:r>
            <a:endParaRPr lang="en-US" sz="1500"/>
          </a:p>
        </p:txBody>
      </p:sp>
      <p:sp>
        <p:nvSpPr>
          <p:cNvPr id="1481583996" name="Text 46"/>
          <p:cNvSpPr/>
          <p:nvPr/>
        </p:nvSpPr>
        <p:spPr bwMode="auto">
          <a:xfrm>
            <a:off x="8750808" y="3493008"/>
            <a:ext cx="157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9EA8A6"/>
                </a:solidFill>
              </a:rPr>
              <a:t>Nuxt app + Prisma</a:t>
            </a:r>
            <a:endParaRPr lang="en-US" sz="1000"/>
          </a:p>
        </p:txBody>
      </p:sp>
      <p:sp>
        <p:nvSpPr>
          <p:cNvPr id="1577466434" name="Text 47"/>
          <p:cNvSpPr/>
          <p:nvPr/>
        </p:nvSpPr>
        <p:spPr bwMode="auto">
          <a:xfrm>
            <a:off x="566928" y="6446520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700">
                <a:solidFill>
                  <a:srgbClr val="9EA8A6"/>
                </a:solidFill>
              </a:rPr>
              <a:t>Nuxt Movies · NLP Sentiment Classification · 04</a:t>
            </a:r>
            <a:endParaRPr lang="en-US" sz="7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5">
    <p:bg>
      <p:bgPr shadeToTitle="0">
        <a:solidFill>
          <a:srgbClr val="050808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2303651" name="Shape 0"/>
          <p:cNvSpPr/>
          <p:nvPr/>
        </p:nvSpPr>
        <p:spPr bwMode="auto">
          <a:xfrm>
            <a:off x="0" y="0"/>
            <a:ext cx="12191695" cy="6858000"/>
          </a:xfrm>
          <a:prstGeom prst="rect">
            <a:avLst/>
          </a:prstGeom>
          <a:solidFill>
            <a:srgbClr val="050808"/>
          </a:solidFill>
          <a:ln w="12700">
            <a:solidFill>
              <a:srgbClr val="050808"/>
            </a:solidFill>
            <a:prstDash val="solid"/>
          </a:ln>
        </p:spPr>
      </p:sp>
      <p:sp>
        <p:nvSpPr>
          <p:cNvPr id="617805740" name="Shape 1"/>
          <p:cNvSpPr/>
          <p:nvPr/>
        </p:nvSpPr>
        <p:spPr bwMode="auto">
          <a:xfrm>
            <a:off x="0" y="0"/>
            <a:ext cx="12191695" cy="6858000"/>
          </a:xfrm>
          <a:prstGeom prst="rect">
            <a:avLst/>
          </a:prstGeom>
          <a:solidFill>
            <a:srgbClr val="071111">
              <a:alpha val="80000"/>
            </a:srgbClr>
          </a:solidFill>
          <a:ln w="12700">
            <a:solidFill>
              <a:srgbClr val="071111">
                <a:alpha val="0"/>
              </a:srgbClr>
            </a:solidFill>
            <a:prstDash val="solid"/>
          </a:ln>
        </p:spPr>
      </p:sp>
      <p:sp>
        <p:nvSpPr>
          <p:cNvPr id="1649303652" name="Shape 2"/>
          <p:cNvSpPr/>
          <p:nvPr/>
        </p:nvSpPr>
        <p:spPr bwMode="auto">
          <a:xfrm>
            <a:off x="0" y="0"/>
            <a:ext cx="0" cy="6858000"/>
          </a:xfrm>
          <a:prstGeom prst="line">
            <a:avLst/>
          </a:prstGeom>
          <a:noFill/>
          <a:ln w="4445">
            <a:solidFill>
              <a:srgbClr val="132020">
                <a:alpha val="45000"/>
              </a:srgbClr>
            </a:solidFill>
            <a:prstDash val="solid"/>
          </a:ln>
        </p:spPr>
      </p:sp>
      <p:sp>
        <p:nvSpPr>
          <p:cNvPr id="491758646" name="Shape 3"/>
          <p:cNvSpPr/>
          <p:nvPr/>
        </p:nvSpPr>
        <p:spPr bwMode="auto">
          <a:xfrm>
            <a:off x="713232" y="0"/>
            <a:ext cx="0" cy="6858000"/>
          </a:xfrm>
          <a:prstGeom prst="line">
            <a:avLst/>
          </a:prstGeom>
          <a:noFill/>
          <a:ln w="4445">
            <a:solidFill>
              <a:srgbClr val="132020">
                <a:alpha val="45000"/>
              </a:srgbClr>
            </a:solidFill>
            <a:prstDash val="solid"/>
          </a:ln>
        </p:spPr>
      </p:sp>
      <p:sp>
        <p:nvSpPr>
          <p:cNvPr id="1115887622" name="Shape 4"/>
          <p:cNvSpPr/>
          <p:nvPr/>
        </p:nvSpPr>
        <p:spPr bwMode="auto">
          <a:xfrm>
            <a:off x="1426464" y="0"/>
            <a:ext cx="0" cy="6858000"/>
          </a:xfrm>
          <a:prstGeom prst="line">
            <a:avLst/>
          </a:prstGeom>
          <a:noFill/>
          <a:ln w="4445">
            <a:solidFill>
              <a:srgbClr val="132020">
                <a:alpha val="45000"/>
              </a:srgbClr>
            </a:solidFill>
            <a:prstDash val="solid"/>
          </a:ln>
        </p:spPr>
      </p:sp>
      <p:sp>
        <p:nvSpPr>
          <p:cNvPr id="211508267" name="Shape 5"/>
          <p:cNvSpPr/>
          <p:nvPr/>
        </p:nvSpPr>
        <p:spPr bwMode="auto">
          <a:xfrm>
            <a:off x="2139696" y="0"/>
            <a:ext cx="0" cy="6858000"/>
          </a:xfrm>
          <a:prstGeom prst="line">
            <a:avLst/>
          </a:prstGeom>
          <a:noFill/>
          <a:ln w="4445">
            <a:solidFill>
              <a:srgbClr val="132020">
                <a:alpha val="45000"/>
              </a:srgbClr>
            </a:solidFill>
            <a:prstDash val="solid"/>
          </a:ln>
        </p:spPr>
      </p:sp>
      <p:sp>
        <p:nvSpPr>
          <p:cNvPr id="927401715" name="Shape 6"/>
          <p:cNvSpPr/>
          <p:nvPr/>
        </p:nvSpPr>
        <p:spPr bwMode="auto">
          <a:xfrm>
            <a:off x="2852928" y="0"/>
            <a:ext cx="0" cy="6858000"/>
          </a:xfrm>
          <a:prstGeom prst="line">
            <a:avLst/>
          </a:prstGeom>
          <a:noFill/>
          <a:ln w="4445">
            <a:solidFill>
              <a:srgbClr val="132020">
                <a:alpha val="45000"/>
              </a:srgbClr>
            </a:solidFill>
            <a:prstDash val="solid"/>
          </a:ln>
        </p:spPr>
      </p:sp>
      <p:sp>
        <p:nvSpPr>
          <p:cNvPr id="1121491817" name="Shape 7"/>
          <p:cNvSpPr/>
          <p:nvPr/>
        </p:nvSpPr>
        <p:spPr bwMode="auto">
          <a:xfrm>
            <a:off x="3566160" y="0"/>
            <a:ext cx="0" cy="6858000"/>
          </a:xfrm>
          <a:prstGeom prst="line">
            <a:avLst/>
          </a:prstGeom>
          <a:noFill/>
          <a:ln w="4445">
            <a:solidFill>
              <a:srgbClr val="132020">
                <a:alpha val="45000"/>
              </a:srgbClr>
            </a:solidFill>
            <a:prstDash val="solid"/>
          </a:ln>
        </p:spPr>
      </p:sp>
      <p:sp>
        <p:nvSpPr>
          <p:cNvPr id="449340484" name="Shape 8"/>
          <p:cNvSpPr/>
          <p:nvPr/>
        </p:nvSpPr>
        <p:spPr bwMode="auto">
          <a:xfrm>
            <a:off x="4279392" y="0"/>
            <a:ext cx="0" cy="6858000"/>
          </a:xfrm>
          <a:prstGeom prst="line">
            <a:avLst/>
          </a:prstGeom>
          <a:noFill/>
          <a:ln w="4445">
            <a:solidFill>
              <a:srgbClr val="132020">
                <a:alpha val="45000"/>
              </a:srgbClr>
            </a:solidFill>
            <a:prstDash val="solid"/>
          </a:ln>
        </p:spPr>
      </p:sp>
      <p:sp>
        <p:nvSpPr>
          <p:cNvPr id="898539786" name="Shape 9"/>
          <p:cNvSpPr/>
          <p:nvPr/>
        </p:nvSpPr>
        <p:spPr bwMode="auto">
          <a:xfrm>
            <a:off x="4992624" y="0"/>
            <a:ext cx="0" cy="6858000"/>
          </a:xfrm>
          <a:prstGeom prst="line">
            <a:avLst/>
          </a:prstGeom>
          <a:noFill/>
          <a:ln w="4445">
            <a:solidFill>
              <a:srgbClr val="132020">
                <a:alpha val="45000"/>
              </a:srgbClr>
            </a:solidFill>
            <a:prstDash val="solid"/>
          </a:ln>
        </p:spPr>
      </p:sp>
      <p:sp>
        <p:nvSpPr>
          <p:cNvPr id="1747404323" name="Shape 10"/>
          <p:cNvSpPr/>
          <p:nvPr/>
        </p:nvSpPr>
        <p:spPr bwMode="auto">
          <a:xfrm>
            <a:off x="5705856" y="0"/>
            <a:ext cx="0" cy="6858000"/>
          </a:xfrm>
          <a:prstGeom prst="line">
            <a:avLst/>
          </a:prstGeom>
          <a:noFill/>
          <a:ln w="4445">
            <a:solidFill>
              <a:srgbClr val="132020">
                <a:alpha val="45000"/>
              </a:srgbClr>
            </a:solidFill>
            <a:prstDash val="solid"/>
          </a:ln>
        </p:spPr>
      </p:sp>
      <p:sp>
        <p:nvSpPr>
          <p:cNvPr id="57229109" name="Shape 11"/>
          <p:cNvSpPr/>
          <p:nvPr/>
        </p:nvSpPr>
        <p:spPr bwMode="auto">
          <a:xfrm>
            <a:off x="6419088" y="0"/>
            <a:ext cx="0" cy="6858000"/>
          </a:xfrm>
          <a:prstGeom prst="line">
            <a:avLst/>
          </a:prstGeom>
          <a:noFill/>
          <a:ln w="4445">
            <a:solidFill>
              <a:srgbClr val="132020">
                <a:alpha val="45000"/>
              </a:srgbClr>
            </a:solidFill>
            <a:prstDash val="solid"/>
          </a:ln>
        </p:spPr>
      </p:sp>
      <p:sp>
        <p:nvSpPr>
          <p:cNvPr id="968507818" name="Shape 12"/>
          <p:cNvSpPr/>
          <p:nvPr/>
        </p:nvSpPr>
        <p:spPr bwMode="auto">
          <a:xfrm>
            <a:off x="7132320" y="0"/>
            <a:ext cx="0" cy="6858000"/>
          </a:xfrm>
          <a:prstGeom prst="line">
            <a:avLst/>
          </a:prstGeom>
          <a:noFill/>
          <a:ln w="4445">
            <a:solidFill>
              <a:srgbClr val="132020">
                <a:alpha val="45000"/>
              </a:srgbClr>
            </a:solidFill>
            <a:prstDash val="solid"/>
          </a:ln>
        </p:spPr>
      </p:sp>
      <p:sp>
        <p:nvSpPr>
          <p:cNvPr id="1732067953" name="Shape 13"/>
          <p:cNvSpPr/>
          <p:nvPr/>
        </p:nvSpPr>
        <p:spPr bwMode="auto">
          <a:xfrm>
            <a:off x="7845552" y="0"/>
            <a:ext cx="0" cy="6858000"/>
          </a:xfrm>
          <a:prstGeom prst="line">
            <a:avLst/>
          </a:prstGeom>
          <a:noFill/>
          <a:ln w="4445">
            <a:solidFill>
              <a:srgbClr val="132020">
                <a:alpha val="45000"/>
              </a:srgbClr>
            </a:solidFill>
            <a:prstDash val="solid"/>
          </a:ln>
        </p:spPr>
      </p:sp>
      <p:sp>
        <p:nvSpPr>
          <p:cNvPr id="1404673458" name="Shape 14"/>
          <p:cNvSpPr/>
          <p:nvPr/>
        </p:nvSpPr>
        <p:spPr bwMode="auto">
          <a:xfrm>
            <a:off x="8558784" y="0"/>
            <a:ext cx="0" cy="6858000"/>
          </a:xfrm>
          <a:prstGeom prst="line">
            <a:avLst/>
          </a:prstGeom>
          <a:noFill/>
          <a:ln w="4445">
            <a:solidFill>
              <a:srgbClr val="132020">
                <a:alpha val="45000"/>
              </a:srgbClr>
            </a:solidFill>
            <a:prstDash val="solid"/>
          </a:ln>
        </p:spPr>
      </p:sp>
      <p:sp>
        <p:nvSpPr>
          <p:cNvPr id="413934038" name="Shape 15"/>
          <p:cNvSpPr/>
          <p:nvPr/>
        </p:nvSpPr>
        <p:spPr bwMode="auto">
          <a:xfrm>
            <a:off x="9272016" y="0"/>
            <a:ext cx="0" cy="6858000"/>
          </a:xfrm>
          <a:prstGeom prst="line">
            <a:avLst/>
          </a:prstGeom>
          <a:noFill/>
          <a:ln w="4445">
            <a:solidFill>
              <a:srgbClr val="132020">
                <a:alpha val="45000"/>
              </a:srgbClr>
            </a:solidFill>
            <a:prstDash val="solid"/>
          </a:ln>
        </p:spPr>
      </p:sp>
      <p:sp>
        <p:nvSpPr>
          <p:cNvPr id="623917126" name="Shape 16"/>
          <p:cNvSpPr/>
          <p:nvPr/>
        </p:nvSpPr>
        <p:spPr bwMode="auto">
          <a:xfrm>
            <a:off x="9985248" y="0"/>
            <a:ext cx="0" cy="6858000"/>
          </a:xfrm>
          <a:prstGeom prst="line">
            <a:avLst/>
          </a:prstGeom>
          <a:noFill/>
          <a:ln w="4445">
            <a:solidFill>
              <a:srgbClr val="132020">
                <a:alpha val="45000"/>
              </a:srgbClr>
            </a:solidFill>
            <a:prstDash val="solid"/>
          </a:ln>
        </p:spPr>
      </p:sp>
      <p:sp>
        <p:nvSpPr>
          <p:cNvPr id="310824131" name="Shape 17"/>
          <p:cNvSpPr/>
          <p:nvPr/>
        </p:nvSpPr>
        <p:spPr bwMode="auto">
          <a:xfrm>
            <a:off x="10698480" y="0"/>
            <a:ext cx="0" cy="6858000"/>
          </a:xfrm>
          <a:prstGeom prst="line">
            <a:avLst/>
          </a:prstGeom>
          <a:noFill/>
          <a:ln w="4445">
            <a:solidFill>
              <a:srgbClr val="132020">
                <a:alpha val="45000"/>
              </a:srgbClr>
            </a:solidFill>
            <a:prstDash val="solid"/>
          </a:ln>
        </p:spPr>
      </p:sp>
      <p:sp>
        <p:nvSpPr>
          <p:cNvPr id="471653441" name="Shape 18"/>
          <p:cNvSpPr/>
          <p:nvPr/>
        </p:nvSpPr>
        <p:spPr bwMode="auto">
          <a:xfrm>
            <a:off x="11411712" y="0"/>
            <a:ext cx="0" cy="6858000"/>
          </a:xfrm>
          <a:prstGeom prst="line">
            <a:avLst/>
          </a:prstGeom>
          <a:noFill/>
          <a:ln w="4445">
            <a:solidFill>
              <a:srgbClr val="132020">
                <a:alpha val="45000"/>
              </a:srgbClr>
            </a:solidFill>
            <a:prstDash val="solid"/>
          </a:ln>
        </p:spPr>
      </p:sp>
      <p:sp>
        <p:nvSpPr>
          <p:cNvPr id="117612927" name="Shape 19"/>
          <p:cNvSpPr/>
          <p:nvPr/>
        </p:nvSpPr>
        <p:spPr bwMode="auto">
          <a:xfrm>
            <a:off x="12124943" y="0"/>
            <a:ext cx="0" cy="6858000"/>
          </a:xfrm>
          <a:prstGeom prst="line">
            <a:avLst/>
          </a:prstGeom>
          <a:noFill/>
          <a:ln w="4445">
            <a:solidFill>
              <a:srgbClr val="132020">
                <a:alpha val="45000"/>
              </a:srgbClr>
            </a:solidFill>
            <a:prstDash val="solid"/>
          </a:ln>
        </p:spPr>
      </p:sp>
      <p:sp>
        <p:nvSpPr>
          <p:cNvPr id="966276034" name="Shape 20"/>
          <p:cNvSpPr/>
          <p:nvPr/>
        </p:nvSpPr>
        <p:spPr bwMode="auto">
          <a:xfrm>
            <a:off x="0" y="0"/>
            <a:ext cx="12191695" cy="0"/>
          </a:xfrm>
          <a:prstGeom prst="line">
            <a:avLst/>
          </a:prstGeom>
          <a:noFill/>
          <a:ln w="4445">
            <a:solidFill>
              <a:srgbClr val="132020">
                <a:alpha val="38000"/>
              </a:srgbClr>
            </a:solidFill>
            <a:prstDash val="solid"/>
          </a:ln>
        </p:spPr>
      </p:sp>
      <p:sp>
        <p:nvSpPr>
          <p:cNvPr id="1951143491" name="Shape 21"/>
          <p:cNvSpPr/>
          <p:nvPr/>
        </p:nvSpPr>
        <p:spPr bwMode="auto">
          <a:xfrm>
            <a:off x="0" y="713232"/>
            <a:ext cx="12191695" cy="0"/>
          </a:xfrm>
          <a:prstGeom prst="line">
            <a:avLst/>
          </a:prstGeom>
          <a:noFill/>
          <a:ln w="4445">
            <a:solidFill>
              <a:srgbClr val="132020">
                <a:alpha val="38000"/>
              </a:srgbClr>
            </a:solidFill>
            <a:prstDash val="solid"/>
          </a:ln>
        </p:spPr>
      </p:sp>
      <p:sp>
        <p:nvSpPr>
          <p:cNvPr id="86118607" name="Shape 22"/>
          <p:cNvSpPr/>
          <p:nvPr/>
        </p:nvSpPr>
        <p:spPr bwMode="auto">
          <a:xfrm>
            <a:off x="0" y="1426464"/>
            <a:ext cx="12191695" cy="0"/>
          </a:xfrm>
          <a:prstGeom prst="line">
            <a:avLst/>
          </a:prstGeom>
          <a:noFill/>
          <a:ln w="4445">
            <a:solidFill>
              <a:srgbClr val="132020">
                <a:alpha val="38000"/>
              </a:srgbClr>
            </a:solidFill>
            <a:prstDash val="solid"/>
          </a:ln>
        </p:spPr>
      </p:sp>
      <p:sp>
        <p:nvSpPr>
          <p:cNvPr id="114998623" name="Shape 23"/>
          <p:cNvSpPr/>
          <p:nvPr/>
        </p:nvSpPr>
        <p:spPr bwMode="auto">
          <a:xfrm>
            <a:off x="0" y="2139696"/>
            <a:ext cx="12191695" cy="0"/>
          </a:xfrm>
          <a:prstGeom prst="line">
            <a:avLst/>
          </a:prstGeom>
          <a:noFill/>
          <a:ln w="4445">
            <a:solidFill>
              <a:srgbClr val="132020">
                <a:alpha val="38000"/>
              </a:srgbClr>
            </a:solidFill>
            <a:prstDash val="solid"/>
          </a:ln>
        </p:spPr>
      </p:sp>
      <p:sp>
        <p:nvSpPr>
          <p:cNvPr id="820043317" name="Shape 24"/>
          <p:cNvSpPr/>
          <p:nvPr/>
        </p:nvSpPr>
        <p:spPr bwMode="auto">
          <a:xfrm>
            <a:off x="0" y="2852928"/>
            <a:ext cx="12191695" cy="0"/>
          </a:xfrm>
          <a:prstGeom prst="line">
            <a:avLst/>
          </a:prstGeom>
          <a:noFill/>
          <a:ln w="4445">
            <a:solidFill>
              <a:srgbClr val="132020">
                <a:alpha val="38000"/>
              </a:srgbClr>
            </a:solidFill>
            <a:prstDash val="solid"/>
          </a:ln>
        </p:spPr>
      </p:sp>
      <p:sp>
        <p:nvSpPr>
          <p:cNvPr id="135514199" name="Shape 25"/>
          <p:cNvSpPr/>
          <p:nvPr/>
        </p:nvSpPr>
        <p:spPr bwMode="auto">
          <a:xfrm>
            <a:off x="0" y="3566160"/>
            <a:ext cx="12191695" cy="0"/>
          </a:xfrm>
          <a:prstGeom prst="line">
            <a:avLst/>
          </a:prstGeom>
          <a:noFill/>
          <a:ln w="4445">
            <a:solidFill>
              <a:srgbClr val="132020">
                <a:alpha val="38000"/>
              </a:srgbClr>
            </a:solidFill>
            <a:prstDash val="solid"/>
          </a:ln>
        </p:spPr>
      </p:sp>
      <p:sp>
        <p:nvSpPr>
          <p:cNvPr id="1825522377" name="Shape 26"/>
          <p:cNvSpPr/>
          <p:nvPr/>
        </p:nvSpPr>
        <p:spPr bwMode="auto">
          <a:xfrm>
            <a:off x="0" y="4279392"/>
            <a:ext cx="12191695" cy="0"/>
          </a:xfrm>
          <a:prstGeom prst="line">
            <a:avLst/>
          </a:prstGeom>
          <a:noFill/>
          <a:ln w="4445">
            <a:solidFill>
              <a:srgbClr val="132020">
                <a:alpha val="38000"/>
              </a:srgbClr>
            </a:solidFill>
            <a:prstDash val="solid"/>
          </a:ln>
        </p:spPr>
      </p:sp>
      <p:sp>
        <p:nvSpPr>
          <p:cNvPr id="93995991" name="Shape 27"/>
          <p:cNvSpPr/>
          <p:nvPr/>
        </p:nvSpPr>
        <p:spPr bwMode="auto">
          <a:xfrm>
            <a:off x="0" y="4992624"/>
            <a:ext cx="12191695" cy="0"/>
          </a:xfrm>
          <a:prstGeom prst="line">
            <a:avLst/>
          </a:prstGeom>
          <a:noFill/>
          <a:ln w="4445">
            <a:solidFill>
              <a:srgbClr val="132020">
                <a:alpha val="38000"/>
              </a:srgbClr>
            </a:solidFill>
            <a:prstDash val="solid"/>
          </a:ln>
        </p:spPr>
      </p:sp>
      <p:sp>
        <p:nvSpPr>
          <p:cNvPr id="232063592" name="Shape 28"/>
          <p:cNvSpPr/>
          <p:nvPr/>
        </p:nvSpPr>
        <p:spPr bwMode="auto">
          <a:xfrm>
            <a:off x="0" y="5705856"/>
            <a:ext cx="12191695" cy="0"/>
          </a:xfrm>
          <a:prstGeom prst="line">
            <a:avLst/>
          </a:prstGeom>
          <a:noFill/>
          <a:ln w="4445">
            <a:solidFill>
              <a:srgbClr val="132020">
                <a:alpha val="38000"/>
              </a:srgbClr>
            </a:solidFill>
            <a:prstDash val="solid"/>
          </a:ln>
        </p:spPr>
      </p:sp>
      <p:sp>
        <p:nvSpPr>
          <p:cNvPr id="210756554" name="Shape 29"/>
          <p:cNvSpPr/>
          <p:nvPr/>
        </p:nvSpPr>
        <p:spPr bwMode="auto">
          <a:xfrm>
            <a:off x="0" y="6419088"/>
            <a:ext cx="12191695" cy="0"/>
          </a:xfrm>
          <a:prstGeom prst="line">
            <a:avLst/>
          </a:prstGeom>
          <a:noFill/>
          <a:ln w="4445">
            <a:solidFill>
              <a:srgbClr val="132020">
                <a:alpha val="38000"/>
              </a:srgbClr>
            </a:solidFill>
            <a:prstDash val="solid"/>
          </a:ln>
        </p:spPr>
      </p:sp>
      <p:sp>
        <p:nvSpPr>
          <p:cNvPr id="2042101572" name="Shape 30"/>
          <p:cNvSpPr/>
          <p:nvPr/>
        </p:nvSpPr>
        <p:spPr bwMode="auto">
          <a:xfrm>
            <a:off x="0" y="0"/>
            <a:ext cx="82296" cy="6858000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pic>
        <p:nvPicPr>
          <p:cNvPr id="565592116" name="Image 0" descr="/home/fanff/fanfan/ML/NLP_coolyeah/TA/ppt_nuxt_movies/assets/generated/nuxt-movies-logo.png"/>
          <p:cNvPicPr>
            <a:picLocks noChangeAspect="1"/>
          </p:cNvPicPr>
          <p:nvPr/>
        </p:nvPicPr>
        <p:blipFill rotWithShape="1">
          <a:blip r:embed="rId3">
            <a:alphaModFix amt="94000"/>
          </a:blip>
          <a:stretch/>
        </p:blipFill>
        <p:spPr bwMode="auto">
          <a:xfrm>
            <a:off x="11356848" y="237744"/>
            <a:ext cx="411480" cy="411480"/>
          </a:xfrm>
          <a:prstGeom prst="rect">
            <a:avLst/>
          </a:prstGeom>
        </p:spPr>
      </p:pic>
      <p:sp>
        <p:nvSpPr>
          <p:cNvPr id="185764551" name="Text 31"/>
          <p:cNvSpPr/>
          <p:nvPr/>
        </p:nvSpPr>
        <p:spPr bwMode="auto">
          <a:xfrm>
            <a:off x="548640" y="329184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000" b="1">
                <a:solidFill>
                  <a:srgbClr val="F4F7F6"/>
                </a:solidFill>
                <a:latin typeface="Georgia"/>
                <a:ea typeface="Georgia"/>
                <a:cs typeface="Georgia"/>
              </a:rPr>
              <a:t>Dataset</a:t>
            </a:r>
            <a:endParaRPr lang="en-US" sz="2000"/>
          </a:p>
        </p:txBody>
      </p:sp>
      <p:sp>
        <p:nvSpPr>
          <p:cNvPr id="672023297" name="Shape 32"/>
          <p:cNvSpPr/>
          <p:nvPr/>
        </p:nvSpPr>
        <p:spPr bwMode="auto">
          <a:xfrm>
            <a:off x="548640" y="804672"/>
            <a:ext cx="1828800" cy="0"/>
          </a:xfrm>
          <a:prstGeom prst="line">
            <a:avLst/>
          </a:prstGeom>
          <a:noFill/>
          <a:ln w="25400">
            <a:solidFill>
              <a:srgbClr val="24D6C3"/>
            </a:solidFill>
            <a:prstDash val="solid"/>
          </a:ln>
        </p:spPr>
      </p:sp>
      <p:sp>
        <p:nvSpPr>
          <p:cNvPr id="560204165" name="Shape 33"/>
          <p:cNvSpPr/>
          <p:nvPr/>
        </p:nvSpPr>
        <p:spPr bwMode="auto">
          <a:xfrm>
            <a:off x="731520" y="1097280"/>
            <a:ext cx="4754880" cy="4389120"/>
          </a:xfrm>
          <a:prstGeom prst="roundRect">
            <a:avLst>
              <a:gd name="adj" fmla="val 1458"/>
            </a:avLst>
          </a:prstGeom>
          <a:solidFill>
            <a:srgbClr val="0B1111"/>
          </a:solidFill>
          <a:ln w="12700">
            <a:solidFill>
              <a:srgbClr val="253232"/>
            </a:solidFill>
            <a:prstDash val="solid"/>
          </a:ln>
        </p:spPr>
      </p:sp>
      <p:sp>
        <p:nvSpPr>
          <p:cNvPr id="1712319675" name="Shape 34"/>
          <p:cNvSpPr/>
          <p:nvPr/>
        </p:nvSpPr>
        <p:spPr bwMode="auto">
          <a:xfrm>
            <a:off x="1024128" y="1581912"/>
            <a:ext cx="73152" cy="73152"/>
          </a:xfrm>
          <a:prstGeom prst="ellipse">
            <a:avLst/>
          </a:prstGeom>
          <a:solidFill>
            <a:srgbClr val="24D6C3"/>
          </a:solidFill>
          <a:ln w="12700">
            <a:solidFill>
              <a:srgbClr val="24D6C3"/>
            </a:solidFill>
            <a:prstDash val="solid"/>
          </a:ln>
        </p:spPr>
      </p:sp>
      <p:sp>
        <p:nvSpPr>
          <p:cNvPr id="377585149" name="Text 35"/>
          <p:cNvSpPr/>
          <p:nvPr/>
        </p:nvSpPr>
        <p:spPr bwMode="auto">
          <a:xfrm>
            <a:off x="1188720" y="1508759"/>
            <a:ext cx="3977640" cy="2286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300">
                <a:solidFill>
                  <a:srgbClr val="F4F7F6"/>
                </a:solidFill>
              </a:rPr>
              <a:t>Dataset: IMDB Dataset.csv</a:t>
            </a:r>
            <a:endParaRPr lang="en-US" sz="1300"/>
          </a:p>
        </p:txBody>
      </p:sp>
      <p:sp>
        <p:nvSpPr>
          <p:cNvPr id="1607558648" name="Shape 36"/>
          <p:cNvSpPr/>
          <p:nvPr/>
        </p:nvSpPr>
        <p:spPr bwMode="auto">
          <a:xfrm>
            <a:off x="1024128" y="2112264"/>
            <a:ext cx="73152" cy="73152"/>
          </a:xfrm>
          <a:prstGeom prst="ellipse">
            <a:avLst/>
          </a:prstGeom>
          <a:solidFill>
            <a:srgbClr val="24D6C3"/>
          </a:solidFill>
          <a:ln w="12700">
            <a:solidFill>
              <a:srgbClr val="24D6C3"/>
            </a:solidFill>
            <a:prstDash val="solid"/>
          </a:ln>
        </p:spPr>
      </p:sp>
      <p:sp>
        <p:nvSpPr>
          <p:cNvPr id="879808299" name="Text 37"/>
          <p:cNvSpPr/>
          <p:nvPr/>
        </p:nvSpPr>
        <p:spPr bwMode="auto">
          <a:xfrm>
            <a:off x="1188720" y="2039112"/>
            <a:ext cx="3977640" cy="2286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300">
                <a:solidFill>
                  <a:srgbClr val="F4F7F6"/>
                </a:solidFill>
              </a:rPr>
              <a:t>Total data: 50.000 review</a:t>
            </a:r>
            <a:endParaRPr lang="en-US" sz="1300"/>
          </a:p>
        </p:txBody>
      </p:sp>
      <p:sp>
        <p:nvSpPr>
          <p:cNvPr id="1173482937" name="Shape 38"/>
          <p:cNvSpPr/>
          <p:nvPr/>
        </p:nvSpPr>
        <p:spPr bwMode="auto">
          <a:xfrm>
            <a:off x="1024128" y="2642616"/>
            <a:ext cx="73152" cy="73152"/>
          </a:xfrm>
          <a:prstGeom prst="ellipse">
            <a:avLst/>
          </a:prstGeom>
          <a:solidFill>
            <a:srgbClr val="24D6C3"/>
          </a:solidFill>
          <a:ln w="12700">
            <a:solidFill>
              <a:srgbClr val="24D6C3"/>
            </a:solidFill>
            <a:prstDash val="solid"/>
          </a:ln>
        </p:spPr>
      </p:sp>
      <p:sp>
        <p:nvSpPr>
          <p:cNvPr id="1912743640" name="Text 39"/>
          <p:cNvSpPr/>
          <p:nvPr/>
        </p:nvSpPr>
        <p:spPr bwMode="auto">
          <a:xfrm>
            <a:off x="1188720" y="2569464"/>
            <a:ext cx="3977640" cy="2286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300">
                <a:solidFill>
                  <a:srgbClr val="F4F7F6"/>
                </a:solidFill>
              </a:rPr>
              <a:t>Label: positive dan negative</a:t>
            </a:r>
            <a:endParaRPr lang="en-US" sz="1300"/>
          </a:p>
        </p:txBody>
      </p:sp>
      <p:sp>
        <p:nvSpPr>
          <p:cNvPr id="540506679" name="Shape 40"/>
          <p:cNvSpPr/>
          <p:nvPr/>
        </p:nvSpPr>
        <p:spPr bwMode="auto">
          <a:xfrm>
            <a:off x="1024128" y="3172968"/>
            <a:ext cx="73152" cy="73152"/>
          </a:xfrm>
          <a:prstGeom prst="ellipse">
            <a:avLst/>
          </a:prstGeom>
          <a:solidFill>
            <a:srgbClr val="24D6C3"/>
          </a:solidFill>
          <a:ln w="12700">
            <a:solidFill>
              <a:srgbClr val="24D6C3"/>
            </a:solidFill>
            <a:prstDash val="solid"/>
          </a:ln>
        </p:spPr>
      </p:sp>
      <p:sp>
        <p:nvSpPr>
          <p:cNvPr id="1990529655" name="Text 41"/>
          <p:cNvSpPr/>
          <p:nvPr/>
        </p:nvSpPr>
        <p:spPr bwMode="auto">
          <a:xfrm>
            <a:off x="1188720" y="3099816"/>
            <a:ext cx="3977640" cy="2286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300">
                <a:solidFill>
                  <a:srgbClr val="F4F7F6"/>
                </a:solidFill>
              </a:rPr>
              <a:t>Distribusi seimbang 25.000 : 25.000</a:t>
            </a:r>
            <a:endParaRPr lang="en-US" sz="1300"/>
          </a:p>
        </p:txBody>
      </p:sp>
      <p:sp>
        <p:nvSpPr>
          <p:cNvPr id="1159016056" name="Shape 42"/>
          <p:cNvSpPr/>
          <p:nvPr/>
        </p:nvSpPr>
        <p:spPr bwMode="auto">
          <a:xfrm>
            <a:off x="1024128" y="3703320"/>
            <a:ext cx="73152" cy="73152"/>
          </a:xfrm>
          <a:prstGeom prst="ellipse">
            <a:avLst/>
          </a:prstGeom>
          <a:solidFill>
            <a:srgbClr val="24D6C3"/>
          </a:solidFill>
          <a:ln w="12700">
            <a:solidFill>
              <a:srgbClr val="24D6C3"/>
            </a:solidFill>
            <a:prstDash val="solid"/>
          </a:ln>
        </p:spPr>
      </p:sp>
      <p:sp>
        <p:nvSpPr>
          <p:cNvPr id="43644140" name="Text 43"/>
          <p:cNvSpPr/>
          <p:nvPr/>
        </p:nvSpPr>
        <p:spPr bwMode="auto">
          <a:xfrm>
            <a:off x="1188720" y="3630168"/>
            <a:ext cx="3977640" cy="2286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300">
                <a:solidFill>
                  <a:srgbClr val="F4F7F6"/>
                </a:solidFill>
              </a:rPr>
              <a:t>Split: 80% train dan 20% test</a:t>
            </a:r>
            <a:endParaRPr lang="en-US" sz="1300"/>
          </a:p>
        </p:txBody>
      </p:sp>
      <p:sp>
        <p:nvSpPr>
          <p:cNvPr id="442241732" name="Shape 44"/>
          <p:cNvSpPr/>
          <p:nvPr/>
        </p:nvSpPr>
        <p:spPr bwMode="auto">
          <a:xfrm>
            <a:off x="1024128" y="4233672"/>
            <a:ext cx="73152" cy="73152"/>
          </a:xfrm>
          <a:prstGeom prst="ellipse">
            <a:avLst/>
          </a:prstGeom>
          <a:solidFill>
            <a:srgbClr val="24D6C3"/>
          </a:solidFill>
          <a:ln w="12700">
            <a:solidFill>
              <a:srgbClr val="24D6C3"/>
            </a:solidFill>
            <a:prstDash val="solid"/>
          </a:ln>
        </p:spPr>
      </p:sp>
      <p:sp>
        <p:nvSpPr>
          <p:cNvPr id="448040020" name="Text 45"/>
          <p:cNvSpPr/>
          <p:nvPr/>
        </p:nvSpPr>
        <p:spPr bwMode="auto">
          <a:xfrm>
            <a:off x="1188720" y="4160519"/>
            <a:ext cx="3977640" cy="2286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300">
                <a:solidFill>
                  <a:srgbClr val="F4F7F6"/>
                </a:solidFill>
              </a:rPr>
              <a:t>Bahasa dataset: English movie reviews</a:t>
            </a:r>
            <a:endParaRPr lang="en-US" sz="1300"/>
          </a:p>
        </p:txBody>
      </p:sp>
      <p:sp>
        <p:nvSpPr>
          <p:cNvPr id="1989182387" name="Shape 46"/>
          <p:cNvSpPr/>
          <p:nvPr/>
        </p:nvSpPr>
        <p:spPr bwMode="auto">
          <a:xfrm>
            <a:off x="5989320" y="1097280"/>
            <a:ext cx="5166360" cy="4389120"/>
          </a:xfrm>
          <a:prstGeom prst="roundRect">
            <a:avLst>
              <a:gd name="adj" fmla="val 1458"/>
            </a:avLst>
          </a:prstGeom>
          <a:solidFill>
            <a:srgbClr val="0B1111"/>
          </a:solidFill>
          <a:ln w="12700">
            <a:solidFill>
              <a:srgbClr val="253232"/>
            </a:solidFill>
            <a:prstDash val="solid"/>
          </a:ln>
        </p:spPr>
      </p:sp>
      <p:sp>
        <p:nvSpPr>
          <p:cNvPr id="540509958" name="Text 47"/>
          <p:cNvSpPr/>
          <p:nvPr/>
        </p:nvSpPr>
        <p:spPr bwMode="auto">
          <a:xfrm>
            <a:off x="6355080" y="14173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600" b="1">
                <a:solidFill>
                  <a:srgbClr val="F4F7F6"/>
                </a:solidFill>
              </a:rPr>
              <a:t>Distribusi Label</a:t>
            </a:r>
            <a:endParaRPr lang="en-US" sz="1600"/>
          </a:p>
        </p:txBody>
      </p:sp>
      <p:sp>
        <p:nvSpPr>
          <p:cNvPr id="1521378213" name="Shape 48"/>
          <p:cNvSpPr/>
          <p:nvPr/>
        </p:nvSpPr>
        <p:spPr bwMode="auto">
          <a:xfrm>
            <a:off x="6492240" y="2148840"/>
            <a:ext cx="3474720" cy="502920"/>
          </a:xfrm>
          <a:prstGeom prst="rect">
            <a:avLst/>
          </a:prstGeom>
          <a:solidFill>
            <a:srgbClr val="37D67A"/>
          </a:solidFill>
          <a:ln w="12700">
            <a:solidFill>
              <a:srgbClr val="37D67A"/>
            </a:solidFill>
            <a:prstDash val="solid"/>
          </a:ln>
        </p:spPr>
      </p:sp>
      <p:sp>
        <p:nvSpPr>
          <p:cNvPr id="834310885" name="Text 49"/>
          <p:cNvSpPr/>
          <p:nvPr/>
        </p:nvSpPr>
        <p:spPr bwMode="auto">
          <a:xfrm>
            <a:off x="6629400" y="2276856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03110A"/>
                </a:solidFill>
              </a:rPr>
              <a:t>positive 25.000</a:t>
            </a:r>
            <a:endParaRPr lang="en-US" sz="1100"/>
          </a:p>
        </p:txBody>
      </p:sp>
      <p:sp>
        <p:nvSpPr>
          <p:cNvPr id="557855818" name="Shape 50"/>
          <p:cNvSpPr/>
          <p:nvPr/>
        </p:nvSpPr>
        <p:spPr bwMode="auto">
          <a:xfrm>
            <a:off x="6492240" y="3017519"/>
            <a:ext cx="3474720" cy="502920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1425839611" name="Text 51"/>
          <p:cNvSpPr/>
          <p:nvPr/>
        </p:nvSpPr>
        <p:spPr bwMode="auto">
          <a:xfrm>
            <a:off x="6629400" y="3145536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FFFFFF"/>
                </a:solidFill>
              </a:rPr>
              <a:t>negative 25.000</a:t>
            </a:r>
            <a:endParaRPr lang="en-US" sz="1100"/>
          </a:p>
        </p:txBody>
      </p:sp>
      <p:sp>
        <p:nvSpPr>
          <p:cNvPr id="709468815" name="Text 52"/>
          <p:cNvSpPr/>
          <p:nvPr/>
        </p:nvSpPr>
        <p:spPr bwMode="auto">
          <a:xfrm>
            <a:off x="6355080" y="443484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9EA8A6"/>
                </a:solidFill>
              </a:rPr>
              <a:t>Task model: binary sentiment classification.</a:t>
            </a:r>
            <a:endParaRPr lang="en-US" sz="1200"/>
          </a:p>
        </p:txBody>
      </p:sp>
      <p:sp>
        <p:nvSpPr>
          <p:cNvPr id="1461703041" name="Text 53"/>
          <p:cNvSpPr/>
          <p:nvPr/>
        </p:nvSpPr>
        <p:spPr bwMode="auto">
          <a:xfrm>
            <a:off x="566928" y="6446520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700">
                <a:solidFill>
                  <a:srgbClr val="9EA8A6"/>
                </a:solidFill>
              </a:rPr>
              <a:t>Nuxt Movies · NLP Sentiment Classification · 05</a:t>
            </a:r>
            <a:endParaRPr lang="en-US" sz="7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6">
    <p:bg>
      <p:bgPr shadeToTitle="0">
        <a:solidFill>
          <a:srgbClr val="050808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3434968" name="Shape 0"/>
          <p:cNvSpPr/>
          <p:nvPr/>
        </p:nvSpPr>
        <p:spPr bwMode="auto">
          <a:xfrm>
            <a:off x="0" y="0"/>
            <a:ext cx="12191695" cy="6858000"/>
          </a:xfrm>
          <a:prstGeom prst="rect">
            <a:avLst/>
          </a:prstGeom>
          <a:solidFill>
            <a:srgbClr val="050808"/>
          </a:solidFill>
          <a:ln w="12700">
            <a:solidFill>
              <a:srgbClr val="050808"/>
            </a:solidFill>
            <a:prstDash val="solid"/>
          </a:ln>
        </p:spPr>
      </p:sp>
      <p:sp>
        <p:nvSpPr>
          <p:cNvPr id="58895846" name="Shape 1"/>
          <p:cNvSpPr/>
          <p:nvPr/>
        </p:nvSpPr>
        <p:spPr bwMode="auto">
          <a:xfrm>
            <a:off x="0" y="0"/>
            <a:ext cx="12191695" cy="6858000"/>
          </a:xfrm>
          <a:prstGeom prst="rect">
            <a:avLst/>
          </a:prstGeom>
          <a:solidFill>
            <a:srgbClr val="071111">
              <a:alpha val="80000"/>
            </a:srgbClr>
          </a:solidFill>
          <a:ln w="12700">
            <a:solidFill>
              <a:srgbClr val="071111">
                <a:alpha val="0"/>
              </a:srgbClr>
            </a:solidFill>
            <a:prstDash val="solid"/>
          </a:ln>
        </p:spPr>
      </p:sp>
      <p:sp>
        <p:nvSpPr>
          <p:cNvPr id="440089676" name="Shape 2"/>
          <p:cNvSpPr/>
          <p:nvPr/>
        </p:nvSpPr>
        <p:spPr bwMode="auto">
          <a:xfrm>
            <a:off x="0" y="0"/>
            <a:ext cx="0" cy="6858000"/>
          </a:xfrm>
          <a:prstGeom prst="line">
            <a:avLst/>
          </a:prstGeom>
          <a:noFill/>
          <a:ln w="4445">
            <a:solidFill>
              <a:srgbClr val="132020">
                <a:alpha val="45000"/>
              </a:srgbClr>
            </a:solidFill>
            <a:prstDash val="solid"/>
          </a:ln>
        </p:spPr>
      </p:sp>
      <p:sp>
        <p:nvSpPr>
          <p:cNvPr id="1525215122" name="Shape 3"/>
          <p:cNvSpPr/>
          <p:nvPr/>
        </p:nvSpPr>
        <p:spPr bwMode="auto">
          <a:xfrm>
            <a:off x="713232" y="0"/>
            <a:ext cx="0" cy="6858000"/>
          </a:xfrm>
          <a:prstGeom prst="line">
            <a:avLst/>
          </a:prstGeom>
          <a:noFill/>
          <a:ln w="4445">
            <a:solidFill>
              <a:srgbClr val="132020">
                <a:alpha val="45000"/>
              </a:srgbClr>
            </a:solidFill>
            <a:prstDash val="solid"/>
          </a:ln>
        </p:spPr>
      </p:sp>
      <p:sp>
        <p:nvSpPr>
          <p:cNvPr id="763823000" name="Shape 4"/>
          <p:cNvSpPr/>
          <p:nvPr/>
        </p:nvSpPr>
        <p:spPr bwMode="auto">
          <a:xfrm>
            <a:off x="1426464" y="0"/>
            <a:ext cx="0" cy="6858000"/>
          </a:xfrm>
          <a:prstGeom prst="line">
            <a:avLst/>
          </a:prstGeom>
          <a:noFill/>
          <a:ln w="4445">
            <a:solidFill>
              <a:srgbClr val="132020">
                <a:alpha val="45000"/>
              </a:srgbClr>
            </a:solidFill>
            <a:prstDash val="solid"/>
          </a:ln>
        </p:spPr>
      </p:sp>
      <p:sp>
        <p:nvSpPr>
          <p:cNvPr id="3085219" name="Shape 5"/>
          <p:cNvSpPr/>
          <p:nvPr/>
        </p:nvSpPr>
        <p:spPr bwMode="auto">
          <a:xfrm>
            <a:off x="2139696" y="0"/>
            <a:ext cx="0" cy="6858000"/>
          </a:xfrm>
          <a:prstGeom prst="line">
            <a:avLst/>
          </a:prstGeom>
          <a:noFill/>
          <a:ln w="4445">
            <a:solidFill>
              <a:srgbClr val="132020">
                <a:alpha val="45000"/>
              </a:srgbClr>
            </a:solidFill>
            <a:prstDash val="solid"/>
          </a:ln>
        </p:spPr>
      </p:sp>
      <p:sp>
        <p:nvSpPr>
          <p:cNvPr id="1465650804" name="Shape 6"/>
          <p:cNvSpPr/>
          <p:nvPr/>
        </p:nvSpPr>
        <p:spPr bwMode="auto">
          <a:xfrm>
            <a:off x="2852928" y="0"/>
            <a:ext cx="0" cy="6858000"/>
          </a:xfrm>
          <a:prstGeom prst="line">
            <a:avLst/>
          </a:prstGeom>
          <a:noFill/>
          <a:ln w="4445">
            <a:solidFill>
              <a:srgbClr val="132020">
                <a:alpha val="45000"/>
              </a:srgbClr>
            </a:solidFill>
            <a:prstDash val="solid"/>
          </a:ln>
        </p:spPr>
      </p:sp>
      <p:sp>
        <p:nvSpPr>
          <p:cNvPr id="1452250566" name="Shape 7"/>
          <p:cNvSpPr/>
          <p:nvPr/>
        </p:nvSpPr>
        <p:spPr bwMode="auto">
          <a:xfrm>
            <a:off x="3566160" y="0"/>
            <a:ext cx="0" cy="6858000"/>
          </a:xfrm>
          <a:prstGeom prst="line">
            <a:avLst/>
          </a:prstGeom>
          <a:noFill/>
          <a:ln w="4445">
            <a:solidFill>
              <a:srgbClr val="132020">
                <a:alpha val="45000"/>
              </a:srgbClr>
            </a:solidFill>
            <a:prstDash val="solid"/>
          </a:ln>
        </p:spPr>
      </p:sp>
      <p:sp>
        <p:nvSpPr>
          <p:cNvPr id="1846216042" name="Shape 8"/>
          <p:cNvSpPr/>
          <p:nvPr/>
        </p:nvSpPr>
        <p:spPr bwMode="auto">
          <a:xfrm>
            <a:off x="4279392" y="0"/>
            <a:ext cx="0" cy="6858000"/>
          </a:xfrm>
          <a:prstGeom prst="line">
            <a:avLst/>
          </a:prstGeom>
          <a:noFill/>
          <a:ln w="4445">
            <a:solidFill>
              <a:srgbClr val="132020">
                <a:alpha val="45000"/>
              </a:srgbClr>
            </a:solidFill>
            <a:prstDash val="solid"/>
          </a:ln>
        </p:spPr>
      </p:sp>
      <p:sp>
        <p:nvSpPr>
          <p:cNvPr id="2006187727" name="Shape 9"/>
          <p:cNvSpPr/>
          <p:nvPr/>
        </p:nvSpPr>
        <p:spPr bwMode="auto">
          <a:xfrm>
            <a:off x="4992624" y="0"/>
            <a:ext cx="0" cy="6858000"/>
          </a:xfrm>
          <a:prstGeom prst="line">
            <a:avLst/>
          </a:prstGeom>
          <a:noFill/>
          <a:ln w="4445">
            <a:solidFill>
              <a:srgbClr val="132020">
                <a:alpha val="45000"/>
              </a:srgbClr>
            </a:solidFill>
            <a:prstDash val="solid"/>
          </a:ln>
        </p:spPr>
      </p:sp>
      <p:sp>
        <p:nvSpPr>
          <p:cNvPr id="1439087805" name="Shape 10"/>
          <p:cNvSpPr/>
          <p:nvPr/>
        </p:nvSpPr>
        <p:spPr bwMode="auto">
          <a:xfrm>
            <a:off x="5705856" y="0"/>
            <a:ext cx="0" cy="6858000"/>
          </a:xfrm>
          <a:prstGeom prst="line">
            <a:avLst/>
          </a:prstGeom>
          <a:noFill/>
          <a:ln w="4445">
            <a:solidFill>
              <a:srgbClr val="132020">
                <a:alpha val="45000"/>
              </a:srgbClr>
            </a:solidFill>
            <a:prstDash val="solid"/>
          </a:ln>
        </p:spPr>
      </p:sp>
      <p:sp>
        <p:nvSpPr>
          <p:cNvPr id="644139142" name="Shape 11"/>
          <p:cNvSpPr/>
          <p:nvPr/>
        </p:nvSpPr>
        <p:spPr bwMode="auto">
          <a:xfrm>
            <a:off x="6419088" y="0"/>
            <a:ext cx="0" cy="6858000"/>
          </a:xfrm>
          <a:prstGeom prst="line">
            <a:avLst/>
          </a:prstGeom>
          <a:noFill/>
          <a:ln w="4445">
            <a:solidFill>
              <a:srgbClr val="132020">
                <a:alpha val="45000"/>
              </a:srgbClr>
            </a:solidFill>
            <a:prstDash val="solid"/>
          </a:ln>
        </p:spPr>
      </p:sp>
      <p:sp>
        <p:nvSpPr>
          <p:cNvPr id="617944238" name="Shape 12"/>
          <p:cNvSpPr/>
          <p:nvPr/>
        </p:nvSpPr>
        <p:spPr bwMode="auto">
          <a:xfrm>
            <a:off x="7132320" y="0"/>
            <a:ext cx="0" cy="6858000"/>
          </a:xfrm>
          <a:prstGeom prst="line">
            <a:avLst/>
          </a:prstGeom>
          <a:noFill/>
          <a:ln w="4445">
            <a:solidFill>
              <a:srgbClr val="132020">
                <a:alpha val="45000"/>
              </a:srgbClr>
            </a:solidFill>
            <a:prstDash val="solid"/>
          </a:ln>
        </p:spPr>
      </p:sp>
      <p:sp>
        <p:nvSpPr>
          <p:cNvPr id="1751844596" name="Shape 13"/>
          <p:cNvSpPr/>
          <p:nvPr/>
        </p:nvSpPr>
        <p:spPr bwMode="auto">
          <a:xfrm>
            <a:off x="7845552" y="0"/>
            <a:ext cx="0" cy="6858000"/>
          </a:xfrm>
          <a:prstGeom prst="line">
            <a:avLst/>
          </a:prstGeom>
          <a:noFill/>
          <a:ln w="4445">
            <a:solidFill>
              <a:srgbClr val="132020">
                <a:alpha val="45000"/>
              </a:srgbClr>
            </a:solidFill>
            <a:prstDash val="solid"/>
          </a:ln>
        </p:spPr>
      </p:sp>
      <p:sp>
        <p:nvSpPr>
          <p:cNvPr id="1470427507" name="Shape 14"/>
          <p:cNvSpPr/>
          <p:nvPr/>
        </p:nvSpPr>
        <p:spPr bwMode="auto">
          <a:xfrm>
            <a:off x="8558784" y="0"/>
            <a:ext cx="0" cy="6858000"/>
          </a:xfrm>
          <a:prstGeom prst="line">
            <a:avLst/>
          </a:prstGeom>
          <a:noFill/>
          <a:ln w="4445">
            <a:solidFill>
              <a:srgbClr val="132020">
                <a:alpha val="45000"/>
              </a:srgbClr>
            </a:solidFill>
            <a:prstDash val="solid"/>
          </a:ln>
        </p:spPr>
      </p:sp>
      <p:sp>
        <p:nvSpPr>
          <p:cNvPr id="1085949109" name="Shape 15"/>
          <p:cNvSpPr/>
          <p:nvPr/>
        </p:nvSpPr>
        <p:spPr bwMode="auto">
          <a:xfrm>
            <a:off x="9272016" y="0"/>
            <a:ext cx="0" cy="6858000"/>
          </a:xfrm>
          <a:prstGeom prst="line">
            <a:avLst/>
          </a:prstGeom>
          <a:noFill/>
          <a:ln w="4445">
            <a:solidFill>
              <a:srgbClr val="132020">
                <a:alpha val="45000"/>
              </a:srgbClr>
            </a:solidFill>
            <a:prstDash val="solid"/>
          </a:ln>
        </p:spPr>
      </p:sp>
      <p:sp>
        <p:nvSpPr>
          <p:cNvPr id="1447898509" name="Shape 16"/>
          <p:cNvSpPr/>
          <p:nvPr/>
        </p:nvSpPr>
        <p:spPr bwMode="auto">
          <a:xfrm>
            <a:off x="9985248" y="0"/>
            <a:ext cx="0" cy="6858000"/>
          </a:xfrm>
          <a:prstGeom prst="line">
            <a:avLst/>
          </a:prstGeom>
          <a:noFill/>
          <a:ln w="4445">
            <a:solidFill>
              <a:srgbClr val="132020">
                <a:alpha val="45000"/>
              </a:srgbClr>
            </a:solidFill>
            <a:prstDash val="solid"/>
          </a:ln>
        </p:spPr>
      </p:sp>
      <p:sp>
        <p:nvSpPr>
          <p:cNvPr id="2115083485" name="Shape 17"/>
          <p:cNvSpPr/>
          <p:nvPr/>
        </p:nvSpPr>
        <p:spPr bwMode="auto">
          <a:xfrm>
            <a:off x="10698480" y="0"/>
            <a:ext cx="0" cy="6858000"/>
          </a:xfrm>
          <a:prstGeom prst="line">
            <a:avLst/>
          </a:prstGeom>
          <a:noFill/>
          <a:ln w="4445">
            <a:solidFill>
              <a:srgbClr val="132020">
                <a:alpha val="45000"/>
              </a:srgbClr>
            </a:solidFill>
            <a:prstDash val="solid"/>
          </a:ln>
        </p:spPr>
      </p:sp>
      <p:sp>
        <p:nvSpPr>
          <p:cNvPr id="523410487" name="Shape 18"/>
          <p:cNvSpPr/>
          <p:nvPr/>
        </p:nvSpPr>
        <p:spPr bwMode="auto">
          <a:xfrm>
            <a:off x="11411712" y="0"/>
            <a:ext cx="0" cy="6858000"/>
          </a:xfrm>
          <a:prstGeom prst="line">
            <a:avLst/>
          </a:prstGeom>
          <a:noFill/>
          <a:ln w="4445">
            <a:solidFill>
              <a:srgbClr val="132020">
                <a:alpha val="45000"/>
              </a:srgbClr>
            </a:solidFill>
            <a:prstDash val="solid"/>
          </a:ln>
        </p:spPr>
      </p:sp>
      <p:sp>
        <p:nvSpPr>
          <p:cNvPr id="43594147" name="Shape 19"/>
          <p:cNvSpPr/>
          <p:nvPr/>
        </p:nvSpPr>
        <p:spPr bwMode="auto">
          <a:xfrm>
            <a:off x="12124943" y="0"/>
            <a:ext cx="0" cy="6858000"/>
          </a:xfrm>
          <a:prstGeom prst="line">
            <a:avLst/>
          </a:prstGeom>
          <a:noFill/>
          <a:ln w="4445">
            <a:solidFill>
              <a:srgbClr val="132020">
                <a:alpha val="45000"/>
              </a:srgbClr>
            </a:solidFill>
            <a:prstDash val="solid"/>
          </a:ln>
        </p:spPr>
      </p:sp>
      <p:sp>
        <p:nvSpPr>
          <p:cNvPr id="826147389" name="Shape 20"/>
          <p:cNvSpPr/>
          <p:nvPr/>
        </p:nvSpPr>
        <p:spPr bwMode="auto">
          <a:xfrm>
            <a:off x="0" y="0"/>
            <a:ext cx="12191695" cy="0"/>
          </a:xfrm>
          <a:prstGeom prst="line">
            <a:avLst/>
          </a:prstGeom>
          <a:noFill/>
          <a:ln w="4445">
            <a:solidFill>
              <a:srgbClr val="132020">
                <a:alpha val="38000"/>
              </a:srgbClr>
            </a:solidFill>
            <a:prstDash val="solid"/>
          </a:ln>
        </p:spPr>
      </p:sp>
      <p:sp>
        <p:nvSpPr>
          <p:cNvPr id="526829054" name="Shape 21"/>
          <p:cNvSpPr/>
          <p:nvPr/>
        </p:nvSpPr>
        <p:spPr bwMode="auto">
          <a:xfrm>
            <a:off x="0" y="713232"/>
            <a:ext cx="12191695" cy="0"/>
          </a:xfrm>
          <a:prstGeom prst="line">
            <a:avLst/>
          </a:prstGeom>
          <a:noFill/>
          <a:ln w="4445">
            <a:solidFill>
              <a:srgbClr val="132020">
                <a:alpha val="38000"/>
              </a:srgbClr>
            </a:solidFill>
            <a:prstDash val="solid"/>
          </a:ln>
        </p:spPr>
      </p:sp>
      <p:sp>
        <p:nvSpPr>
          <p:cNvPr id="1058538844" name="Shape 22"/>
          <p:cNvSpPr/>
          <p:nvPr/>
        </p:nvSpPr>
        <p:spPr bwMode="auto">
          <a:xfrm>
            <a:off x="0" y="1426464"/>
            <a:ext cx="12191695" cy="0"/>
          </a:xfrm>
          <a:prstGeom prst="line">
            <a:avLst/>
          </a:prstGeom>
          <a:noFill/>
          <a:ln w="4445">
            <a:solidFill>
              <a:srgbClr val="132020">
                <a:alpha val="38000"/>
              </a:srgbClr>
            </a:solidFill>
            <a:prstDash val="solid"/>
          </a:ln>
        </p:spPr>
      </p:sp>
      <p:sp>
        <p:nvSpPr>
          <p:cNvPr id="1234132625" name="Shape 23"/>
          <p:cNvSpPr/>
          <p:nvPr/>
        </p:nvSpPr>
        <p:spPr bwMode="auto">
          <a:xfrm>
            <a:off x="0" y="2139696"/>
            <a:ext cx="12191695" cy="0"/>
          </a:xfrm>
          <a:prstGeom prst="line">
            <a:avLst/>
          </a:prstGeom>
          <a:noFill/>
          <a:ln w="4445">
            <a:solidFill>
              <a:srgbClr val="132020">
                <a:alpha val="38000"/>
              </a:srgbClr>
            </a:solidFill>
            <a:prstDash val="solid"/>
          </a:ln>
        </p:spPr>
      </p:sp>
      <p:sp>
        <p:nvSpPr>
          <p:cNvPr id="144572927" name="Shape 24"/>
          <p:cNvSpPr/>
          <p:nvPr/>
        </p:nvSpPr>
        <p:spPr bwMode="auto">
          <a:xfrm>
            <a:off x="0" y="2852928"/>
            <a:ext cx="12191695" cy="0"/>
          </a:xfrm>
          <a:prstGeom prst="line">
            <a:avLst/>
          </a:prstGeom>
          <a:noFill/>
          <a:ln w="4445">
            <a:solidFill>
              <a:srgbClr val="132020">
                <a:alpha val="38000"/>
              </a:srgbClr>
            </a:solidFill>
            <a:prstDash val="solid"/>
          </a:ln>
        </p:spPr>
      </p:sp>
      <p:sp>
        <p:nvSpPr>
          <p:cNvPr id="1633836737" name="Shape 25"/>
          <p:cNvSpPr/>
          <p:nvPr/>
        </p:nvSpPr>
        <p:spPr bwMode="auto">
          <a:xfrm>
            <a:off x="0" y="3566160"/>
            <a:ext cx="12191695" cy="0"/>
          </a:xfrm>
          <a:prstGeom prst="line">
            <a:avLst/>
          </a:prstGeom>
          <a:noFill/>
          <a:ln w="4445">
            <a:solidFill>
              <a:srgbClr val="132020">
                <a:alpha val="38000"/>
              </a:srgbClr>
            </a:solidFill>
            <a:prstDash val="solid"/>
          </a:ln>
        </p:spPr>
      </p:sp>
      <p:sp>
        <p:nvSpPr>
          <p:cNvPr id="731862055" name="Shape 26"/>
          <p:cNvSpPr/>
          <p:nvPr/>
        </p:nvSpPr>
        <p:spPr bwMode="auto">
          <a:xfrm>
            <a:off x="0" y="4279392"/>
            <a:ext cx="12191695" cy="0"/>
          </a:xfrm>
          <a:prstGeom prst="line">
            <a:avLst/>
          </a:prstGeom>
          <a:noFill/>
          <a:ln w="4445">
            <a:solidFill>
              <a:srgbClr val="132020">
                <a:alpha val="38000"/>
              </a:srgbClr>
            </a:solidFill>
            <a:prstDash val="solid"/>
          </a:ln>
        </p:spPr>
      </p:sp>
      <p:sp>
        <p:nvSpPr>
          <p:cNvPr id="2071806028" name="Shape 27"/>
          <p:cNvSpPr/>
          <p:nvPr/>
        </p:nvSpPr>
        <p:spPr bwMode="auto">
          <a:xfrm>
            <a:off x="0" y="4992624"/>
            <a:ext cx="12191695" cy="0"/>
          </a:xfrm>
          <a:prstGeom prst="line">
            <a:avLst/>
          </a:prstGeom>
          <a:noFill/>
          <a:ln w="4445">
            <a:solidFill>
              <a:srgbClr val="132020">
                <a:alpha val="38000"/>
              </a:srgbClr>
            </a:solidFill>
            <a:prstDash val="solid"/>
          </a:ln>
        </p:spPr>
      </p:sp>
      <p:sp>
        <p:nvSpPr>
          <p:cNvPr id="2014807372" name="Shape 28"/>
          <p:cNvSpPr/>
          <p:nvPr/>
        </p:nvSpPr>
        <p:spPr bwMode="auto">
          <a:xfrm>
            <a:off x="0" y="5705856"/>
            <a:ext cx="12191695" cy="0"/>
          </a:xfrm>
          <a:prstGeom prst="line">
            <a:avLst/>
          </a:prstGeom>
          <a:noFill/>
          <a:ln w="4445">
            <a:solidFill>
              <a:srgbClr val="132020">
                <a:alpha val="38000"/>
              </a:srgbClr>
            </a:solidFill>
            <a:prstDash val="solid"/>
          </a:ln>
        </p:spPr>
      </p:sp>
      <p:sp>
        <p:nvSpPr>
          <p:cNvPr id="1737458103" name="Shape 29"/>
          <p:cNvSpPr/>
          <p:nvPr/>
        </p:nvSpPr>
        <p:spPr bwMode="auto">
          <a:xfrm>
            <a:off x="0" y="6419088"/>
            <a:ext cx="12191695" cy="0"/>
          </a:xfrm>
          <a:prstGeom prst="line">
            <a:avLst/>
          </a:prstGeom>
          <a:noFill/>
          <a:ln w="4445">
            <a:solidFill>
              <a:srgbClr val="132020">
                <a:alpha val="38000"/>
              </a:srgbClr>
            </a:solidFill>
            <a:prstDash val="solid"/>
          </a:ln>
        </p:spPr>
      </p:sp>
      <p:sp>
        <p:nvSpPr>
          <p:cNvPr id="2147412503" name="Shape 30"/>
          <p:cNvSpPr/>
          <p:nvPr/>
        </p:nvSpPr>
        <p:spPr bwMode="auto">
          <a:xfrm>
            <a:off x="0" y="0"/>
            <a:ext cx="82296" cy="6858000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pic>
        <p:nvPicPr>
          <p:cNvPr id="2079339145" name="Image 0" descr="/home/fanff/fanfan/ML/NLP_coolyeah/TA/ppt_nuxt_movies/assets/generated/nuxt-movies-logo.png"/>
          <p:cNvPicPr>
            <a:picLocks noChangeAspect="1"/>
          </p:cNvPicPr>
          <p:nvPr/>
        </p:nvPicPr>
        <p:blipFill rotWithShape="1">
          <a:blip r:embed="rId3">
            <a:alphaModFix amt="94000"/>
          </a:blip>
          <a:stretch/>
        </p:blipFill>
        <p:spPr bwMode="auto">
          <a:xfrm>
            <a:off x="11356848" y="237744"/>
            <a:ext cx="411480" cy="411480"/>
          </a:xfrm>
          <a:prstGeom prst="rect">
            <a:avLst/>
          </a:prstGeom>
        </p:spPr>
      </p:pic>
      <p:sp>
        <p:nvSpPr>
          <p:cNvPr id="1744623929" name="Text 31"/>
          <p:cNvSpPr/>
          <p:nvPr/>
        </p:nvSpPr>
        <p:spPr bwMode="auto">
          <a:xfrm>
            <a:off x="548640" y="329184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000" b="1">
                <a:solidFill>
                  <a:srgbClr val="F4F7F6"/>
                </a:solidFill>
                <a:latin typeface="Georgia"/>
                <a:ea typeface="Georgia"/>
                <a:cs typeface="Georgia"/>
              </a:rPr>
              <a:t>Preprocessing Teks</a:t>
            </a:r>
            <a:endParaRPr lang="en-US" sz="2000"/>
          </a:p>
        </p:txBody>
      </p:sp>
      <p:sp>
        <p:nvSpPr>
          <p:cNvPr id="1291463666" name="Shape 32"/>
          <p:cNvSpPr/>
          <p:nvPr/>
        </p:nvSpPr>
        <p:spPr bwMode="auto">
          <a:xfrm>
            <a:off x="548640" y="804672"/>
            <a:ext cx="1828800" cy="0"/>
          </a:xfrm>
          <a:prstGeom prst="line">
            <a:avLst/>
          </a:prstGeom>
          <a:noFill/>
          <a:ln w="25400">
            <a:solidFill>
              <a:srgbClr val="24D6C3"/>
            </a:solidFill>
            <a:prstDash val="solid"/>
          </a:ln>
        </p:spPr>
      </p:sp>
      <p:sp>
        <p:nvSpPr>
          <p:cNvPr id="671968727" name="Shape 33"/>
          <p:cNvSpPr/>
          <p:nvPr/>
        </p:nvSpPr>
        <p:spPr bwMode="auto">
          <a:xfrm>
            <a:off x="868680" y="1261872"/>
            <a:ext cx="73152" cy="73152"/>
          </a:xfrm>
          <a:prstGeom prst="ellipse">
            <a:avLst/>
          </a:prstGeom>
          <a:solidFill>
            <a:srgbClr val="24D6C3"/>
          </a:solidFill>
          <a:ln w="12700">
            <a:solidFill>
              <a:srgbClr val="24D6C3"/>
            </a:solidFill>
            <a:prstDash val="solid"/>
          </a:ln>
        </p:spPr>
      </p:sp>
      <p:sp>
        <p:nvSpPr>
          <p:cNvPr id="1137656534" name="Text 34"/>
          <p:cNvSpPr/>
          <p:nvPr/>
        </p:nvSpPr>
        <p:spPr bwMode="auto">
          <a:xfrm>
            <a:off x="1033272" y="1188720"/>
            <a:ext cx="4572000" cy="2286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400">
                <a:solidFill>
                  <a:srgbClr val="F4F7F6"/>
                </a:solidFill>
              </a:rPr>
              <a:t>HTML unescape</a:t>
            </a:r>
            <a:endParaRPr lang="en-US" sz="1400"/>
          </a:p>
        </p:txBody>
      </p:sp>
      <p:sp>
        <p:nvSpPr>
          <p:cNvPr id="685562424" name="Shape 35"/>
          <p:cNvSpPr/>
          <p:nvPr/>
        </p:nvSpPr>
        <p:spPr bwMode="auto">
          <a:xfrm>
            <a:off x="868680" y="1764792"/>
            <a:ext cx="73152" cy="73152"/>
          </a:xfrm>
          <a:prstGeom prst="ellipse">
            <a:avLst/>
          </a:prstGeom>
          <a:solidFill>
            <a:srgbClr val="24D6C3"/>
          </a:solidFill>
          <a:ln w="12700">
            <a:solidFill>
              <a:srgbClr val="24D6C3"/>
            </a:solidFill>
            <a:prstDash val="solid"/>
          </a:ln>
        </p:spPr>
      </p:sp>
      <p:sp>
        <p:nvSpPr>
          <p:cNvPr id="1557147334" name="Text 36"/>
          <p:cNvSpPr/>
          <p:nvPr/>
        </p:nvSpPr>
        <p:spPr bwMode="auto">
          <a:xfrm>
            <a:off x="1033272" y="1691640"/>
            <a:ext cx="4572000" cy="2286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400">
                <a:solidFill>
                  <a:srgbClr val="F4F7F6"/>
                </a:solidFill>
              </a:rPr>
              <a:t>Menghapus tag HTML seperti &lt;br /&gt;</a:t>
            </a:r>
            <a:endParaRPr lang="en-US" sz="1400"/>
          </a:p>
        </p:txBody>
      </p:sp>
      <p:sp>
        <p:nvSpPr>
          <p:cNvPr id="375289915" name="Shape 37"/>
          <p:cNvSpPr/>
          <p:nvPr/>
        </p:nvSpPr>
        <p:spPr bwMode="auto">
          <a:xfrm>
            <a:off x="868680" y="2267712"/>
            <a:ext cx="73152" cy="73152"/>
          </a:xfrm>
          <a:prstGeom prst="ellipse">
            <a:avLst/>
          </a:prstGeom>
          <a:solidFill>
            <a:srgbClr val="24D6C3"/>
          </a:solidFill>
          <a:ln w="12700">
            <a:solidFill>
              <a:srgbClr val="24D6C3"/>
            </a:solidFill>
            <a:prstDash val="solid"/>
          </a:ln>
        </p:spPr>
      </p:sp>
      <p:sp>
        <p:nvSpPr>
          <p:cNvPr id="56377616" name="Text 38"/>
          <p:cNvSpPr/>
          <p:nvPr/>
        </p:nvSpPr>
        <p:spPr bwMode="auto">
          <a:xfrm>
            <a:off x="1033272" y="2194560"/>
            <a:ext cx="4572000" cy="2286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400">
                <a:solidFill>
                  <a:srgbClr val="F4F7F6"/>
                </a:solidFill>
              </a:rPr>
              <a:t>Normalisasi whitespace</a:t>
            </a:r>
            <a:endParaRPr lang="en-US" sz="1400"/>
          </a:p>
        </p:txBody>
      </p:sp>
      <p:sp>
        <p:nvSpPr>
          <p:cNvPr id="39638260" name="Shape 39"/>
          <p:cNvSpPr/>
          <p:nvPr/>
        </p:nvSpPr>
        <p:spPr bwMode="auto">
          <a:xfrm>
            <a:off x="868680" y="2770632"/>
            <a:ext cx="73152" cy="73152"/>
          </a:xfrm>
          <a:prstGeom prst="ellipse">
            <a:avLst/>
          </a:prstGeom>
          <a:solidFill>
            <a:srgbClr val="24D6C3"/>
          </a:solidFill>
          <a:ln w="12700">
            <a:solidFill>
              <a:srgbClr val="24D6C3"/>
            </a:solidFill>
            <a:prstDash val="solid"/>
          </a:ln>
        </p:spPr>
      </p:sp>
      <p:sp>
        <p:nvSpPr>
          <p:cNvPr id="1255925441" name="Text 40"/>
          <p:cNvSpPr/>
          <p:nvPr/>
        </p:nvSpPr>
        <p:spPr bwMode="auto">
          <a:xfrm>
            <a:off x="1033272" y="2697480"/>
            <a:ext cx="4572000" cy="2286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400">
                <a:solidFill>
                  <a:srgbClr val="F4F7F6"/>
                </a:solidFill>
              </a:rPr>
              <a:t>Lowercase dan strip accents pada TF-IDF</a:t>
            </a:r>
            <a:endParaRPr lang="en-US" sz="1400"/>
          </a:p>
        </p:txBody>
      </p:sp>
      <p:sp>
        <p:nvSpPr>
          <p:cNvPr id="1224629894" name="Shape 41"/>
          <p:cNvSpPr/>
          <p:nvPr/>
        </p:nvSpPr>
        <p:spPr bwMode="auto">
          <a:xfrm>
            <a:off x="868680" y="3273552"/>
            <a:ext cx="73152" cy="73152"/>
          </a:xfrm>
          <a:prstGeom prst="ellipse">
            <a:avLst/>
          </a:prstGeom>
          <a:solidFill>
            <a:srgbClr val="24D6C3"/>
          </a:solidFill>
          <a:ln w="12700">
            <a:solidFill>
              <a:srgbClr val="24D6C3"/>
            </a:solidFill>
            <a:prstDash val="solid"/>
          </a:ln>
        </p:spPr>
      </p:sp>
      <p:sp>
        <p:nvSpPr>
          <p:cNvPr id="1305220516" name="Text 42"/>
          <p:cNvSpPr/>
          <p:nvPr/>
        </p:nvSpPr>
        <p:spPr bwMode="auto">
          <a:xfrm>
            <a:off x="1033272" y="3200400"/>
            <a:ext cx="4572000" cy="2286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400">
                <a:solidFill>
                  <a:srgbClr val="F4F7F6"/>
                </a:solidFill>
              </a:rPr>
              <a:t>Stop words English</a:t>
            </a:r>
            <a:endParaRPr lang="en-US" sz="1400"/>
          </a:p>
        </p:txBody>
      </p:sp>
      <p:sp>
        <p:nvSpPr>
          <p:cNvPr id="1397540022" name="Shape 43"/>
          <p:cNvSpPr/>
          <p:nvPr/>
        </p:nvSpPr>
        <p:spPr bwMode="auto">
          <a:xfrm>
            <a:off x="868680" y="3776472"/>
            <a:ext cx="73152" cy="73152"/>
          </a:xfrm>
          <a:prstGeom prst="ellipse">
            <a:avLst/>
          </a:prstGeom>
          <a:solidFill>
            <a:srgbClr val="24D6C3"/>
          </a:solidFill>
          <a:ln w="12700">
            <a:solidFill>
              <a:srgbClr val="24D6C3"/>
            </a:solidFill>
            <a:prstDash val="solid"/>
          </a:ln>
        </p:spPr>
      </p:sp>
      <p:sp>
        <p:nvSpPr>
          <p:cNvPr id="1191299558" name="Text 44"/>
          <p:cNvSpPr/>
          <p:nvPr/>
        </p:nvSpPr>
        <p:spPr bwMode="auto">
          <a:xfrm>
            <a:off x="1033272" y="3703320"/>
            <a:ext cx="4572000" cy="2286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400">
                <a:solidFill>
                  <a:srgbClr val="F4F7F6"/>
                </a:solidFill>
              </a:rPr>
              <a:t>TF-IDF memakai unigram dan bigram</a:t>
            </a:r>
            <a:endParaRPr lang="en-US" sz="1400"/>
          </a:p>
        </p:txBody>
      </p:sp>
      <p:sp>
        <p:nvSpPr>
          <p:cNvPr id="1065758640" name="Shape 45"/>
          <p:cNvSpPr/>
          <p:nvPr/>
        </p:nvSpPr>
        <p:spPr bwMode="auto">
          <a:xfrm>
            <a:off x="5897880" y="1280160"/>
            <a:ext cx="5257800" cy="1965960"/>
          </a:xfrm>
          <a:prstGeom prst="roundRect">
            <a:avLst>
              <a:gd name="adj" fmla="val 3256"/>
            </a:avLst>
          </a:prstGeom>
          <a:solidFill>
            <a:srgbClr val="030606"/>
          </a:solidFill>
          <a:ln w="12700">
            <a:solidFill>
              <a:srgbClr val="263636"/>
            </a:solidFill>
            <a:prstDash val="solid"/>
          </a:ln>
        </p:spPr>
      </p:sp>
      <p:sp>
        <p:nvSpPr>
          <p:cNvPr id="802825437" name="Text 46"/>
          <p:cNvSpPr/>
          <p:nvPr/>
        </p:nvSpPr>
        <p:spPr bwMode="auto">
          <a:xfrm>
            <a:off x="6035039" y="1417320"/>
            <a:ext cx="49834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D6ECE9"/>
                </a:solidFill>
                <a:latin typeface="Courier New"/>
                <a:ea typeface="Courier New"/>
                <a:cs typeface="Courier New"/>
              </a:rPr>
              <a:t>Raw   : A wonderful movie.&lt;br /&gt;&lt;br /&gt;I loved it!</a:t>
            </a:r>
            <a:endParaRPr lang="en-US" sz="950"/>
          </a:p>
          <a:p>
            <a:pPr marL="0" indent="0">
              <a:buNone/>
              <a:defRPr/>
            </a:pPr>
            <a:endParaRPr lang="en-US" sz="950"/>
          </a:p>
          <a:p>
            <a:pPr marL="0" indent="0">
              <a:buNone/>
              <a:defRPr/>
            </a:pPr>
            <a:r>
              <a:rPr lang="en-US" sz="950">
                <a:solidFill>
                  <a:srgbClr val="D6ECE9"/>
                </a:solidFill>
                <a:latin typeface="Courier New"/>
                <a:ea typeface="Courier New"/>
                <a:cs typeface="Courier New"/>
              </a:rPr>
              <a:t>Clean : A wonderful movie. I loved it!</a:t>
            </a:r>
            <a:endParaRPr lang="en-US" sz="950"/>
          </a:p>
        </p:txBody>
      </p:sp>
      <p:sp>
        <p:nvSpPr>
          <p:cNvPr id="434037983" name="Shape 47"/>
          <p:cNvSpPr/>
          <p:nvPr/>
        </p:nvSpPr>
        <p:spPr bwMode="auto">
          <a:xfrm>
            <a:off x="5897880" y="3703320"/>
            <a:ext cx="5257800" cy="1234440"/>
          </a:xfrm>
          <a:prstGeom prst="roundRect">
            <a:avLst>
              <a:gd name="adj" fmla="val 5185"/>
            </a:avLst>
          </a:prstGeom>
          <a:solidFill>
            <a:srgbClr val="111B1B"/>
          </a:solidFill>
          <a:ln w="12700">
            <a:solidFill>
              <a:srgbClr val="253232"/>
            </a:solidFill>
            <a:prstDash val="solid"/>
          </a:ln>
        </p:spPr>
      </p:sp>
      <p:sp>
        <p:nvSpPr>
          <p:cNvPr id="538491658" name="Text 48"/>
          <p:cNvSpPr/>
          <p:nvPr/>
        </p:nvSpPr>
        <p:spPr bwMode="auto">
          <a:xfrm>
            <a:off x="6172200" y="3950208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500" b="1">
                <a:solidFill>
                  <a:srgbClr val="24D6C3"/>
                </a:solidFill>
              </a:rPr>
              <a:t>Tujuan cleaning</a:t>
            </a:r>
            <a:endParaRPr lang="en-US" sz="1500"/>
          </a:p>
        </p:txBody>
      </p:sp>
      <p:sp>
        <p:nvSpPr>
          <p:cNvPr id="408475172" name="Text 49"/>
          <p:cNvSpPr/>
          <p:nvPr/>
        </p:nvSpPr>
        <p:spPr bwMode="auto">
          <a:xfrm>
            <a:off x="6172200" y="4352544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F4F7F6"/>
                </a:solidFill>
              </a:rPr>
              <a:t>Membuat teks lebih konsisten sebelum diubah menjadi fitur numerik oleh TF-IDF.</a:t>
            </a:r>
            <a:endParaRPr lang="en-US" sz="1200"/>
          </a:p>
        </p:txBody>
      </p:sp>
      <p:sp>
        <p:nvSpPr>
          <p:cNvPr id="894855482" name="Text 50"/>
          <p:cNvSpPr/>
          <p:nvPr/>
        </p:nvSpPr>
        <p:spPr bwMode="auto">
          <a:xfrm>
            <a:off x="566928" y="6446520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700">
                <a:solidFill>
                  <a:srgbClr val="9EA8A6"/>
                </a:solidFill>
              </a:rPr>
              <a:t>Nuxt Movies · NLP Sentiment Classification · 06</a:t>
            </a:r>
            <a:endParaRPr lang="en-US" sz="7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7">
    <p:bg>
      <p:bgPr shadeToTitle="0">
        <a:solidFill>
          <a:srgbClr val="050808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60868607" name="Shape 0"/>
          <p:cNvSpPr/>
          <p:nvPr/>
        </p:nvSpPr>
        <p:spPr bwMode="auto">
          <a:xfrm>
            <a:off x="0" y="0"/>
            <a:ext cx="12191695" cy="6858000"/>
          </a:xfrm>
          <a:prstGeom prst="rect">
            <a:avLst/>
          </a:prstGeom>
          <a:solidFill>
            <a:srgbClr val="050808"/>
          </a:solidFill>
          <a:ln w="12700">
            <a:solidFill>
              <a:srgbClr val="050808"/>
            </a:solidFill>
            <a:prstDash val="solid"/>
          </a:ln>
        </p:spPr>
      </p:sp>
      <p:sp>
        <p:nvSpPr>
          <p:cNvPr id="909439501" name="Shape 1"/>
          <p:cNvSpPr/>
          <p:nvPr/>
        </p:nvSpPr>
        <p:spPr bwMode="auto">
          <a:xfrm>
            <a:off x="0" y="0"/>
            <a:ext cx="12191695" cy="6858000"/>
          </a:xfrm>
          <a:prstGeom prst="rect">
            <a:avLst/>
          </a:prstGeom>
          <a:solidFill>
            <a:srgbClr val="071111">
              <a:alpha val="80000"/>
            </a:srgbClr>
          </a:solidFill>
          <a:ln w="12700">
            <a:solidFill>
              <a:srgbClr val="071111">
                <a:alpha val="0"/>
              </a:srgbClr>
            </a:solidFill>
            <a:prstDash val="solid"/>
          </a:ln>
        </p:spPr>
      </p:sp>
      <p:sp>
        <p:nvSpPr>
          <p:cNvPr id="1565347933" name="Shape 2"/>
          <p:cNvSpPr/>
          <p:nvPr/>
        </p:nvSpPr>
        <p:spPr bwMode="auto">
          <a:xfrm>
            <a:off x="0" y="0"/>
            <a:ext cx="0" cy="6858000"/>
          </a:xfrm>
          <a:prstGeom prst="line">
            <a:avLst/>
          </a:prstGeom>
          <a:noFill/>
          <a:ln w="4445">
            <a:solidFill>
              <a:srgbClr val="132020">
                <a:alpha val="45000"/>
              </a:srgbClr>
            </a:solidFill>
            <a:prstDash val="solid"/>
          </a:ln>
        </p:spPr>
      </p:sp>
      <p:sp>
        <p:nvSpPr>
          <p:cNvPr id="1515859617" name="Shape 3"/>
          <p:cNvSpPr/>
          <p:nvPr/>
        </p:nvSpPr>
        <p:spPr bwMode="auto">
          <a:xfrm>
            <a:off x="713232" y="0"/>
            <a:ext cx="0" cy="6858000"/>
          </a:xfrm>
          <a:prstGeom prst="line">
            <a:avLst/>
          </a:prstGeom>
          <a:noFill/>
          <a:ln w="4445">
            <a:solidFill>
              <a:srgbClr val="132020">
                <a:alpha val="45000"/>
              </a:srgbClr>
            </a:solidFill>
            <a:prstDash val="solid"/>
          </a:ln>
        </p:spPr>
      </p:sp>
      <p:sp>
        <p:nvSpPr>
          <p:cNvPr id="287206636" name="Shape 4"/>
          <p:cNvSpPr/>
          <p:nvPr/>
        </p:nvSpPr>
        <p:spPr bwMode="auto">
          <a:xfrm>
            <a:off x="1426464" y="0"/>
            <a:ext cx="0" cy="6858000"/>
          </a:xfrm>
          <a:prstGeom prst="line">
            <a:avLst/>
          </a:prstGeom>
          <a:noFill/>
          <a:ln w="4445">
            <a:solidFill>
              <a:srgbClr val="132020">
                <a:alpha val="45000"/>
              </a:srgbClr>
            </a:solidFill>
            <a:prstDash val="solid"/>
          </a:ln>
        </p:spPr>
      </p:sp>
      <p:sp>
        <p:nvSpPr>
          <p:cNvPr id="1300750092" name="Shape 5"/>
          <p:cNvSpPr/>
          <p:nvPr/>
        </p:nvSpPr>
        <p:spPr bwMode="auto">
          <a:xfrm>
            <a:off x="2139696" y="0"/>
            <a:ext cx="0" cy="6858000"/>
          </a:xfrm>
          <a:prstGeom prst="line">
            <a:avLst/>
          </a:prstGeom>
          <a:noFill/>
          <a:ln w="4445">
            <a:solidFill>
              <a:srgbClr val="132020">
                <a:alpha val="45000"/>
              </a:srgbClr>
            </a:solidFill>
            <a:prstDash val="solid"/>
          </a:ln>
        </p:spPr>
      </p:sp>
      <p:sp>
        <p:nvSpPr>
          <p:cNvPr id="1433351132" name="Shape 6"/>
          <p:cNvSpPr/>
          <p:nvPr/>
        </p:nvSpPr>
        <p:spPr bwMode="auto">
          <a:xfrm>
            <a:off x="2852928" y="0"/>
            <a:ext cx="0" cy="6858000"/>
          </a:xfrm>
          <a:prstGeom prst="line">
            <a:avLst/>
          </a:prstGeom>
          <a:noFill/>
          <a:ln w="4445">
            <a:solidFill>
              <a:srgbClr val="132020">
                <a:alpha val="45000"/>
              </a:srgbClr>
            </a:solidFill>
            <a:prstDash val="solid"/>
          </a:ln>
        </p:spPr>
      </p:sp>
      <p:sp>
        <p:nvSpPr>
          <p:cNvPr id="643970391" name="Shape 7"/>
          <p:cNvSpPr/>
          <p:nvPr/>
        </p:nvSpPr>
        <p:spPr bwMode="auto">
          <a:xfrm>
            <a:off x="3566160" y="0"/>
            <a:ext cx="0" cy="6858000"/>
          </a:xfrm>
          <a:prstGeom prst="line">
            <a:avLst/>
          </a:prstGeom>
          <a:noFill/>
          <a:ln w="4445">
            <a:solidFill>
              <a:srgbClr val="132020">
                <a:alpha val="45000"/>
              </a:srgbClr>
            </a:solidFill>
            <a:prstDash val="solid"/>
          </a:ln>
        </p:spPr>
      </p:sp>
      <p:sp>
        <p:nvSpPr>
          <p:cNvPr id="1513123385" name="Shape 8"/>
          <p:cNvSpPr/>
          <p:nvPr/>
        </p:nvSpPr>
        <p:spPr bwMode="auto">
          <a:xfrm>
            <a:off x="4279392" y="0"/>
            <a:ext cx="0" cy="6858000"/>
          </a:xfrm>
          <a:prstGeom prst="line">
            <a:avLst/>
          </a:prstGeom>
          <a:noFill/>
          <a:ln w="4445">
            <a:solidFill>
              <a:srgbClr val="132020">
                <a:alpha val="45000"/>
              </a:srgbClr>
            </a:solidFill>
            <a:prstDash val="solid"/>
          </a:ln>
        </p:spPr>
      </p:sp>
      <p:sp>
        <p:nvSpPr>
          <p:cNvPr id="892559602" name="Shape 9"/>
          <p:cNvSpPr/>
          <p:nvPr/>
        </p:nvSpPr>
        <p:spPr bwMode="auto">
          <a:xfrm>
            <a:off x="4992624" y="0"/>
            <a:ext cx="0" cy="6858000"/>
          </a:xfrm>
          <a:prstGeom prst="line">
            <a:avLst/>
          </a:prstGeom>
          <a:noFill/>
          <a:ln w="4445">
            <a:solidFill>
              <a:srgbClr val="132020">
                <a:alpha val="45000"/>
              </a:srgbClr>
            </a:solidFill>
            <a:prstDash val="solid"/>
          </a:ln>
        </p:spPr>
      </p:sp>
      <p:sp>
        <p:nvSpPr>
          <p:cNvPr id="1883228782" name="Shape 10"/>
          <p:cNvSpPr/>
          <p:nvPr/>
        </p:nvSpPr>
        <p:spPr bwMode="auto">
          <a:xfrm>
            <a:off x="5705856" y="0"/>
            <a:ext cx="0" cy="6858000"/>
          </a:xfrm>
          <a:prstGeom prst="line">
            <a:avLst/>
          </a:prstGeom>
          <a:noFill/>
          <a:ln w="4445">
            <a:solidFill>
              <a:srgbClr val="132020">
                <a:alpha val="45000"/>
              </a:srgbClr>
            </a:solidFill>
            <a:prstDash val="solid"/>
          </a:ln>
        </p:spPr>
      </p:sp>
      <p:sp>
        <p:nvSpPr>
          <p:cNvPr id="187257238" name="Shape 11"/>
          <p:cNvSpPr/>
          <p:nvPr/>
        </p:nvSpPr>
        <p:spPr bwMode="auto">
          <a:xfrm>
            <a:off x="6419088" y="0"/>
            <a:ext cx="0" cy="6858000"/>
          </a:xfrm>
          <a:prstGeom prst="line">
            <a:avLst/>
          </a:prstGeom>
          <a:noFill/>
          <a:ln w="4445">
            <a:solidFill>
              <a:srgbClr val="132020">
                <a:alpha val="45000"/>
              </a:srgbClr>
            </a:solidFill>
            <a:prstDash val="solid"/>
          </a:ln>
        </p:spPr>
      </p:sp>
      <p:sp>
        <p:nvSpPr>
          <p:cNvPr id="540609861" name="Shape 12"/>
          <p:cNvSpPr/>
          <p:nvPr/>
        </p:nvSpPr>
        <p:spPr bwMode="auto">
          <a:xfrm>
            <a:off x="7132320" y="0"/>
            <a:ext cx="0" cy="6858000"/>
          </a:xfrm>
          <a:prstGeom prst="line">
            <a:avLst/>
          </a:prstGeom>
          <a:noFill/>
          <a:ln w="4445">
            <a:solidFill>
              <a:srgbClr val="132020">
                <a:alpha val="45000"/>
              </a:srgbClr>
            </a:solidFill>
            <a:prstDash val="solid"/>
          </a:ln>
        </p:spPr>
      </p:sp>
      <p:sp>
        <p:nvSpPr>
          <p:cNvPr id="1753617519" name="Shape 13"/>
          <p:cNvSpPr/>
          <p:nvPr/>
        </p:nvSpPr>
        <p:spPr bwMode="auto">
          <a:xfrm>
            <a:off x="7845552" y="0"/>
            <a:ext cx="0" cy="6858000"/>
          </a:xfrm>
          <a:prstGeom prst="line">
            <a:avLst/>
          </a:prstGeom>
          <a:noFill/>
          <a:ln w="4445">
            <a:solidFill>
              <a:srgbClr val="132020">
                <a:alpha val="45000"/>
              </a:srgbClr>
            </a:solidFill>
            <a:prstDash val="solid"/>
          </a:ln>
        </p:spPr>
      </p:sp>
      <p:sp>
        <p:nvSpPr>
          <p:cNvPr id="1210043778" name="Shape 14"/>
          <p:cNvSpPr/>
          <p:nvPr/>
        </p:nvSpPr>
        <p:spPr bwMode="auto">
          <a:xfrm>
            <a:off x="8558784" y="0"/>
            <a:ext cx="0" cy="6858000"/>
          </a:xfrm>
          <a:prstGeom prst="line">
            <a:avLst/>
          </a:prstGeom>
          <a:noFill/>
          <a:ln w="4445">
            <a:solidFill>
              <a:srgbClr val="132020">
                <a:alpha val="45000"/>
              </a:srgbClr>
            </a:solidFill>
            <a:prstDash val="solid"/>
          </a:ln>
        </p:spPr>
      </p:sp>
      <p:sp>
        <p:nvSpPr>
          <p:cNvPr id="713696144" name="Shape 15"/>
          <p:cNvSpPr/>
          <p:nvPr/>
        </p:nvSpPr>
        <p:spPr bwMode="auto">
          <a:xfrm>
            <a:off x="9272016" y="0"/>
            <a:ext cx="0" cy="6858000"/>
          </a:xfrm>
          <a:prstGeom prst="line">
            <a:avLst/>
          </a:prstGeom>
          <a:noFill/>
          <a:ln w="4445">
            <a:solidFill>
              <a:srgbClr val="132020">
                <a:alpha val="45000"/>
              </a:srgbClr>
            </a:solidFill>
            <a:prstDash val="solid"/>
          </a:ln>
        </p:spPr>
      </p:sp>
      <p:sp>
        <p:nvSpPr>
          <p:cNvPr id="1152319224" name="Shape 16"/>
          <p:cNvSpPr/>
          <p:nvPr/>
        </p:nvSpPr>
        <p:spPr bwMode="auto">
          <a:xfrm>
            <a:off x="9985248" y="0"/>
            <a:ext cx="0" cy="6858000"/>
          </a:xfrm>
          <a:prstGeom prst="line">
            <a:avLst/>
          </a:prstGeom>
          <a:noFill/>
          <a:ln w="4445">
            <a:solidFill>
              <a:srgbClr val="132020">
                <a:alpha val="45000"/>
              </a:srgbClr>
            </a:solidFill>
            <a:prstDash val="solid"/>
          </a:ln>
        </p:spPr>
      </p:sp>
      <p:sp>
        <p:nvSpPr>
          <p:cNvPr id="1239608331" name="Shape 17"/>
          <p:cNvSpPr/>
          <p:nvPr/>
        </p:nvSpPr>
        <p:spPr bwMode="auto">
          <a:xfrm>
            <a:off x="10698480" y="0"/>
            <a:ext cx="0" cy="6858000"/>
          </a:xfrm>
          <a:prstGeom prst="line">
            <a:avLst/>
          </a:prstGeom>
          <a:noFill/>
          <a:ln w="4445">
            <a:solidFill>
              <a:srgbClr val="132020">
                <a:alpha val="45000"/>
              </a:srgbClr>
            </a:solidFill>
            <a:prstDash val="solid"/>
          </a:ln>
        </p:spPr>
      </p:sp>
      <p:sp>
        <p:nvSpPr>
          <p:cNvPr id="1530747724" name="Shape 18"/>
          <p:cNvSpPr/>
          <p:nvPr/>
        </p:nvSpPr>
        <p:spPr bwMode="auto">
          <a:xfrm>
            <a:off x="11411712" y="0"/>
            <a:ext cx="0" cy="6858000"/>
          </a:xfrm>
          <a:prstGeom prst="line">
            <a:avLst/>
          </a:prstGeom>
          <a:noFill/>
          <a:ln w="4445">
            <a:solidFill>
              <a:srgbClr val="132020">
                <a:alpha val="45000"/>
              </a:srgbClr>
            </a:solidFill>
            <a:prstDash val="solid"/>
          </a:ln>
        </p:spPr>
      </p:sp>
      <p:sp>
        <p:nvSpPr>
          <p:cNvPr id="423296054" name="Shape 19"/>
          <p:cNvSpPr/>
          <p:nvPr/>
        </p:nvSpPr>
        <p:spPr bwMode="auto">
          <a:xfrm>
            <a:off x="12124943" y="0"/>
            <a:ext cx="0" cy="6858000"/>
          </a:xfrm>
          <a:prstGeom prst="line">
            <a:avLst/>
          </a:prstGeom>
          <a:noFill/>
          <a:ln w="4445">
            <a:solidFill>
              <a:srgbClr val="132020">
                <a:alpha val="45000"/>
              </a:srgbClr>
            </a:solidFill>
            <a:prstDash val="solid"/>
          </a:ln>
        </p:spPr>
      </p:sp>
      <p:sp>
        <p:nvSpPr>
          <p:cNvPr id="574809339" name="Shape 20"/>
          <p:cNvSpPr/>
          <p:nvPr/>
        </p:nvSpPr>
        <p:spPr bwMode="auto">
          <a:xfrm>
            <a:off x="0" y="0"/>
            <a:ext cx="12191695" cy="0"/>
          </a:xfrm>
          <a:prstGeom prst="line">
            <a:avLst/>
          </a:prstGeom>
          <a:noFill/>
          <a:ln w="4445">
            <a:solidFill>
              <a:srgbClr val="132020">
                <a:alpha val="38000"/>
              </a:srgbClr>
            </a:solidFill>
            <a:prstDash val="solid"/>
          </a:ln>
        </p:spPr>
      </p:sp>
      <p:sp>
        <p:nvSpPr>
          <p:cNvPr id="668325089" name="Shape 21"/>
          <p:cNvSpPr/>
          <p:nvPr/>
        </p:nvSpPr>
        <p:spPr bwMode="auto">
          <a:xfrm>
            <a:off x="0" y="713232"/>
            <a:ext cx="12191695" cy="0"/>
          </a:xfrm>
          <a:prstGeom prst="line">
            <a:avLst/>
          </a:prstGeom>
          <a:noFill/>
          <a:ln w="4445">
            <a:solidFill>
              <a:srgbClr val="132020">
                <a:alpha val="38000"/>
              </a:srgbClr>
            </a:solidFill>
            <a:prstDash val="solid"/>
          </a:ln>
        </p:spPr>
      </p:sp>
      <p:sp>
        <p:nvSpPr>
          <p:cNvPr id="530604894" name="Shape 22"/>
          <p:cNvSpPr/>
          <p:nvPr/>
        </p:nvSpPr>
        <p:spPr bwMode="auto">
          <a:xfrm>
            <a:off x="0" y="1426464"/>
            <a:ext cx="12191695" cy="0"/>
          </a:xfrm>
          <a:prstGeom prst="line">
            <a:avLst/>
          </a:prstGeom>
          <a:noFill/>
          <a:ln w="4445">
            <a:solidFill>
              <a:srgbClr val="132020">
                <a:alpha val="38000"/>
              </a:srgbClr>
            </a:solidFill>
            <a:prstDash val="solid"/>
          </a:ln>
        </p:spPr>
      </p:sp>
      <p:sp>
        <p:nvSpPr>
          <p:cNvPr id="269791894" name="Shape 23"/>
          <p:cNvSpPr/>
          <p:nvPr/>
        </p:nvSpPr>
        <p:spPr bwMode="auto">
          <a:xfrm>
            <a:off x="0" y="2139696"/>
            <a:ext cx="12191695" cy="0"/>
          </a:xfrm>
          <a:prstGeom prst="line">
            <a:avLst/>
          </a:prstGeom>
          <a:noFill/>
          <a:ln w="4445">
            <a:solidFill>
              <a:srgbClr val="132020">
                <a:alpha val="38000"/>
              </a:srgbClr>
            </a:solidFill>
            <a:prstDash val="solid"/>
          </a:ln>
        </p:spPr>
      </p:sp>
      <p:sp>
        <p:nvSpPr>
          <p:cNvPr id="2138421717" name="Shape 24"/>
          <p:cNvSpPr/>
          <p:nvPr/>
        </p:nvSpPr>
        <p:spPr bwMode="auto">
          <a:xfrm>
            <a:off x="0" y="2852928"/>
            <a:ext cx="12191695" cy="0"/>
          </a:xfrm>
          <a:prstGeom prst="line">
            <a:avLst/>
          </a:prstGeom>
          <a:noFill/>
          <a:ln w="4445">
            <a:solidFill>
              <a:srgbClr val="132020">
                <a:alpha val="38000"/>
              </a:srgbClr>
            </a:solidFill>
            <a:prstDash val="solid"/>
          </a:ln>
        </p:spPr>
      </p:sp>
      <p:sp>
        <p:nvSpPr>
          <p:cNvPr id="141662459" name="Shape 25"/>
          <p:cNvSpPr/>
          <p:nvPr/>
        </p:nvSpPr>
        <p:spPr bwMode="auto">
          <a:xfrm>
            <a:off x="0" y="3566160"/>
            <a:ext cx="12191695" cy="0"/>
          </a:xfrm>
          <a:prstGeom prst="line">
            <a:avLst/>
          </a:prstGeom>
          <a:noFill/>
          <a:ln w="4445">
            <a:solidFill>
              <a:srgbClr val="132020">
                <a:alpha val="38000"/>
              </a:srgbClr>
            </a:solidFill>
            <a:prstDash val="solid"/>
          </a:ln>
        </p:spPr>
      </p:sp>
      <p:sp>
        <p:nvSpPr>
          <p:cNvPr id="1191982470" name="Shape 26"/>
          <p:cNvSpPr/>
          <p:nvPr/>
        </p:nvSpPr>
        <p:spPr bwMode="auto">
          <a:xfrm>
            <a:off x="0" y="4279392"/>
            <a:ext cx="12191695" cy="0"/>
          </a:xfrm>
          <a:prstGeom prst="line">
            <a:avLst/>
          </a:prstGeom>
          <a:noFill/>
          <a:ln w="4445">
            <a:solidFill>
              <a:srgbClr val="132020">
                <a:alpha val="38000"/>
              </a:srgbClr>
            </a:solidFill>
            <a:prstDash val="solid"/>
          </a:ln>
        </p:spPr>
      </p:sp>
      <p:sp>
        <p:nvSpPr>
          <p:cNvPr id="1591309617" name="Shape 27"/>
          <p:cNvSpPr/>
          <p:nvPr/>
        </p:nvSpPr>
        <p:spPr bwMode="auto">
          <a:xfrm>
            <a:off x="0" y="4992624"/>
            <a:ext cx="12191695" cy="0"/>
          </a:xfrm>
          <a:prstGeom prst="line">
            <a:avLst/>
          </a:prstGeom>
          <a:noFill/>
          <a:ln w="4445">
            <a:solidFill>
              <a:srgbClr val="132020">
                <a:alpha val="38000"/>
              </a:srgbClr>
            </a:solidFill>
            <a:prstDash val="solid"/>
          </a:ln>
        </p:spPr>
      </p:sp>
      <p:sp>
        <p:nvSpPr>
          <p:cNvPr id="1643100562" name="Shape 28"/>
          <p:cNvSpPr/>
          <p:nvPr/>
        </p:nvSpPr>
        <p:spPr bwMode="auto">
          <a:xfrm>
            <a:off x="0" y="5705856"/>
            <a:ext cx="12191695" cy="0"/>
          </a:xfrm>
          <a:prstGeom prst="line">
            <a:avLst/>
          </a:prstGeom>
          <a:noFill/>
          <a:ln w="4445">
            <a:solidFill>
              <a:srgbClr val="132020">
                <a:alpha val="38000"/>
              </a:srgbClr>
            </a:solidFill>
            <a:prstDash val="solid"/>
          </a:ln>
        </p:spPr>
      </p:sp>
      <p:sp>
        <p:nvSpPr>
          <p:cNvPr id="1956256719" name="Shape 29"/>
          <p:cNvSpPr/>
          <p:nvPr/>
        </p:nvSpPr>
        <p:spPr bwMode="auto">
          <a:xfrm>
            <a:off x="0" y="6419088"/>
            <a:ext cx="12191695" cy="0"/>
          </a:xfrm>
          <a:prstGeom prst="line">
            <a:avLst/>
          </a:prstGeom>
          <a:noFill/>
          <a:ln w="4445">
            <a:solidFill>
              <a:srgbClr val="132020">
                <a:alpha val="38000"/>
              </a:srgbClr>
            </a:solidFill>
            <a:prstDash val="solid"/>
          </a:ln>
        </p:spPr>
      </p:sp>
      <p:sp>
        <p:nvSpPr>
          <p:cNvPr id="849052075" name="Shape 30"/>
          <p:cNvSpPr/>
          <p:nvPr/>
        </p:nvSpPr>
        <p:spPr bwMode="auto">
          <a:xfrm>
            <a:off x="0" y="0"/>
            <a:ext cx="82296" cy="6858000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pic>
        <p:nvPicPr>
          <p:cNvPr id="306960316" name="Image 0" descr="/home/fanff/fanfan/ML/NLP_coolyeah/TA/ppt_nuxt_movies/assets/generated/nuxt-movies-logo.png"/>
          <p:cNvPicPr>
            <a:picLocks noChangeAspect="1"/>
          </p:cNvPicPr>
          <p:nvPr/>
        </p:nvPicPr>
        <p:blipFill rotWithShape="1">
          <a:blip r:embed="rId3">
            <a:alphaModFix amt="94000"/>
          </a:blip>
          <a:stretch/>
        </p:blipFill>
        <p:spPr bwMode="auto">
          <a:xfrm>
            <a:off x="11356848" y="237744"/>
            <a:ext cx="411480" cy="411480"/>
          </a:xfrm>
          <a:prstGeom prst="rect">
            <a:avLst/>
          </a:prstGeom>
        </p:spPr>
      </p:pic>
      <p:sp>
        <p:nvSpPr>
          <p:cNvPr id="301833693" name="Text 31"/>
          <p:cNvSpPr/>
          <p:nvPr/>
        </p:nvSpPr>
        <p:spPr bwMode="auto">
          <a:xfrm>
            <a:off x="548640" y="329184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000" b="1">
                <a:solidFill>
                  <a:srgbClr val="F4F7F6"/>
                </a:solidFill>
                <a:latin typeface="Georgia"/>
                <a:ea typeface="Georgia"/>
                <a:cs typeface="Georgia"/>
              </a:rPr>
              <a:t>Eksperimen Model</a:t>
            </a:r>
            <a:endParaRPr lang="en-US" sz="2000"/>
          </a:p>
        </p:txBody>
      </p:sp>
      <p:sp>
        <p:nvSpPr>
          <p:cNvPr id="1587623382" name="Shape 32"/>
          <p:cNvSpPr/>
          <p:nvPr/>
        </p:nvSpPr>
        <p:spPr bwMode="auto">
          <a:xfrm>
            <a:off x="548640" y="804672"/>
            <a:ext cx="1828800" cy="0"/>
          </a:xfrm>
          <a:prstGeom prst="line">
            <a:avLst/>
          </a:prstGeom>
          <a:noFill/>
          <a:ln w="25400">
            <a:solidFill>
              <a:srgbClr val="24D6C3"/>
            </a:solidFill>
            <a:prstDash val="solid"/>
          </a:ln>
        </p:spPr>
      </p:sp>
      <p:sp>
        <p:nvSpPr>
          <p:cNvPr id="1212317101" name="Shape 33"/>
          <p:cNvSpPr/>
          <p:nvPr/>
        </p:nvSpPr>
        <p:spPr bwMode="auto">
          <a:xfrm>
            <a:off x="777240" y="1143000"/>
            <a:ext cx="5577840" cy="2743200"/>
          </a:xfrm>
          <a:prstGeom prst="roundRect">
            <a:avLst>
              <a:gd name="adj" fmla="val 2333"/>
            </a:avLst>
          </a:prstGeom>
          <a:solidFill>
            <a:srgbClr val="0B1111"/>
          </a:solidFill>
          <a:ln w="12700">
            <a:solidFill>
              <a:srgbClr val="253232"/>
            </a:solidFill>
            <a:prstDash val="solid"/>
          </a:ln>
        </p:spPr>
      </p:sp>
      <p:sp>
        <p:nvSpPr>
          <p:cNvPr id="906187019" name="Text 34"/>
          <p:cNvSpPr/>
          <p:nvPr/>
        </p:nvSpPr>
        <p:spPr bwMode="auto">
          <a:xfrm>
            <a:off x="1051560" y="1444752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24D6C3"/>
                </a:solidFill>
              </a:rPr>
              <a:t>Model</a:t>
            </a:r>
            <a:endParaRPr lang="en-US" sz="1100"/>
          </a:p>
        </p:txBody>
      </p:sp>
      <p:sp>
        <p:nvSpPr>
          <p:cNvPr id="1634956890" name="Text 35"/>
          <p:cNvSpPr/>
          <p:nvPr/>
        </p:nvSpPr>
        <p:spPr bwMode="auto">
          <a:xfrm>
            <a:off x="3520440" y="1444752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24D6C3"/>
                </a:solidFill>
              </a:rPr>
              <a:t>Accuracy</a:t>
            </a:r>
            <a:endParaRPr lang="en-US" sz="1100"/>
          </a:p>
        </p:txBody>
      </p:sp>
      <p:sp>
        <p:nvSpPr>
          <p:cNvPr id="1900661642" name="Text 36"/>
          <p:cNvSpPr/>
          <p:nvPr/>
        </p:nvSpPr>
        <p:spPr bwMode="auto">
          <a:xfrm>
            <a:off x="4709160" y="1444752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24D6C3"/>
                </a:solidFill>
              </a:rPr>
              <a:t>F1 positive</a:t>
            </a:r>
            <a:endParaRPr lang="en-US" sz="1100"/>
          </a:p>
        </p:txBody>
      </p:sp>
      <p:sp>
        <p:nvSpPr>
          <p:cNvPr id="1769231645" name="Text 37"/>
          <p:cNvSpPr/>
          <p:nvPr/>
        </p:nvSpPr>
        <p:spPr bwMode="auto">
          <a:xfrm>
            <a:off x="1051560" y="1901952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F4F7F6"/>
                </a:solidFill>
              </a:rPr>
              <a:t>Linear SVC</a:t>
            </a:r>
            <a:endParaRPr lang="en-US" sz="1200"/>
          </a:p>
        </p:txBody>
      </p:sp>
      <p:sp>
        <p:nvSpPr>
          <p:cNvPr id="1058242916" name="Text 38"/>
          <p:cNvSpPr/>
          <p:nvPr/>
        </p:nvSpPr>
        <p:spPr bwMode="auto">
          <a:xfrm>
            <a:off x="3520440" y="1901952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F4F7F6"/>
                </a:solidFill>
              </a:rPr>
              <a:t>0.9123</a:t>
            </a:r>
            <a:endParaRPr lang="en-US" sz="1200"/>
          </a:p>
        </p:txBody>
      </p:sp>
      <p:sp>
        <p:nvSpPr>
          <p:cNvPr id="480563092" name="Text 39"/>
          <p:cNvSpPr/>
          <p:nvPr/>
        </p:nvSpPr>
        <p:spPr bwMode="auto">
          <a:xfrm>
            <a:off x="4709160" y="1901952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F4F7F6"/>
                </a:solidFill>
              </a:rPr>
              <a:t>0.912901</a:t>
            </a:r>
            <a:endParaRPr lang="en-US" sz="1200"/>
          </a:p>
        </p:txBody>
      </p:sp>
      <p:sp>
        <p:nvSpPr>
          <p:cNvPr id="1711517972" name="Text 40"/>
          <p:cNvSpPr/>
          <p:nvPr/>
        </p:nvSpPr>
        <p:spPr bwMode="auto">
          <a:xfrm>
            <a:off x="1051560" y="2432303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F4F7F6"/>
                </a:solidFill>
              </a:rPr>
              <a:t>Logistic Regression</a:t>
            </a:r>
            <a:endParaRPr lang="en-US" sz="1200"/>
          </a:p>
        </p:txBody>
      </p:sp>
      <p:sp>
        <p:nvSpPr>
          <p:cNvPr id="699567154" name="Text 41"/>
          <p:cNvSpPr/>
          <p:nvPr/>
        </p:nvSpPr>
        <p:spPr bwMode="auto">
          <a:xfrm>
            <a:off x="3520440" y="2432303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F4F7F6"/>
                </a:solidFill>
              </a:rPr>
              <a:t>0.9030</a:t>
            </a:r>
            <a:endParaRPr lang="en-US" sz="1200"/>
          </a:p>
        </p:txBody>
      </p:sp>
      <p:sp>
        <p:nvSpPr>
          <p:cNvPr id="1634778817" name="Text 42"/>
          <p:cNvSpPr/>
          <p:nvPr/>
        </p:nvSpPr>
        <p:spPr bwMode="auto">
          <a:xfrm>
            <a:off x="4709160" y="2432303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F4F7F6"/>
                </a:solidFill>
              </a:rPr>
              <a:t>0.904017</a:t>
            </a:r>
            <a:endParaRPr lang="en-US" sz="1200"/>
          </a:p>
        </p:txBody>
      </p:sp>
      <p:sp>
        <p:nvSpPr>
          <p:cNvPr id="1755823445" name="Text 43"/>
          <p:cNvSpPr/>
          <p:nvPr/>
        </p:nvSpPr>
        <p:spPr bwMode="auto">
          <a:xfrm>
            <a:off x="1051560" y="2962656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F4F7F6"/>
                </a:solidFill>
              </a:rPr>
              <a:t>Multinomial NB</a:t>
            </a:r>
            <a:endParaRPr lang="en-US" sz="1200"/>
          </a:p>
        </p:txBody>
      </p:sp>
      <p:sp>
        <p:nvSpPr>
          <p:cNvPr id="1151079116" name="Text 44"/>
          <p:cNvSpPr/>
          <p:nvPr/>
        </p:nvSpPr>
        <p:spPr bwMode="auto">
          <a:xfrm>
            <a:off x="3520440" y="2962656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F4F7F6"/>
                </a:solidFill>
              </a:rPr>
              <a:t>0.8864</a:t>
            </a:r>
            <a:endParaRPr lang="en-US" sz="1200"/>
          </a:p>
        </p:txBody>
      </p:sp>
      <p:sp>
        <p:nvSpPr>
          <p:cNvPr id="1680796878" name="Text 45"/>
          <p:cNvSpPr/>
          <p:nvPr/>
        </p:nvSpPr>
        <p:spPr bwMode="auto">
          <a:xfrm>
            <a:off x="4709160" y="2962656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F4F7F6"/>
                </a:solidFill>
              </a:rPr>
              <a:t>0.886468</a:t>
            </a:r>
            <a:endParaRPr lang="en-US" sz="1200"/>
          </a:p>
        </p:txBody>
      </p:sp>
      <p:sp>
        <p:nvSpPr>
          <p:cNvPr id="847771467" name="Shape 46"/>
          <p:cNvSpPr/>
          <p:nvPr/>
        </p:nvSpPr>
        <p:spPr bwMode="auto">
          <a:xfrm>
            <a:off x="6720840" y="1143000"/>
            <a:ext cx="4480560" cy="2743200"/>
          </a:xfrm>
          <a:prstGeom prst="roundRect">
            <a:avLst>
              <a:gd name="adj" fmla="val 2333"/>
            </a:avLst>
          </a:prstGeom>
          <a:solidFill>
            <a:srgbClr val="0B1111"/>
          </a:solidFill>
          <a:ln w="12700">
            <a:solidFill>
              <a:srgbClr val="253232"/>
            </a:solidFill>
            <a:prstDash val="solid"/>
          </a:ln>
        </p:spPr>
      </p:sp>
      <p:sp>
        <p:nvSpPr>
          <p:cNvPr id="54322406" name="Shape 47"/>
          <p:cNvSpPr/>
          <p:nvPr/>
        </p:nvSpPr>
        <p:spPr bwMode="auto">
          <a:xfrm>
            <a:off x="7059168" y="1645920"/>
            <a:ext cx="73152" cy="73152"/>
          </a:xfrm>
          <a:prstGeom prst="ellipse">
            <a:avLst/>
          </a:prstGeom>
          <a:solidFill>
            <a:srgbClr val="24D6C3"/>
          </a:solidFill>
          <a:ln w="12700">
            <a:solidFill>
              <a:srgbClr val="24D6C3"/>
            </a:solidFill>
            <a:prstDash val="solid"/>
          </a:ln>
        </p:spPr>
      </p:sp>
      <p:sp>
        <p:nvSpPr>
          <p:cNvPr id="1987830871" name="Text 48"/>
          <p:cNvSpPr/>
          <p:nvPr/>
        </p:nvSpPr>
        <p:spPr bwMode="auto">
          <a:xfrm>
            <a:off x="7223760" y="1572768"/>
            <a:ext cx="3703320" cy="2286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250">
                <a:solidFill>
                  <a:srgbClr val="F4F7F6"/>
                </a:solidFill>
              </a:rPr>
              <a:t>Linear SVC memiliki accuracy tertinggi.</a:t>
            </a:r>
            <a:endParaRPr lang="en-US" sz="1250"/>
          </a:p>
        </p:txBody>
      </p:sp>
      <p:sp>
        <p:nvSpPr>
          <p:cNvPr id="1291424964" name="Shape 49"/>
          <p:cNvSpPr/>
          <p:nvPr/>
        </p:nvSpPr>
        <p:spPr bwMode="auto">
          <a:xfrm>
            <a:off x="7059168" y="2148840"/>
            <a:ext cx="73152" cy="73152"/>
          </a:xfrm>
          <a:prstGeom prst="ellipse">
            <a:avLst/>
          </a:prstGeom>
          <a:solidFill>
            <a:srgbClr val="24D6C3"/>
          </a:solidFill>
          <a:ln w="12700">
            <a:solidFill>
              <a:srgbClr val="24D6C3"/>
            </a:solidFill>
            <a:prstDash val="solid"/>
          </a:ln>
        </p:spPr>
      </p:sp>
      <p:sp>
        <p:nvSpPr>
          <p:cNvPr id="887342901" name="Text 50"/>
          <p:cNvSpPr/>
          <p:nvPr/>
        </p:nvSpPr>
        <p:spPr bwMode="auto">
          <a:xfrm>
            <a:off x="7223760" y="2075688"/>
            <a:ext cx="3703320" cy="2286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250">
                <a:solidFill>
                  <a:srgbClr val="F4F7F6"/>
                </a:solidFill>
              </a:rPr>
              <a:t>Logistic Regression dipilih untuk deployment.</a:t>
            </a:r>
            <a:endParaRPr lang="en-US" sz="1250"/>
          </a:p>
        </p:txBody>
      </p:sp>
      <p:sp>
        <p:nvSpPr>
          <p:cNvPr id="1135976973" name="Shape 51"/>
          <p:cNvSpPr/>
          <p:nvPr/>
        </p:nvSpPr>
        <p:spPr bwMode="auto">
          <a:xfrm>
            <a:off x="7059168" y="2651760"/>
            <a:ext cx="73152" cy="73152"/>
          </a:xfrm>
          <a:prstGeom prst="ellipse">
            <a:avLst/>
          </a:prstGeom>
          <a:solidFill>
            <a:srgbClr val="24D6C3"/>
          </a:solidFill>
          <a:ln w="12700">
            <a:solidFill>
              <a:srgbClr val="24D6C3"/>
            </a:solidFill>
            <a:prstDash val="solid"/>
          </a:ln>
        </p:spPr>
      </p:sp>
      <p:sp>
        <p:nvSpPr>
          <p:cNvPr id="1821178893" name="Text 52"/>
          <p:cNvSpPr/>
          <p:nvPr/>
        </p:nvSpPr>
        <p:spPr bwMode="auto">
          <a:xfrm>
            <a:off x="7223760" y="2578608"/>
            <a:ext cx="3703320" cy="2286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250">
                <a:solidFill>
                  <a:srgbClr val="F4F7F6"/>
                </a:solidFill>
              </a:rPr>
              <a:t>Alasan: mendukung predict_proba().</a:t>
            </a:r>
            <a:endParaRPr lang="en-US" sz="1250"/>
          </a:p>
        </p:txBody>
      </p:sp>
      <p:sp>
        <p:nvSpPr>
          <p:cNvPr id="779675634" name="Shape 53"/>
          <p:cNvSpPr/>
          <p:nvPr/>
        </p:nvSpPr>
        <p:spPr bwMode="auto">
          <a:xfrm>
            <a:off x="7059168" y="3154680"/>
            <a:ext cx="73152" cy="73152"/>
          </a:xfrm>
          <a:prstGeom prst="ellipse">
            <a:avLst/>
          </a:prstGeom>
          <a:solidFill>
            <a:srgbClr val="24D6C3"/>
          </a:solidFill>
          <a:ln w="12700">
            <a:solidFill>
              <a:srgbClr val="24D6C3"/>
            </a:solidFill>
            <a:prstDash val="solid"/>
          </a:ln>
        </p:spPr>
      </p:sp>
      <p:sp>
        <p:nvSpPr>
          <p:cNvPr id="1215548686" name="Text 54"/>
          <p:cNvSpPr/>
          <p:nvPr/>
        </p:nvSpPr>
        <p:spPr bwMode="auto">
          <a:xfrm>
            <a:off x="7223760" y="3081528"/>
            <a:ext cx="3703320" cy="2286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250">
                <a:solidFill>
                  <a:srgbClr val="F4F7F6"/>
                </a:solidFill>
              </a:rPr>
              <a:t>API dapat mengembalikan confidence.</a:t>
            </a:r>
            <a:endParaRPr lang="en-US" sz="1250"/>
          </a:p>
        </p:txBody>
      </p:sp>
      <p:sp>
        <p:nvSpPr>
          <p:cNvPr id="1468549430" name="Shape 55"/>
          <p:cNvSpPr/>
          <p:nvPr/>
        </p:nvSpPr>
        <p:spPr bwMode="auto">
          <a:xfrm>
            <a:off x="7059168" y="4434840"/>
            <a:ext cx="1234440" cy="256032"/>
          </a:xfrm>
          <a:prstGeom prst="roundRect">
            <a:avLst>
              <a:gd name="adj" fmla="val 17857"/>
            </a:avLst>
          </a:prstGeom>
          <a:solidFill>
            <a:srgbClr val="24D6C3">
              <a:alpha val="95000"/>
            </a:srgbClr>
          </a:solidFill>
          <a:ln w="10160">
            <a:solidFill>
              <a:srgbClr val="24D6C3">
                <a:alpha val="75000"/>
              </a:srgbClr>
            </a:solidFill>
            <a:prstDash val="solid"/>
          </a:ln>
        </p:spPr>
      </p:sp>
      <p:sp>
        <p:nvSpPr>
          <p:cNvPr id="1380730202" name="Text 56"/>
          <p:cNvSpPr/>
          <p:nvPr/>
        </p:nvSpPr>
        <p:spPr bwMode="auto">
          <a:xfrm>
            <a:off x="7132320" y="4485132"/>
            <a:ext cx="1097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700" b="1">
                <a:solidFill>
                  <a:srgbClr val="021817"/>
                </a:solidFill>
              </a:rPr>
              <a:t>final: Logistic Regression</a:t>
            </a:r>
            <a:endParaRPr lang="en-US" sz="700"/>
          </a:p>
        </p:txBody>
      </p:sp>
      <p:sp>
        <p:nvSpPr>
          <p:cNvPr id="598555007" name="Text 57"/>
          <p:cNvSpPr/>
          <p:nvPr/>
        </p:nvSpPr>
        <p:spPr bwMode="auto">
          <a:xfrm>
            <a:off x="566928" y="6446520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700">
                <a:solidFill>
                  <a:srgbClr val="9EA8A6"/>
                </a:solidFill>
              </a:rPr>
              <a:t>Nuxt Movies · NLP Sentiment Classification · 07</a:t>
            </a:r>
            <a:endParaRPr lang="en-US" sz="7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8">
    <p:bg>
      <p:bgPr shadeToTitle="0">
        <a:solidFill>
          <a:srgbClr val="050808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57089788" name="Shape 0"/>
          <p:cNvSpPr/>
          <p:nvPr/>
        </p:nvSpPr>
        <p:spPr bwMode="auto">
          <a:xfrm>
            <a:off x="0" y="0"/>
            <a:ext cx="12191695" cy="6858000"/>
          </a:xfrm>
          <a:prstGeom prst="rect">
            <a:avLst/>
          </a:prstGeom>
          <a:solidFill>
            <a:srgbClr val="050808"/>
          </a:solidFill>
          <a:ln w="12700">
            <a:solidFill>
              <a:srgbClr val="050808"/>
            </a:solidFill>
            <a:prstDash val="solid"/>
          </a:ln>
        </p:spPr>
      </p:sp>
      <p:sp>
        <p:nvSpPr>
          <p:cNvPr id="1263295586" name="Shape 1"/>
          <p:cNvSpPr/>
          <p:nvPr/>
        </p:nvSpPr>
        <p:spPr bwMode="auto">
          <a:xfrm>
            <a:off x="0" y="0"/>
            <a:ext cx="12191695" cy="6858000"/>
          </a:xfrm>
          <a:prstGeom prst="rect">
            <a:avLst/>
          </a:prstGeom>
          <a:solidFill>
            <a:srgbClr val="071111">
              <a:alpha val="80000"/>
            </a:srgbClr>
          </a:solidFill>
          <a:ln w="12700">
            <a:solidFill>
              <a:srgbClr val="071111">
                <a:alpha val="0"/>
              </a:srgbClr>
            </a:solidFill>
            <a:prstDash val="solid"/>
          </a:ln>
        </p:spPr>
      </p:sp>
      <p:sp>
        <p:nvSpPr>
          <p:cNvPr id="658699352" name="Shape 2"/>
          <p:cNvSpPr/>
          <p:nvPr/>
        </p:nvSpPr>
        <p:spPr bwMode="auto">
          <a:xfrm>
            <a:off x="0" y="0"/>
            <a:ext cx="0" cy="6858000"/>
          </a:xfrm>
          <a:prstGeom prst="line">
            <a:avLst/>
          </a:prstGeom>
          <a:noFill/>
          <a:ln w="4445">
            <a:solidFill>
              <a:srgbClr val="132020">
                <a:alpha val="45000"/>
              </a:srgbClr>
            </a:solidFill>
            <a:prstDash val="solid"/>
          </a:ln>
        </p:spPr>
      </p:sp>
      <p:sp>
        <p:nvSpPr>
          <p:cNvPr id="954896752" name="Shape 3"/>
          <p:cNvSpPr/>
          <p:nvPr/>
        </p:nvSpPr>
        <p:spPr bwMode="auto">
          <a:xfrm>
            <a:off x="713232" y="0"/>
            <a:ext cx="0" cy="6858000"/>
          </a:xfrm>
          <a:prstGeom prst="line">
            <a:avLst/>
          </a:prstGeom>
          <a:noFill/>
          <a:ln w="4445">
            <a:solidFill>
              <a:srgbClr val="132020">
                <a:alpha val="45000"/>
              </a:srgbClr>
            </a:solidFill>
            <a:prstDash val="solid"/>
          </a:ln>
        </p:spPr>
      </p:sp>
      <p:sp>
        <p:nvSpPr>
          <p:cNvPr id="2039379890" name="Shape 4"/>
          <p:cNvSpPr/>
          <p:nvPr/>
        </p:nvSpPr>
        <p:spPr bwMode="auto">
          <a:xfrm>
            <a:off x="1426464" y="0"/>
            <a:ext cx="0" cy="6858000"/>
          </a:xfrm>
          <a:prstGeom prst="line">
            <a:avLst/>
          </a:prstGeom>
          <a:noFill/>
          <a:ln w="4445">
            <a:solidFill>
              <a:srgbClr val="132020">
                <a:alpha val="45000"/>
              </a:srgbClr>
            </a:solidFill>
            <a:prstDash val="solid"/>
          </a:ln>
        </p:spPr>
      </p:sp>
      <p:sp>
        <p:nvSpPr>
          <p:cNvPr id="1150862568" name="Shape 5"/>
          <p:cNvSpPr/>
          <p:nvPr/>
        </p:nvSpPr>
        <p:spPr bwMode="auto">
          <a:xfrm>
            <a:off x="2139696" y="0"/>
            <a:ext cx="0" cy="6858000"/>
          </a:xfrm>
          <a:prstGeom prst="line">
            <a:avLst/>
          </a:prstGeom>
          <a:noFill/>
          <a:ln w="4445">
            <a:solidFill>
              <a:srgbClr val="132020">
                <a:alpha val="45000"/>
              </a:srgbClr>
            </a:solidFill>
            <a:prstDash val="solid"/>
          </a:ln>
        </p:spPr>
      </p:sp>
      <p:sp>
        <p:nvSpPr>
          <p:cNvPr id="1907381383" name="Shape 6"/>
          <p:cNvSpPr/>
          <p:nvPr/>
        </p:nvSpPr>
        <p:spPr bwMode="auto">
          <a:xfrm>
            <a:off x="2852928" y="0"/>
            <a:ext cx="0" cy="6858000"/>
          </a:xfrm>
          <a:prstGeom prst="line">
            <a:avLst/>
          </a:prstGeom>
          <a:noFill/>
          <a:ln w="4445">
            <a:solidFill>
              <a:srgbClr val="132020">
                <a:alpha val="45000"/>
              </a:srgbClr>
            </a:solidFill>
            <a:prstDash val="solid"/>
          </a:ln>
        </p:spPr>
      </p:sp>
      <p:sp>
        <p:nvSpPr>
          <p:cNvPr id="1489827264" name="Shape 7"/>
          <p:cNvSpPr/>
          <p:nvPr/>
        </p:nvSpPr>
        <p:spPr bwMode="auto">
          <a:xfrm>
            <a:off x="3566160" y="0"/>
            <a:ext cx="0" cy="6858000"/>
          </a:xfrm>
          <a:prstGeom prst="line">
            <a:avLst/>
          </a:prstGeom>
          <a:noFill/>
          <a:ln w="4445">
            <a:solidFill>
              <a:srgbClr val="132020">
                <a:alpha val="45000"/>
              </a:srgbClr>
            </a:solidFill>
            <a:prstDash val="solid"/>
          </a:ln>
        </p:spPr>
      </p:sp>
      <p:sp>
        <p:nvSpPr>
          <p:cNvPr id="1713714488" name="Shape 8"/>
          <p:cNvSpPr/>
          <p:nvPr/>
        </p:nvSpPr>
        <p:spPr bwMode="auto">
          <a:xfrm>
            <a:off x="4279392" y="0"/>
            <a:ext cx="0" cy="6858000"/>
          </a:xfrm>
          <a:prstGeom prst="line">
            <a:avLst/>
          </a:prstGeom>
          <a:noFill/>
          <a:ln w="4445">
            <a:solidFill>
              <a:srgbClr val="132020">
                <a:alpha val="45000"/>
              </a:srgbClr>
            </a:solidFill>
            <a:prstDash val="solid"/>
          </a:ln>
        </p:spPr>
      </p:sp>
      <p:sp>
        <p:nvSpPr>
          <p:cNvPr id="1065947169" name="Shape 9"/>
          <p:cNvSpPr/>
          <p:nvPr/>
        </p:nvSpPr>
        <p:spPr bwMode="auto">
          <a:xfrm>
            <a:off x="4992624" y="0"/>
            <a:ext cx="0" cy="6858000"/>
          </a:xfrm>
          <a:prstGeom prst="line">
            <a:avLst/>
          </a:prstGeom>
          <a:noFill/>
          <a:ln w="4445">
            <a:solidFill>
              <a:srgbClr val="132020">
                <a:alpha val="45000"/>
              </a:srgbClr>
            </a:solidFill>
            <a:prstDash val="solid"/>
          </a:ln>
        </p:spPr>
      </p:sp>
      <p:sp>
        <p:nvSpPr>
          <p:cNvPr id="1125976002" name="Shape 10"/>
          <p:cNvSpPr/>
          <p:nvPr/>
        </p:nvSpPr>
        <p:spPr bwMode="auto">
          <a:xfrm>
            <a:off x="5705856" y="0"/>
            <a:ext cx="0" cy="6858000"/>
          </a:xfrm>
          <a:prstGeom prst="line">
            <a:avLst/>
          </a:prstGeom>
          <a:noFill/>
          <a:ln w="4445">
            <a:solidFill>
              <a:srgbClr val="132020">
                <a:alpha val="45000"/>
              </a:srgbClr>
            </a:solidFill>
            <a:prstDash val="solid"/>
          </a:ln>
        </p:spPr>
      </p:sp>
      <p:sp>
        <p:nvSpPr>
          <p:cNvPr id="2112281325" name="Shape 11"/>
          <p:cNvSpPr/>
          <p:nvPr/>
        </p:nvSpPr>
        <p:spPr bwMode="auto">
          <a:xfrm>
            <a:off x="6419088" y="0"/>
            <a:ext cx="0" cy="6858000"/>
          </a:xfrm>
          <a:prstGeom prst="line">
            <a:avLst/>
          </a:prstGeom>
          <a:noFill/>
          <a:ln w="4445">
            <a:solidFill>
              <a:srgbClr val="132020">
                <a:alpha val="45000"/>
              </a:srgbClr>
            </a:solidFill>
            <a:prstDash val="solid"/>
          </a:ln>
        </p:spPr>
      </p:sp>
      <p:sp>
        <p:nvSpPr>
          <p:cNvPr id="2081771519" name="Shape 12"/>
          <p:cNvSpPr/>
          <p:nvPr/>
        </p:nvSpPr>
        <p:spPr bwMode="auto">
          <a:xfrm>
            <a:off x="7132320" y="0"/>
            <a:ext cx="0" cy="6858000"/>
          </a:xfrm>
          <a:prstGeom prst="line">
            <a:avLst/>
          </a:prstGeom>
          <a:noFill/>
          <a:ln w="4445">
            <a:solidFill>
              <a:srgbClr val="132020">
                <a:alpha val="45000"/>
              </a:srgbClr>
            </a:solidFill>
            <a:prstDash val="solid"/>
          </a:ln>
        </p:spPr>
      </p:sp>
      <p:sp>
        <p:nvSpPr>
          <p:cNvPr id="537233931" name="Shape 13"/>
          <p:cNvSpPr/>
          <p:nvPr/>
        </p:nvSpPr>
        <p:spPr bwMode="auto">
          <a:xfrm>
            <a:off x="7845552" y="0"/>
            <a:ext cx="0" cy="6858000"/>
          </a:xfrm>
          <a:prstGeom prst="line">
            <a:avLst/>
          </a:prstGeom>
          <a:noFill/>
          <a:ln w="4445">
            <a:solidFill>
              <a:srgbClr val="132020">
                <a:alpha val="45000"/>
              </a:srgbClr>
            </a:solidFill>
            <a:prstDash val="solid"/>
          </a:ln>
        </p:spPr>
      </p:sp>
      <p:sp>
        <p:nvSpPr>
          <p:cNvPr id="541397838" name="Shape 14"/>
          <p:cNvSpPr/>
          <p:nvPr/>
        </p:nvSpPr>
        <p:spPr bwMode="auto">
          <a:xfrm>
            <a:off x="8558784" y="0"/>
            <a:ext cx="0" cy="6858000"/>
          </a:xfrm>
          <a:prstGeom prst="line">
            <a:avLst/>
          </a:prstGeom>
          <a:noFill/>
          <a:ln w="4445">
            <a:solidFill>
              <a:srgbClr val="132020">
                <a:alpha val="45000"/>
              </a:srgbClr>
            </a:solidFill>
            <a:prstDash val="solid"/>
          </a:ln>
        </p:spPr>
      </p:sp>
      <p:sp>
        <p:nvSpPr>
          <p:cNvPr id="284077053" name="Shape 15"/>
          <p:cNvSpPr/>
          <p:nvPr/>
        </p:nvSpPr>
        <p:spPr bwMode="auto">
          <a:xfrm>
            <a:off x="9272016" y="0"/>
            <a:ext cx="0" cy="6858000"/>
          </a:xfrm>
          <a:prstGeom prst="line">
            <a:avLst/>
          </a:prstGeom>
          <a:noFill/>
          <a:ln w="4445">
            <a:solidFill>
              <a:srgbClr val="132020">
                <a:alpha val="45000"/>
              </a:srgbClr>
            </a:solidFill>
            <a:prstDash val="solid"/>
          </a:ln>
        </p:spPr>
      </p:sp>
      <p:sp>
        <p:nvSpPr>
          <p:cNvPr id="368140531" name="Shape 16"/>
          <p:cNvSpPr/>
          <p:nvPr/>
        </p:nvSpPr>
        <p:spPr bwMode="auto">
          <a:xfrm>
            <a:off x="9985248" y="0"/>
            <a:ext cx="0" cy="6858000"/>
          </a:xfrm>
          <a:prstGeom prst="line">
            <a:avLst/>
          </a:prstGeom>
          <a:noFill/>
          <a:ln w="4445">
            <a:solidFill>
              <a:srgbClr val="132020">
                <a:alpha val="45000"/>
              </a:srgbClr>
            </a:solidFill>
            <a:prstDash val="solid"/>
          </a:ln>
        </p:spPr>
      </p:sp>
      <p:sp>
        <p:nvSpPr>
          <p:cNvPr id="1080453065" name="Shape 17"/>
          <p:cNvSpPr/>
          <p:nvPr/>
        </p:nvSpPr>
        <p:spPr bwMode="auto">
          <a:xfrm>
            <a:off x="10698480" y="0"/>
            <a:ext cx="0" cy="6858000"/>
          </a:xfrm>
          <a:prstGeom prst="line">
            <a:avLst/>
          </a:prstGeom>
          <a:noFill/>
          <a:ln w="4445">
            <a:solidFill>
              <a:srgbClr val="132020">
                <a:alpha val="45000"/>
              </a:srgbClr>
            </a:solidFill>
            <a:prstDash val="solid"/>
          </a:ln>
        </p:spPr>
      </p:sp>
      <p:sp>
        <p:nvSpPr>
          <p:cNvPr id="231471478" name="Shape 18"/>
          <p:cNvSpPr/>
          <p:nvPr/>
        </p:nvSpPr>
        <p:spPr bwMode="auto">
          <a:xfrm>
            <a:off x="11411712" y="0"/>
            <a:ext cx="0" cy="6858000"/>
          </a:xfrm>
          <a:prstGeom prst="line">
            <a:avLst/>
          </a:prstGeom>
          <a:noFill/>
          <a:ln w="4445">
            <a:solidFill>
              <a:srgbClr val="132020">
                <a:alpha val="45000"/>
              </a:srgbClr>
            </a:solidFill>
            <a:prstDash val="solid"/>
          </a:ln>
        </p:spPr>
      </p:sp>
      <p:sp>
        <p:nvSpPr>
          <p:cNvPr id="2078747368" name="Shape 19"/>
          <p:cNvSpPr/>
          <p:nvPr/>
        </p:nvSpPr>
        <p:spPr bwMode="auto">
          <a:xfrm>
            <a:off x="12124943" y="0"/>
            <a:ext cx="0" cy="6858000"/>
          </a:xfrm>
          <a:prstGeom prst="line">
            <a:avLst/>
          </a:prstGeom>
          <a:noFill/>
          <a:ln w="4445">
            <a:solidFill>
              <a:srgbClr val="132020">
                <a:alpha val="45000"/>
              </a:srgbClr>
            </a:solidFill>
            <a:prstDash val="solid"/>
          </a:ln>
        </p:spPr>
      </p:sp>
      <p:sp>
        <p:nvSpPr>
          <p:cNvPr id="307088261" name="Shape 20"/>
          <p:cNvSpPr/>
          <p:nvPr/>
        </p:nvSpPr>
        <p:spPr bwMode="auto">
          <a:xfrm>
            <a:off x="0" y="0"/>
            <a:ext cx="12191695" cy="0"/>
          </a:xfrm>
          <a:prstGeom prst="line">
            <a:avLst/>
          </a:prstGeom>
          <a:noFill/>
          <a:ln w="4445">
            <a:solidFill>
              <a:srgbClr val="132020">
                <a:alpha val="38000"/>
              </a:srgbClr>
            </a:solidFill>
            <a:prstDash val="solid"/>
          </a:ln>
        </p:spPr>
      </p:sp>
      <p:sp>
        <p:nvSpPr>
          <p:cNvPr id="107970844" name="Shape 21"/>
          <p:cNvSpPr/>
          <p:nvPr/>
        </p:nvSpPr>
        <p:spPr bwMode="auto">
          <a:xfrm>
            <a:off x="0" y="713232"/>
            <a:ext cx="12191695" cy="0"/>
          </a:xfrm>
          <a:prstGeom prst="line">
            <a:avLst/>
          </a:prstGeom>
          <a:noFill/>
          <a:ln w="4445">
            <a:solidFill>
              <a:srgbClr val="132020">
                <a:alpha val="38000"/>
              </a:srgbClr>
            </a:solidFill>
            <a:prstDash val="solid"/>
          </a:ln>
        </p:spPr>
      </p:sp>
      <p:sp>
        <p:nvSpPr>
          <p:cNvPr id="1419330889" name="Shape 22"/>
          <p:cNvSpPr/>
          <p:nvPr/>
        </p:nvSpPr>
        <p:spPr bwMode="auto">
          <a:xfrm>
            <a:off x="0" y="1426464"/>
            <a:ext cx="12191695" cy="0"/>
          </a:xfrm>
          <a:prstGeom prst="line">
            <a:avLst/>
          </a:prstGeom>
          <a:noFill/>
          <a:ln w="4445">
            <a:solidFill>
              <a:srgbClr val="132020">
                <a:alpha val="38000"/>
              </a:srgbClr>
            </a:solidFill>
            <a:prstDash val="solid"/>
          </a:ln>
        </p:spPr>
      </p:sp>
      <p:sp>
        <p:nvSpPr>
          <p:cNvPr id="655511122" name="Shape 23"/>
          <p:cNvSpPr/>
          <p:nvPr/>
        </p:nvSpPr>
        <p:spPr bwMode="auto">
          <a:xfrm>
            <a:off x="0" y="2139696"/>
            <a:ext cx="12191695" cy="0"/>
          </a:xfrm>
          <a:prstGeom prst="line">
            <a:avLst/>
          </a:prstGeom>
          <a:noFill/>
          <a:ln w="4445">
            <a:solidFill>
              <a:srgbClr val="132020">
                <a:alpha val="38000"/>
              </a:srgbClr>
            </a:solidFill>
            <a:prstDash val="solid"/>
          </a:ln>
        </p:spPr>
      </p:sp>
      <p:sp>
        <p:nvSpPr>
          <p:cNvPr id="218930618" name="Shape 24"/>
          <p:cNvSpPr/>
          <p:nvPr/>
        </p:nvSpPr>
        <p:spPr bwMode="auto">
          <a:xfrm>
            <a:off x="0" y="2852928"/>
            <a:ext cx="12191695" cy="0"/>
          </a:xfrm>
          <a:prstGeom prst="line">
            <a:avLst/>
          </a:prstGeom>
          <a:noFill/>
          <a:ln w="4445">
            <a:solidFill>
              <a:srgbClr val="132020">
                <a:alpha val="38000"/>
              </a:srgbClr>
            </a:solidFill>
            <a:prstDash val="solid"/>
          </a:ln>
        </p:spPr>
      </p:sp>
      <p:sp>
        <p:nvSpPr>
          <p:cNvPr id="25128341" name="Shape 25"/>
          <p:cNvSpPr/>
          <p:nvPr/>
        </p:nvSpPr>
        <p:spPr bwMode="auto">
          <a:xfrm>
            <a:off x="0" y="3566160"/>
            <a:ext cx="12191695" cy="0"/>
          </a:xfrm>
          <a:prstGeom prst="line">
            <a:avLst/>
          </a:prstGeom>
          <a:noFill/>
          <a:ln w="4445">
            <a:solidFill>
              <a:srgbClr val="132020">
                <a:alpha val="38000"/>
              </a:srgbClr>
            </a:solidFill>
            <a:prstDash val="solid"/>
          </a:ln>
        </p:spPr>
      </p:sp>
      <p:sp>
        <p:nvSpPr>
          <p:cNvPr id="1156664083" name="Shape 26"/>
          <p:cNvSpPr/>
          <p:nvPr/>
        </p:nvSpPr>
        <p:spPr bwMode="auto">
          <a:xfrm>
            <a:off x="0" y="4279392"/>
            <a:ext cx="12191695" cy="0"/>
          </a:xfrm>
          <a:prstGeom prst="line">
            <a:avLst/>
          </a:prstGeom>
          <a:noFill/>
          <a:ln w="4445">
            <a:solidFill>
              <a:srgbClr val="132020">
                <a:alpha val="38000"/>
              </a:srgbClr>
            </a:solidFill>
            <a:prstDash val="solid"/>
          </a:ln>
        </p:spPr>
      </p:sp>
      <p:sp>
        <p:nvSpPr>
          <p:cNvPr id="1290636191" name="Shape 27"/>
          <p:cNvSpPr/>
          <p:nvPr/>
        </p:nvSpPr>
        <p:spPr bwMode="auto">
          <a:xfrm>
            <a:off x="0" y="4992624"/>
            <a:ext cx="12191695" cy="0"/>
          </a:xfrm>
          <a:prstGeom prst="line">
            <a:avLst/>
          </a:prstGeom>
          <a:noFill/>
          <a:ln w="4445">
            <a:solidFill>
              <a:srgbClr val="132020">
                <a:alpha val="38000"/>
              </a:srgbClr>
            </a:solidFill>
            <a:prstDash val="solid"/>
          </a:ln>
        </p:spPr>
      </p:sp>
      <p:sp>
        <p:nvSpPr>
          <p:cNvPr id="900336343" name="Shape 28"/>
          <p:cNvSpPr/>
          <p:nvPr/>
        </p:nvSpPr>
        <p:spPr bwMode="auto">
          <a:xfrm>
            <a:off x="0" y="5705856"/>
            <a:ext cx="12191695" cy="0"/>
          </a:xfrm>
          <a:prstGeom prst="line">
            <a:avLst/>
          </a:prstGeom>
          <a:noFill/>
          <a:ln w="4445">
            <a:solidFill>
              <a:srgbClr val="132020">
                <a:alpha val="38000"/>
              </a:srgbClr>
            </a:solidFill>
            <a:prstDash val="solid"/>
          </a:ln>
        </p:spPr>
      </p:sp>
      <p:sp>
        <p:nvSpPr>
          <p:cNvPr id="713984004" name="Shape 29"/>
          <p:cNvSpPr/>
          <p:nvPr/>
        </p:nvSpPr>
        <p:spPr bwMode="auto">
          <a:xfrm>
            <a:off x="0" y="6419088"/>
            <a:ext cx="12191695" cy="0"/>
          </a:xfrm>
          <a:prstGeom prst="line">
            <a:avLst/>
          </a:prstGeom>
          <a:noFill/>
          <a:ln w="4445">
            <a:solidFill>
              <a:srgbClr val="132020">
                <a:alpha val="38000"/>
              </a:srgbClr>
            </a:solidFill>
            <a:prstDash val="solid"/>
          </a:ln>
        </p:spPr>
      </p:sp>
      <p:sp>
        <p:nvSpPr>
          <p:cNvPr id="1430013172" name="Shape 30"/>
          <p:cNvSpPr/>
          <p:nvPr/>
        </p:nvSpPr>
        <p:spPr bwMode="auto">
          <a:xfrm>
            <a:off x="0" y="0"/>
            <a:ext cx="82296" cy="6858000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pic>
        <p:nvPicPr>
          <p:cNvPr id="987233685" name="Image 0" descr="/home/fanff/fanfan/ML/NLP_coolyeah/TA/ppt_nuxt_movies/assets/generated/nuxt-movies-logo.png"/>
          <p:cNvPicPr>
            <a:picLocks noChangeAspect="1"/>
          </p:cNvPicPr>
          <p:nvPr/>
        </p:nvPicPr>
        <p:blipFill rotWithShape="1">
          <a:blip r:embed="rId3">
            <a:alphaModFix amt="94000"/>
          </a:blip>
          <a:stretch/>
        </p:blipFill>
        <p:spPr bwMode="auto">
          <a:xfrm>
            <a:off x="11356848" y="237744"/>
            <a:ext cx="411480" cy="411480"/>
          </a:xfrm>
          <a:prstGeom prst="rect">
            <a:avLst/>
          </a:prstGeom>
        </p:spPr>
      </p:pic>
      <p:sp>
        <p:nvSpPr>
          <p:cNvPr id="618623336" name="Text 31"/>
          <p:cNvSpPr/>
          <p:nvPr/>
        </p:nvSpPr>
        <p:spPr bwMode="auto">
          <a:xfrm>
            <a:off x="548640" y="329184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000" b="1">
                <a:solidFill>
                  <a:srgbClr val="F4F7F6"/>
                </a:solidFill>
                <a:latin typeface="Georgia"/>
                <a:ea typeface="Georgia"/>
                <a:cs typeface="Georgia"/>
              </a:rPr>
              <a:t>Model Final</a:t>
            </a:r>
            <a:endParaRPr lang="en-US" sz="2000"/>
          </a:p>
        </p:txBody>
      </p:sp>
      <p:sp>
        <p:nvSpPr>
          <p:cNvPr id="2146873562" name="Shape 32"/>
          <p:cNvSpPr/>
          <p:nvPr/>
        </p:nvSpPr>
        <p:spPr bwMode="auto">
          <a:xfrm>
            <a:off x="548640" y="804672"/>
            <a:ext cx="1828800" cy="0"/>
          </a:xfrm>
          <a:prstGeom prst="line">
            <a:avLst/>
          </a:prstGeom>
          <a:noFill/>
          <a:ln w="25400">
            <a:solidFill>
              <a:srgbClr val="24D6C3"/>
            </a:solidFill>
            <a:prstDash val="solid"/>
          </a:ln>
        </p:spPr>
      </p:sp>
      <p:sp>
        <p:nvSpPr>
          <p:cNvPr id="828343186" name="Shape 33"/>
          <p:cNvSpPr/>
          <p:nvPr/>
        </p:nvSpPr>
        <p:spPr bwMode="auto">
          <a:xfrm>
            <a:off x="731520" y="1143000"/>
            <a:ext cx="3657600" cy="4389120"/>
          </a:xfrm>
          <a:prstGeom prst="roundRect">
            <a:avLst>
              <a:gd name="adj" fmla="val 1750"/>
            </a:avLst>
          </a:prstGeom>
          <a:solidFill>
            <a:srgbClr val="0B1111"/>
          </a:solidFill>
          <a:ln w="12700">
            <a:solidFill>
              <a:srgbClr val="253232"/>
            </a:solidFill>
            <a:prstDash val="solid"/>
          </a:ln>
        </p:spPr>
      </p:sp>
      <p:sp>
        <p:nvSpPr>
          <p:cNvPr id="415167992" name="Text 34"/>
          <p:cNvSpPr/>
          <p:nvPr/>
        </p:nvSpPr>
        <p:spPr bwMode="auto">
          <a:xfrm>
            <a:off x="1051560" y="16459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4200" b="1">
                <a:solidFill>
                  <a:srgbClr val="24D6C3"/>
                </a:solidFill>
              </a:rPr>
              <a:t>90.3%</a:t>
            </a:r>
            <a:endParaRPr lang="en-US" sz="4200"/>
          </a:p>
        </p:txBody>
      </p:sp>
      <p:sp>
        <p:nvSpPr>
          <p:cNvPr id="677842795" name="Text 35"/>
          <p:cNvSpPr/>
          <p:nvPr/>
        </p:nvSpPr>
        <p:spPr bwMode="auto">
          <a:xfrm>
            <a:off x="1078992" y="230428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>
                <a:solidFill>
                  <a:srgbClr val="9EA8A6"/>
                </a:solidFill>
              </a:rPr>
              <a:t>Accuracy model final</a:t>
            </a:r>
            <a:endParaRPr lang="en-US" sz="1300"/>
          </a:p>
        </p:txBody>
      </p:sp>
      <p:sp>
        <p:nvSpPr>
          <p:cNvPr id="579614589" name="Text 36"/>
          <p:cNvSpPr/>
          <p:nvPr/>
        </p:nvSpPr>
        <p:spPr bwMode="auto">
          <a:xfrm>
            <a:off x="1078992" y="2880360"/>
            <a:ext cx="2788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F4F7F6"/>
                </a:solidFill>
              </a:rPr>
              <a:t>Macro F1: 0.902989</a:t>
            </a:r>
            <a:endParaRPr lang="en-US" sz="1200"/>
          </a:p>
          <a:p>
            <a:pPr marL="0" indent="0">
              <a:buNone/>
              <a:defRPr/>
            </a:pPr>
            <a:r>
              <a:rPr lang="en-US" sz="1200">
                <a:solidFill>
                  <a:srgbClr val="F4F7F6"/>
                </a:solidFill>
              </a:rPr>
              <a:t>Weighted F1: 0.902989</a:t>
            </a:r>
            <a:endParaRPr lang="en-US" sz="1200"/>
          </a:p>
          <a:p>
            <a:pPr marL="0" indent="0">
              <a:buNone/>
              <a:defRPr/>
            </a:pPr>
            <a:r>
              <a:rPr lang="en-US" sz="1200">
                <a:solidFill>
                  <a:srgbClr val="F4F7F6"/>
                </a:solidFill>
              </a:rPr>
              <a:t>Model: tfidf_logistic_regression</a:t>
            </a:r>
            <a:endParaRPr lang="en-US" sz="1200"/>
          </a:p>
          <a:p>
            <a:pPr marL="0" indent="0">
              <a:buNone/>
              <a:defRPr/>
            </a:pPr>
            <a:r>
              <a:rPr lang="en-US" sz="1200">
                <a:solidFill>
                  <a:srgbClr val="F4F7F6"/>
                </a:solidFill>
              </a:rPr>
              <a:t>Pipeline: TfidfVectorizer + LogisticRegression</a:t>
            </a:r>
            <a:endParaRPr lang="en-US" sz="1200"/>
          </a:p>
        </p:txBody>
      </p:sp>
      <p:sp>
        <p:nvSpPr>
          <p:cNvPr id="829556685" name="Shape 37"/>
          <p:cNvSpPr/>
          <p:nvPr/>
        </p:nvSpPr>
        <p:spPr bwMode="auto">
          <a:xfrm>
            <a:off x="4800600" y="1143000"/>
            <a:ext cx="6355080" cy="4389120"/>
          </a:xfrm>
          <a:prstGeom prst="roundRect">
            <a:avLst>
              <a:gd name="adj" fmla="val 1458"/>
            </a:avLst>
          </a:prstGeom>
          <a:solidFill>
            <a:srgbClr val="0B1111"/>
          </a:solidFill>
          <a:ln w="12700">
            <a:solidFill>
              <a:srgbClr val="253232"/>
            </a:solidFill>
            <a:prstDash val="solid"/>
          </a:ln>
        </p:spPr>
      </p:sp>
      <p:sp>
        <p:nvSpPr>
          <p:cNvPr id="6631684" name="Text 38"/>
          <p:cNvSpPr/>
          <p:nvPr/>
        </p:nvSpPr>
        <p:spPr bwMode="auto">
          <a:xfrm>
            <a:off x="5230368" y="1691640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24D6C3"/>
                </a:solidFill>
              </a:rPr>
              <a:t>Label</a:t>
            </a:r>
            <a:endParaRPr lang="en-US" sz="1100"/>
          </a:p>
        </p:txBody>
      </p:sp>
      <p:sp>
        <p:nvSpPr>
          <p:cNvPr id="1817674636" name="Text 39"/>
          <p:cNvSpPr/>
          <p:nvPr/>
        </p:nvSpPr>
        <p:spPr bwMode="auto">
          <a:xfrm>
            <a:off x="6647687" y="1691640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24D6C3"/>
                </a:solidFill>
              </a:rPr>
              <a:t>Precision</a:t>
            </a:r>
            <a:endParaRPr lang="en-US" sz="1100"/>
          </a:p>
        </p:txBody>
      </p:sp>
      <p:sp>
        <p:nvSpPr>
          <p:cNvPr id="40773019" name="Text 40"/>
          <p:cNvSpPr/>
          <p:nvPr/>
        </p:nvSpPr>
        <p:spPr bwMode="auto">
          <a:xfrm>
            <a:off x="8065008" y="1691640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24D6C3"/>
                </a:solidFill>
              </a:rPr>
              <a:t>Recall</a:t>
            </a:r>
            <a:endParaRPr lang="en-US" sz="1100"/>
          </a:p>
        </p:txBody>
      </p:sp>
      <p:sp>
        <p:nvSpPr>
          <p:cNvPr id="1603053247" name="Text 41"/>
          <p:cNvSpPr/>
          <p:nvPr/>
        </p:nvSpPr>
        <p:spPr bwMode="auto">
          <a:xfrm>
            <a:off x="9482328" y="1691640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24D6C3"/>
                </a:solidFill>
              </a:rPr>
              <a:t>F1</a:t>
            </a:r>
            <a:endParaRPr lang="en-US" sz="1100"/>
          </a:p>
        </p:txBody>
      </p:sp>
      <p:sp>
        <p:nvSpPr>
          <p:cNvPr id="441217965" name="Text 42"/>
          <p:cNvSpPr/>
          <p:nvPr/>
        </p:nvSpPr>
        <p:spPr bwMode="auto">
          <a:xfrm>
            <a:off x="5230368" y="2286000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>
                <a:solidFill>
                  <a:srgbClr val="F4F7F6"/>
                </a:solidFill>
              </a:rPr>
              <a:t>negative</a:t>
            </a:r>
            <a:endParaRPr lang="en-US" sz="1300"/>
          </a:p>
        </p:txBody>
      </p:sp>
      <p:sp>
        <p:nvSpPr>
          <p:cNvPr id="2127750861" name="Text 43"/>
          <p:cNvSpPr/>
          <p:nvPr/>
        </p:nvSpPr>
        <p:spPr bwMode="auto">
          <a:xfrm>
            <a:off x="6647687" y="2286000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>
                <a:solidFill>
                  <a:srgbClr val="F4F7F6"/>
                </a:solidFill>
              </a:rPr>
              <a:t>0.91</a:t>
            </a:r>
            <a:endParaRPr lang="en-US" sz="1300"/>
          </a:p>
        </p:txBody>
      </p:sp>
      <p:sp>
        <p:nvSpPr>
          <p:cNvPr id="548194241" name="Text 44"/>
          <p:cNvSpPr/>
          <p:nvPr/>
        </p:nvSpPr>
        <p:spPr bwMode="auto">
          <a:xfrm>
            <a:off x="8065008" y="2286000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>
                <a:solidFill>
                  <a:srgbClr val="F4F7F6"/>
                </a:solidFill>
              </a:rPr>
              <a:t>0.89</a:t>
            </a:r>
            <a:endParaRPr lang="en-US" sz="1300"/>
          </a:p>
        </p:txBody>
      </p:sp>
      <p:sp>
        <p:nvSpPr>
          <p:cNvPr id="1391513798" name="Text 45"/>
          <p:cNvSpPr/>
          <p:nvPr/>
        </p:nvSpPr>
        <p:spPr bwMode="auto">
          <a:xfrm>
            <a:off x="9482328" y="2286000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>
                <a:solidFill>
                  <a:srgbClr val="F4F7F6"/>
                </a:solidFill>
              </a:rPr>
              <a:t>0.90</a:t>
            </a:r>
            <a:endParaRPr lang="en-US" sz="1300"/>
          </a:p>
        </p:txBody>
      </p:sp>
      <p:sp>
        <p:nvSpPr>
          <p:cNvPr id="617712141" name="Text 46"/>
          <p:cNvSpPr/>
          <p:nvPr/>
        </p:nvSpPr>
        <p:spPr bwMode="auto">
          <a:xfrm>
            <a:off x="5230368" y="2880360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>
                <a:solidFill>
                  <a:srgbClr val="F4F7F6"/>
                </a:solidFill>
              </a:rPr>
              <a:t>positive</a:t>
            </a:r>
            <a:endParaRPr lang="en-US" sz="1300"/>
          </a:p>
        </p:txBody>
      </p:sp>
      <p:sp>
        <p:nvSpPr>
          <p:cNvPr id="563599796" name="Text 47"/>
          <p:cNvSpPr/>
          <p:nvPr/>
        </p:nvSpPr>
        <p:spPr bwMode="auto">
          <a:xfrm>
            <a:off x="6647687" y="2880360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>
                <a:solidFill>
                  <a:srgbClr val="F4F7F6"/>
                </a:solidFill>
              </a:rPr>
              <a:t>0.89</a:t>
            </a:r>
            <a:endParaRPr lang="en-US" sz="1300"/>
          </a:p>
        </p:txBody>
      </p:sp>
      <p:sp>
        <p:nvSpPr>
          <p:cNvPr id="1112017050" name="Text 48"/>
          <p:cNvSpPr/>
          <p:nvPr/>
        </p:nvSpPr>
        <p:spPr bwMode="auto">
          <a:xfrm>
            <a:off x="8065008" y="2880360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>
                <a:solidFill>
                  <a:srgbClr val="F4F7F6"/>
                </a:solidFill>
              </a:rPr>
              <a:t>0.91</a:t>
            </a:r>
            <a:endParaRPr lang="en-US" sz="1300"/>
          </a:p>
        </p:txBody>
      </p:sp>
      <p:sp>
        <p:nvSpPr>
          <p:cNvPr id="743137574" name="Text 49"/>
          <p:cNvSpPr/>
          <p:nvPr/>
        </p:nvSpPr>
        <p:spPr bwMode="auto">
          <a:xfrm>
            <a:off x="9482328" y="2880360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>
                <a:solidFill>
                  <a:srgbClr val="F4F7F6"/>
                </a:solidFill>
              </a:rPr>
              <a:t>0.90</a:t>
            </a:r>
            <a:endParaRPr lang="en-US" sz="1300"/>
          </a:p>
        </p:txBody>
      </p:sp>
      <p:sp>
        <p:nvSpPr>
          <p:cNvPr id="160552734" name="Text 50"/>
          <p:cNvSpPr/>
          <p:nvPr/>
        </p:nvSpPr>
        <p:spPr bwMode="auto">
          <a:xfrm>
            <a:off x="5230368" y="4160519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9EA8A6"/>
                </a:solidFill>
              </a:rPr>
              <a:t>Artefak model diekspor sebagai .joblib dan dimuat oleh FastAPI.</a:t>
            </a:r>
            <a:endParaRPr lang="en-US" sz="1200"/>
          </a:p>
        </p:txBody>
      </p:sp>
      <p:sp>
        <p:nvSpPr>
          <p:cNvPr id="34810379" name="Text 51"/>
          <p:cNvSpPr/>
          <p:nvPr/>
        </p:nvSpPr>
        <p:spPr bwMode="auto">
          <a:xfrm>
            <a:off x="566928" y="6446520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700">
                <a:solidFill>
                  <a:srgbClr val="9EA8A6"/>
                </a:solidFill>
              </a:rPr>
              <a:t>Nuxt Movies · NLP Sentiment Classification · 08</a:t>
            </a:r>
            <a:endParaRPr lang="en-US" sz="7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9">
    <p:bg>
      <p:bgPr shadeToTitle="0">
        <a:solidFill>
          <a:srgbClr val="050808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58585607" name="Shape 0"/>
          <p:cNvSpPr/>
          <p:nvPr/>
        </p:nvSpPr>
        <p:spPr bwMode="auto">
          <a:xfrm>
            <a:off x="0" y="0"/>
            <a:ext cx="12191695" cy="6858000"/>
          </a:xfrm>
          <a:prstGeom prst="rect">
            <a:avLst/>
          </a:prstGeom>
          <a:solidFill>
            <a:srgbClr val="050808"/>
          </a:solidFill>
          <a:ln w="12700">
            <a:solidFill>
              <a:srgbClr val="050808"/>
            </a:solidFill>
            <a:prstDash val="solid"/>
          </a:ln>
        </p:spPr>
      </p:sp>
      <p:sp>
        <p:nvSpPr>
          <p:cNvPr id="365069952" name="Shape 1"/>
          <p:cNvSpPr/>
          <p:nvPr/>
        </p:nvSpPr>
        <p:spPr bwMode="auto">
          <a:xfrm>
            <a:off x="0" y="0"/>
            <a:ext cx="12191695" cy="6858000"/>
          </a:xfrm>
          <a:prstGeom prst="rect">
            <a:avLst/>
          </a:prstGeom>
          <a:solidFill>
            <a:srgbClr val="071111">
              <a:alpha val="80000"/>
            </a:srgbClr>
          </a:solidFill>
          <a:ln w="12700">
            <a:solidFill>
              <a:srgbClr val="071111">
                <a:alpha val="0"/>
              </a:srgbClr>
            </a:solidFill>
            <a:prstDash val="solid"/>
          </a:ln>
        </p:spPr>
      </p:sp>
      <p:sp>
        <p:nvSpPr>
          <p:cNvPr id="361054084" name="Shape 2"/>
          <p:cNvSpPr/>
          <p:nvPr/>
        </p:nvSpPr>
        <p:spPr bwMode="auto">
          <a:xfrm>
            <a:off x="0" y="0"/>
            <a:ext cx="0" cy="6858000"/>
          </a:xfrm>
          <a:prstGeom prst="line">
            <a:avLst/>
          </a:prstGeom>
          <a:noFill/>
          <a:ln w="4445">
            <a:solidFill>
              <a:srgbClr val="132020">
                <a:alpha val="45000"/>
              </a:srgbClr>
            </a:solidFill>
            <a:prstDash val="solid"/>
          </a:ln>
        </p:spPr>
      </p:sp>
      <p:sp>
        <p:nvSpPr>
          <p:cNvPr id="965565724" name="Shape 3"/>
          <p:cNvSpPr/>
          <p:nvPr/>
        </p:nvSpPr>
        <p:spPr bwMode="auto">
          <a:xfrm>
            <a:off x="713232" y="0"/>
            <a:ext cx="0" cy="6858000"/>
          </a:xfrm>
          <a:prstGeom prst="line">
            <a:avLst/>
          </a:prstGeom>
          <a:noFill/>
          <a:ln w="4445">
            <a:solidFill>
              <a:srgbClr val="132020">
                <a:alpha val="45000"/>
              </a:srgbClr>
            </a:solidFill>
            <a:prstDash val="solid"/>
          </a:ln>
        </p:spPr>
      </p:sp>
      <p:sp>
        <p:nvSpPr>
          <p:cNvPr id="24487703" name="Shape 4"/>
          <p:cNvSpPr/>
          <p:nvPr/>
        </p:nvSpPr>
        <p:spPr bwMode="auto">
          <a:xfrm>
            <a:off x="1426464" y="0"/>
            <a:ext cx="0" cy="6858000"/>
          </a:xfrm>
          <a:prstGeom prst="line">
            <a:avLst/>
          </a:prstGeom>
          <a:noFill/>
          <a:ln w="4445">
            <a:solidFill>
              <a:srgbClr val="132020">
                <a:alpha val="45000"/>
              </a:srgbClr>
            </a:solidFill>
            <a:prstDash val="solid"/>
          </a:ln>
        </p:spPr>
      </p:sp>
      <p:sp>
        <p:nvSpPr>
          <p:cNvPr id="17163299" name="Shape 5"/>
          <p:cNvSpPr/>
          <p:nvPr/>
        </p:nvSpPr>
        <p:spPr bwMode="auto">
          <a:xfrm>
            <a:off x="2139696" y="0"/>
            <a:ext cx="0" cy="6858000"/>
          </a:xfrm>
          <a:prstGeom prst="line">
            <a:avLst/>
          </a:prstGeom>
          <a:noFill/>
          <a:ln w="4445">
            <a:solidFill>
              <a:srgbClr val="132020">
                <a:alpha val="45000"/>
              </a:srgbClr>
            </a:solidFill>
            <a:prstDash val="solid"/>
          </a:ln>
        </p:spPr>
      </p:sp>
      <p:sp>
        <p:nvSpPr>
          <p:cNvPr id="160188162" name="Shape 6"/>
          <p:cNvSpPr/>
          <p:nvPr/>
        </p:nvSpPr>
        <p:spPr bwMode="auto">
          <a:xfrm>
            <a:off x="2852928" y="0"/>
            <a:ext cx="0" cy="6858000"/>
          </a:xfrm>
          <a:prstGeom prst="line">
            <a:avLst/>
          </a:prstGeom>
          <a:noFill/>
          <a:ln w="4445">
            <a:solidFill>
              <a:srgbClr val="132020">
                <a:alpha val="45000"/>
              </a:srgbClr>
            </a:solidFill>
            <a:prstDash val="solid"/>
          </a:ln>
        </p:spPr>
      </p:sp>
      <p:sp>
        <p:nvSpPr>
          <p:cNvPr id="1584733586" name="Shape 7"/>
          <p:cNvSpPr/>
          <p:nvPr/>
        </p:nvSpPr>
        <p:spPr bwMode="auto">
          <a:xfrm>
            <a:off x="3566160" y="0"/>
            <a:ext cx="0" cy="6858000"/>
          </a:xfrm>
          <a:prstGeom prst="line">
            <a:avLst/>
          </a:prstGeom>
          <a:noFill/>
          <a:ln w="4445">
            <a:solidFill>
              <a:srgbClr val="132020">
                <a:alpha val="45000"/>
              </a:srgbClr>
            </a:solidFill>
            <a:prstDash val="solid"/>
          </a:ln>
        </p:spPr>
      </p:sp>
      <p:sp>
        <p:nvSpPr>
          <p:cNvPr id="1763742577" name="Shape 8"/>
          <p:cNvSpPr/>
          <p:nvPr/>
        </p:nvSpPr>
        <p:spPr bwMode="auto">
          <a:xfrm>
            <a:off x="4279392" y="0"/>
            <a:ext cx="0" cy="6858000"/>
          </a:xfrm>
          <a:prstGeom prst="line">
            <a:avLst/>
          </a:prstGeom>
          <a:noFill/>
          <a:ln w="4445">
            <a:solidFill>
              <a:srgbClr val="132020">
                <a:alpha val="45000"/>
              </a:srgbClr>
            </a:solidFill>
            <a:prstDash val="solid"/>
          </a:ln>
        </p:spPr>
      </p:sp>
      <p:sp>
        <p:nvSpPr>
          <p:cNvPr id="1374763438" name="Shape 9"/>
          <p:cNvSpPr/>
          <p:nvPr/>
        </p:nvSpPr>
        <p:spPr bwMode="auto">
          <a:xfrm>
            <a:off x="4992624" y="0"/>
            <a:ext cx="0" cy="6858000"/>
          </a:xfrm>
          <a:prstGeom prst="line">
            <a:avLst/>
          </a:prstGeom>
          <a:noFill/>
          <a:ln w="4445">
            <a:solidFill>
              <a:srgbClr val="132020">
                <a:alpha val="45000"/>
              </a:srgbClr>
            </a:solidFill>
            <a:prstDash val="solid"/>
          </a:ln>
        </p:spPr>
      </p:sp>
      <p:sp>
        <p:nvSpPr>
          <p:cNvPr id="902953453" name="Shape 10"/>
          <p:cNvSpPr/>
          <p:nvPr/>
        </p:nvSpPr>
        <p:spPr bwMode="auto">
          <a:xfrm>
            <a:off x="5705856" y="0"/>
            <a:ext cx="0" cy="6858000"/>
          </a:xfrm>
          <a:prstGeom prst="line">
            <a:avLst/>
          </a:prstGeom>
          <a:noFill/>
          <a:ln w="4445">
            <a:solidFill>
              <a:srgbClr val="132020">
                <a:alpha val="45000"/>
              </a:srgbClr>
            </a:solidFill>
            <a:prstDash val="solid"/>
          </a:ln>
        </p:spPr>
      </p:sp>
      <p:sp>
        <p:nvSpPr>
          <p:cNvPr id="514015558" name="Shape 11"/>
          <p:cNvSpPr/>
          <p:nvPr/>
        </p:nvSpPr>
        <p:spPr bwMode="auto">
          <a:xfrm>
            <a:off x="6419088" y="0"/>
            <a:ext cx="0" cy="6858000"/>
          </a:xfrm>
          <a:prstGeom prst="line">
            <a:avLst/>
          </a:prstGeom>
          <a:noFill/>
          <a:ln w="4445">
            <a:solidFill>
              <a:srgbClr val="132020">
                <a:alpha val="45000"/>
              </a:srgbClr>
            </a:solidFill>
            <a:prstDash val="solid"/>
          </a:ln>
        </p:spPr>
      </p:sp>
      <p:sp>
        <p:nvSpPr>
          <p:cNvPr id="2001124106" name="Shape 12"/>
          <p:cNvSpPr/>
          <p:nvPr/>
        </p:nvSpPr>
        <p:spPr bwMode="auto">
          <a:xfrm>
            <a:off x="7132320" y="0"/>
            <a:ext cx="0" cy="6858000"/>
          </a:xfrm>
          <a:prstGeom prst="line">
            <a:avLst/>
          </a:prstGeom>
          <a:noFill/>
          <a:ln w="4445">
            <a:solidFill>
              <a:srgbClr val="132020">
                <a:alpha val="45000"/>
              </a:srgbClr>
            </a:solidFill>
            <a:prstDash val="solid"/>
          </a:ln>
        </p:spPr>
      </p:sp>
      <p:sp>
        <p:nvSpPr>
          <p:cNvPr id="686417803" name="Shape 13"/>
          <p:cNvSpPr/>
          <p:nvPr/>
        </p:nvSpPr>
        <p:spPr bwMode="auto">
          <a:xfrm>
            <a:off x="7845552" y="0"/>
            <a:ext cx="0" cy="6858000"/>
          </a:xfrm>
          <a:prstGeom prst="line">
            <a:avLst/>
          </a:prstGeom>
          <a:noFill/>
          <a:ln w="4445">
            <a:solidFill>
              <a:srgbClr val="132020">
                <a:alpha val="45000"/>
              </a:srgbClr>
            </a:solidFill>
            <a:prstDash val="solid"/>
          </a:ln>
        </p:spPr>
      </p:sp>
      <p:sp>
        <p:nvSpPr>
          <p:cNvPr id="965650358" name="Shape 14"/>
          <p:cNvSpPr/>
          <p:nvPr/>
        </p:nvSpPr>
        <p:spPr bwMode="auto">
          <a:xfrm>
            <a:off x="8558784" y="0"/>
            <a:ext cx="0" cy="6858000"/>
          </a:xfrm>
          <a:prstGeom prst="line">
            <a:avLst/>
          </a:prstGeom>
          <a:noFill/>
          <a:ln w="4445">
            <a:solidFill>
              <a:srgbClr val="132020">
                <a:alpha val="45000"/>
              </a:srgbClr>
            </a:solidFill>
            <a:prstDash val="solid"/>
          </a:ln>
        </p:spPr>
      </p:sp>
      <p:sp>
        <p:nvSpPr>
          <p:cNvPr id="96256206" name="Shape 15"/>
          <p:cNvSpPr/>
          <p:nvPr/>
        </p:nvSpPr>
        <p:spPr bwMode="auto">
          <a:xfrm>
            <a:off x="9272016" y="0"/>
            <a:ext cx="0" cy="6858000"/>
          </a:xfrm>
          <a:prstGeom prst="line">
            <a:avLst/>
          </a:prstGeom>
          <a:noFill/>
          <a:ln w="4445">
            <a:solidFill>
              <a:srgbClr val="132020">
                <a:alpha val="45000"/>
              </a:srgbClr>
            </a:solidFill>
            <a:prstDash val="solid"/>
          </a:ln>
        </p:spPr>
      </p:sp>
      <p:sp>
        <p:nvSpPr>
          <p:cNvPr id="931431405" name="Shape 16"/>
          <p:cNvSpPr/>
          <p:nvPr/>
        </p:nvSpPr>
        <p:spPr bwMode="auto">
          <a:xfrm>
            <a:off x="9985248" y="0"/>
            <a:ext cx="0" cy="6858000"/>
          </a:xfrm>
          <a:prstGeom prst="line">
            <a:avLst/>
          </a:prstGeom>
          <a:noFill/>
          <a:ln w="4445">
            <a:solidFill>
              <a:srgbClr val="132020">
                <a:alpha val="45000"/>
              </a:srgbClr>
            </a:solidFill>
            <a:prstDash val="solid"/>
          </a:ln>
        </p:spPr>
      </p:sp>
      <p:sp>
        <p:nvSpPr>
          <p:cNvPr id="2100215730" name="Shape 17"/>
          <p:cNvSpPr/>
          <p:nvPr/>
        </p:nvSpPr>
        <p:spPr bwMode="auto">
          <a:xfrm>
            <a:off x="10698480" y="0"/>
            <a:ext cx="0" cy="6858000"/>
          </a:xfrm>
          <a:prstGeom prst="line">
            <a:avLst/>
          </a:prstGeom>
          <a:noFill/>
          <a:ln w="4445">
            <a:solidFill>
              <a:srgbClr val="132020">
                <a:alpha val="45000"/>
              </a:srgbClr>
            </a:solidFill>
            <a:prstDash val="solid"/>
          </a:ln>
        </p:spPr>
      </p:sp>
      <p:sp>
        <p:nvSpPr>
          <p:cNvPr id="930459393" name="Shape 18"/>
          <p:cNvSpPr/>
          <p:nvPr/>
        </p:nvSpPr>
        <p:spPr bwMode="auto">
          <a:xfrm>
            <a:off x="11411712" y="0"/>
            <a:ext cx="0" cy="6858000"/>
          </a:xfrm>
          <a:prstGeom prst="line">
            <a:avLst/>
          </a:prstGeom>
          <a:noFill/>
          <a:ln w="4445">
            <a:solidFill>
              <a:srgbClr val="132020">
                <a:alpha val="45000"/>
              </a:srgbClr>
            </a:solidFill>
            <a:prstDash val="solid"/>
          </a:ln>
        </p:spPr>
      </p:sp>
      <p:sp>
        <p:nvSpPr>
          <p:cNvPr id="401469142" name="Shape 19"/>
          <p:cNvSpPr/>
          <p:nvPr/>
        </p:nvSpPr>
        <p:spPr bwMode="auto">
          <a:xfrm>
            <a:off x="12124943" y="0"/>
            <a:ext cx="0" cy="6858000"/>
          </a:xfrm>
          <a:prstGeom prst="line">
            <a:avLst/>
          </a:prstGeom>
          <a:noFill/>
          <a:ln w="4445">
            <a:solidFill>
              <a:srgbClr val="132020">
                <a:alpha val="45000"/>
              </a:srgbClr>
            </a:solidFill>
            <a:prstDash val="solid"/>
          </a:ln>
        </p:spPr>
      </p:sp>
      <p:sp>
        <p:nvSpPr>
          <p:cNvPr id="309460261" name="Shape 20"/>
          <p:cNvSpPr/>
          <p:nvPr/>
        </p:nvSpPr>
        <p:spPr bwMode="auto">
          <a:xfrm>
            <a:off x="0" y="0"/>
            <a:ext cx="12191695" cy="0"/>
          </a:xfrm>
          <a:prstGeom prst="line">
            <a:avLst/>
          </a:prstGeom>
          <a:noFill/>
          <a:ln w="4445">
            <a:solidFill>
              <a:srgbClr val="132020">
                <a:alpha val="38000"/>
              </a:srgbClr>
            </a:solidFill>
            <a:prstDash val="solid"/>
          </a:ln>
        </p:spPr>
      </p:sp>
      <p:sp>
        <p:nvSpPr>
          <p:cNvPr id="751748250" name="Shape 21"/>
          <p:cNvSpPr/>
          <p:nvPr/>
        </p:nvSpPr>
        <p:spPr bwMode="auto">
          <a:xfrm>
            <a:off x="0" y="713232"/>
            <a:ext cx="12191695" cy="0"/>
          </a:xfrm>
          <a:prstGeom prst="line">
            <a:avLst/>
          </a:prstGeom>
          <a:noFill/>
          <a:ln w="4445">
            <a:solidFill>
              <a:srgbClr val="132020">
                <a:alpha val="38000"/>
              </a:srgbClr>
            </a:solidFill>
            <a:prstDash val="solid"/>
          </a:ln>
        </p:spPr>
      </p:sp>
      <p:sp>
        <p:nvSpPr>
          <p:cNvPr id="1806096384" name="Shape 22"/>
          <p:cNvSpPr/>
          <p:nvPr/>
        </p:nvSpPr>
        <p:spPr bwMode="auto">
          <a:xfrm>
            <a:off x="0" y="1426464"/>
            <a:ext cx="12191695" cy="0"/>
          </a:xfrm>
          <a:prstGeom prst="line">
            <a:avLst/>
          </a:prstGeom>
          <a:noFill/>
          <a:ln w="4445">
            <a:solidFill>
              <a:srgbClr val="132020">
                <a:alpha val="38000"/>
              </a:srgbClr>
            </a:solidFill>
            <a:prstDash val="solid"/>
          </a:ln>
        </p:spPr>
      </p:sp>
      <p:sp>
        <p:nvSpPr>
          <p:cNvPr id="494355728" name="Shape 23"/>
          <p:cNvSpPr/>
          <p:nvPr/>
        </p:nvSpPr>
        <p:spPr bwMode="auto">
          <a:xfrm>
            <a:off x="0" y="2139696"/>
            <a:ext cx="12191695" cy="0"/>
          </a:xfrm>
          <a:prstGeom prst="line">
            <a:avLst/>
          </a:prstGeom>
          <a:noFill/>
          <a:ln w="4445">
            <a:solidFill>
              <a:srgbClr val="132020">
                <a:alpha val="38000"/>
              </a:srgbClr>
            </a:solidFill>
            <a:prstDash val="solid"/>
          </a:ln>
        </p:spPr>
      </p:sp>
      <p:sp>
        <p:nvSpPr>
          <p:cNvPr id="659604207" name="Shape 24"/>
          <p:cNvSpPr/>
          <p:nvPr/>
        </p:nvSpPr>
        <p:spPr bwMode="auto">
          <a:xfrm>
            <a:off x="0" y="2852928"/>
            <a:ext cx="12191695" cy="0"/>
          </a:xfrm>
          <a:prstGeom prst="line">
            <a:avLst/>
          </a:prstGeom>
          <a:noFill/>
          <a:ln w="4445">
            <a:solidFill>
              <a:srgbClr val="132020">
                <a:alpha val="38000"/>
              </a:srgbClr>
            </a:solidFill>
            <a:prstDash val="solid"/>
          </a:ln>
        </p:spPr>
      </p:sp>
      <p:sp>
        <p:nvSpPr>
          <p:cNvPr id="1673960975" name="Shape 25"/>
          <p:cNvSpPr/>
          <p:nvPr/>
        </p:nvSpPr>
        <p:spPr bwMode="auto">
          <a:xfrm>
            <a:off x="0" y="3566160"/>
            <a:ext cx="12191695" cy="0"/>
          </a:xfrm>
          <a:prstGeom prst="line">
            <a:avLst/>
          </a:prstGeom>
          <a:noFill/>
          <a:ln w="4445">
            <a:solidFill>
              <a:srgbClr val="132020">
                <a:alpha val="38000"/>
              </a:srgbClr>
            </a:solidFill>
            <a:prstDash val="solid"/>
          </a:ln>
        </p:spPr>
      </p:sp>
      <p:sp>
        <p:nvSpPr>
          <p:cNvPr id="2011608218" name="Shape 26"/>
          <p:cNvSpPr/>
          <p:nvPr/>
        </p:nvSpPr>
        <p:spPr bwMode="auto">
          <a:xfrm>
            <a:off x="0" y="4279392"/>
            <a:ext cx="12191695" cy="0"/>
          </a:xfrm>
          <a:prstGeom prst="line">
            <a:avLst/>
          </a:prstGeom>
          <a:noFill/>
          <a:ln w="4445">
            <a:solidFill>
              <a:srgbClr val="132020">
                <a:alpha val="38000"/>
              </a:srgbClr>
            </a:solidFill>
            <a:prstDash val="solid"/>
          </a:ln>
        </p:spPr>
      </p:sp>
      <p:sp>
        <p:nvSpPr>
          <p:cNvPr id="1733202630" name="Shape 27"/>
          <p:cNvSpPr/>
          <p:nvPr/>
        </p:nvSpPr>
        <p:spPr bwMode="auto">
          <a:xfrm>
            <a:off x="0" y="4992624"/>
            <a:ext cx="12191695" cy="0"/>
          </a:xfrm>
          <a:prstGeom prst="line">
            <a:avLst/>
          </a:prstGeom>
          <a:noFill/>
          <a:ln w="4445">
            <a:solidFill>
              <a:srgbClr val="132020">
                <a:alpha val="38000"/>
              </a:srgbClr>
            </a:solidFill>
            <a:prstDash val="solid"/>
          </a:ln>
        </p:spPr>
      </p:sp>
      <p:sp>
        <p:nvSpPr>
          <p:cNvPr id="1806557478" name="Shape 28"/>
          <p:cNvSpPr/>
          <p:nvPr/>
        </p:nvSpPr>
        <p:spPr bwMode="auto">
          <a:xfrm>
            <a:off x="0" y="5705856"/>
            <a:ext cx="12191695" cy="0"/>
          </a:xfrm>
          <a:prstGeom prst="line">
            <a:avLst/>
          </a:prstGeom>
          <a:noFill/>
          <a:ln w="4445">
            <a:solidFill>
              <a:srgbClr val="132020">
                <a:alpha val="38000"/>
              </a:srgbClr>
            </a:solidFill>
            <a:prstDash val="solid"/>
          </a:ln>
        </p:spPr>
      </p:sp>
      <p:sp>
        <p:nvSpPr>
          <p:cNvPr id="1089267339" name="Shape 29"/>
          <p:cNvSpPr/>
          <p:nvPr/>
        </p:nvSpPr>
        <p:spPr bwMode="auto">
          <a:xfrm>
            <a:off x="0" y="6419088"/>
            <a:ext cx="12191695" cy="0"/>
          </a:xfrm>
          <a:prstGeom prst="line">
            <a:avLst/>
          </a:prstGeom>
          <a:noFill/>
          <a:ln w="4445">
            <a:solidFill>
              <a:srgbClr val="132020">
                <a:alpha val="38000"/>
              </a:srgbClr>
            </a:solidFill>
            <a:prstDash val="solid"/>
          </a:ln>
        </p:spPr>
      </p:sp>
      <p:sp>
        <p:nvSpPr>
          <p:cNvPr id="21772627" name="Shape 30"/>
          <p:cNvSpPr/>
          <p:nvPr/>
        </p:nvSpPr>
        <p:spPr bwMode="auto">
          <a:xfrm>
            <a:off x="0" y="0"/>
            <a:ext cx="82296" cy="6858000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pic>
        <p:nvPicPr>
          <p:cNvPr id="1655541333" name="Image 0" descr="/home/fanff/fanfan/ML/NLP_coolyeah/TA/ppt_nuxt_movies/assets/generated/nuxt-movies-logo.png"/>
          <p:cNvPicPr>
            <a:picLocks noChangeAspect="1"/>
          </p:cNvPicPr>
          <p:nvPr/>
        </p:nvPicPr>
        <p:blipFill rotWithShape="1">
          <a:blip r:embed="rId3">
            <a:alphaModFix amt="94000"/>
          </a:blip>
          <a:stretch/>
        </p:blipFill>
        <p:spPr bwMode="auto">
          <a:xfrm>
            <a:off x="11356848" y="237744"/>
            <a:ext cx="411480" cy="411480"/>
          </a:xfrm>
          <a:prstGeom prst="rect">
            <a:avLst/>
          </a:prstGeom>
        </p:spPr>
      </p:pic>
      <p:sp>
        <p:nvSpPr>
          <p:cNvPr id="1252255365" name="Text 31"/>
          <p:cNvSpPr/>
          <p:nvPr/>
        </p:nvSpPr>
        <p:spPr bwMode="auto">
          <a:xfrm>
            <a:off x="548640" y="329184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000" b="1">
                <a:solidFill>
                  <a:srgbClr val="F4F7F6"/>
                </a:solidFill>
                <a:latin typeface="Georgia"/>
                <a:ea typeface="Georgia"/>
                <a:cs typeface="Georgia"/>
              </a:rPr>
              <a:t>API Model FastAPI</a:t>
            </a:r>
            <a:endParaRPr lang="en-US" sz="2000"/>
          </a:p>
        </p:txBody>
      </p:sp>
      <p:sp>
        <p:nvSpPr>
          <p:cNvPr id="704870597" name="Shape 32"/>
          <p:cNvSpPr/>
          <p:nvPr/>
        </p:nvSpPr>
        <p:spPr bwMode="auto">
          <a:xfrm>
            <a:off x="548640" y="804672"/>
            <a:ext cx="1828800" cy="0"/>
          </a:xfrm>
          <a:prstGeom prst="line">
            <a:avLst/>
          </a:prstGeom>
          <a:noFill/>
          <a:ln w="25400">
            <a:solidFill>
              <a:srgbClr val="24D6C3"/>
            </a:solidFill>
            <a:prstDash val="solid"/>
          </a:ln>
        </p:spPr>
      </p:sp>
      <p:sp>
        <p:nvSpPr>
          <p:cNvPr id="1350697964" name="Shape 33"/>
          <p:cNvSpPr/>
          <p:nvPr/>
        </p:nvSpPr>
        <p:spPr bwMode="auto">
          <a:xfrm>
            <a:off x="777240" y="1143000"/>
            <a:ext cx="4251960" cy="1417320"/>
          </a:xfrm>
          <a:prstGeom prst="roundRect">
            <a:avLst>
              <a:gd name="adj" fmla="val 4516"/>
            </a:avLst>
          </a:prstGeom>
          <a:solidFill>
            <a:srgbClr val="030606"/>
          </a:solidFill>
          <a:ln w="12700">
            <a:solidFill>
              <a:srgbClr val="263636"/>
            </a:solidFill>
            <a:prstDash val="solid"/>
          </a:ln>
        </p:spPr>
      </p:sp>
      <p:sp>
        <p:nvSpPr>
          <p:cNvPr id="1121725145" name="Text 34"/>
          <p:cNvSpPr/>
          <p:nvPr/>
        </p:nvSpPr>
        <p:spPr bwMode="auto">
          <a:xfrm>
            <a:off x="914400" y="1280160"/>
            <a:ext cx="3977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D6ECE9"/>
                </a:solidFill>
                <a:latin typeface="Courier New"/>
                <a:ea typeface="Courier New"/>
                <a:cs typeface="Courier New"/>
              </a:rPr>
              <a:t>POST /predict</a:t>
            </a:r>
            <a:endParaRPr lang="en-US" sz="950"/>
          </a:p>
          <a:p>
            <a:pPr marL="0" indent="0">
              <a:buNone/>
              <a:defRPr/>
            </a:pPr>
            <a:r>
              <a:rPr lang="en-US" sz="950">
                <a:solidFill>
                  <a:srgbClr val="D6ECE9"/>
                </a:solidFill>
                <a:latin typeface="Courier New"/>
                <a:ea typeface="Courier New"/>
                <a:cs typeface="Courier New"/>
              </a:rPr>
              <a:t>x-api-key: &lt;API_KEY&gt;</a:t>
            </a:r>
            <a:endParaRPr lang="en-US" sz="950"/>
          </a:p>
          <a:p>
            <a:pPr marL="0" indent="0">
              <a:buNone/>
              <a:defRPr/>
            </a:pPr>
            <a:r>
              <a:rPr lang="en-US" sz="950">
                <a:solidFill>
                  <a:srgbClr val="D6ECE9"/>
                </a:solidFill>
                <a:latin typeface="Courier New"/>
                <a:ea typeface="Courier New"/>
                <a:cs typeface="Courier New"/>
              </a:rPr>
              <a:t>Content-Type: application/json</a:t>
            </a:r>
            <a:endParaRPr lang="en-US" sz="950"/>
          </a:p>
        </p:txBody>
      </p:sp>
      <p:sp>
        <p:nvSpPr>
          <p:cNvPr id="1653331529" name="Shape 35"/>
          <p:cNvSpPr/>
          <p:nvPr/>
        </p:nvSpPr>
        <p:spPr bwMode="auto">
          <a:xfrm>
            <a:off x="777240" y="2880360"/>
            <a:ext cx="4251960" cy="2057400"/>
          </a:xfrm>
          <a:prstGeom prst="roundRect">
            <a:avLst>
              <a:gd name="adj" fmla="val 3111"/>
            </a:avLst>
          </a:prstGeom>
          <a:solidFill>
            <a:srgbClr val="030606"/>
          </a:solidFill>
          <a:ln w="12700">
            <a:solidFill>
              <a:srgbClr val="263636"/>
            </a:solidFill>
            <a:prstDash val="solid"/>
          </a:ln>
        </p:spPr>
      </p:sp>
      <p:sp>
        <p:nvSpPr>
          <p:cNvPr id="628752793" name="Text 36"/>
          <p:cNvSpPr/>
          <p:nvPr/>
        </p:nvSpPr>
        <p:spPr bwMode="auto">
          <a:xfrm>
            <a:off x="914400" y="3017519"/>
            <a:ext cx="39776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D6ECE9"/>
                </a:solidFill>
                <a:latin typeface="Courier New"/>
                <a:ea typeface="Courier New"/>
                <a:cs typeface="Courier New"/>
              </a:rPr>
              <a:t>Request</a:t>
            </a:r>
            <a:endParaRPr lang="en-US" sz="950"/>
          </a:p>
          <a:p>
            <a:pPr marL="0" indent="0">
              <a:buNone/>
              <a:defRPr/>
            </a:pPr>
            <a:r>
              <a:rPr lang="en-US" sz="950">
                <a:solidFill>
                  <a:srgbClr val="D6ECE9"/>
                </a:solidFill>
                <a:latin typeface="Courier New"/>
                <a:ea typeface="Courier New"/>
                <a:cs typeface="Courier New"/>
              </a:rPr>
              <a:t>{</a:t>
            </a:r>
            <a:endParaRPr lang="en-US" sz="950"/>
          </a:p>
          <a:p>
            <a:pPr marL="0" indent="0">
              <a:buNone/>
              <a:defRPr/>
            </a:pPr>
            <a:r>
              <a:rPr lang="en-US" sz="950">
                <a:solidFill>
                  <a:srgbClr val="D6ECE9"/>
                </a:solidFill>
                <a:latin typeface="Courier New"/>
                <a:ea typeface="Courier New"/>
                <a:cs typeface="Courier New"/>
              </a:rPr>
              <a:t>  "text": "This movie was surprisingly heartfelt and beautifully acted."</a:t>
            </a:r>
            <a:endParaRPr lang="en-US" sz="950"/>
          </a:p>
          <a:p>
            <a:pPr marL="0" indent="0">
              <a:buNone/>
              <a:defRPr/>
            </a:pPr>
            <a:r>
              <a:rPr lang="en-US" sz="950">
                <a:solidFill>
                  <a:srgbClr val="D6ECE9"/>
                </a:solidFill>
                <a:latin typeface="Courier New"/>
                <a:ea typeface="Courier New"/>
                <a:cs typeface="Courier New"/>
              </a:rPr>
              <a:t>}</a:t>
            </a:r>
            <a:endParaRPr lang="en-US" sz="950"/>
          </a:p>
        </p:txBody>
      </p:sp>
      <p:sp>
        <p:nvSpPr>
          <p:cNvPr id="981728599" name="Shape 37"/>
          <p:cNvSpPr/>
          <p:nvPr/>
        </p:nvSpPr>
        <p:spPr bwMode="auto">
          <a:xfrm>
            <a:off x="5532120" y="1143000"/>
            <a:ext cx="5669280" cy="3794760"/>
          </a:xfrm>
          <a:prstGeom prst="roundRect">
            <a:avLst>
              <a:gd name="adj" fmla="val 1687"/>
            </a:avLst>
          </a:prstGeom>
          <a:solidFill>
            <a:srgbClr val="030606"/>
          </a:solidFill>
          <a:ln w="12700">
            <a:solidFill>
              <a:srgbClr val="263636"/>
            </a:solidFill>
            <a:prstDash val="solid"/>
          </a:ln>
        </p:spPr>
      </p:sp>
      <p:sp>
        <p:nvSpPr>
          <p:cNvPr id="795651526" name="Text 38"/>
          <p:cNvSpPr/>
          <p:nvPr/>
        </p:nvSpPr>
        <p:spPr bwMode="auto">
          <a:xfrm>
            <a:off x="5669280" y="1280160"/>
            <a:ext cx="539496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D6ECE9"/>
                </a:solidFill>
                <a:latin typeface="Courier New"/>
                <a:ea typeface="Courier New"/>
                <a:cs typeface="Courier New"/>
              </a:rPr>
              <a:t>Response</a:t>
            </a:r>
            <a:endParaRPr lang="en-US" sz="950"/>
          </a:p>
          <a:p>
            <a:pPr marL="0" indent="0">
              <a:buNone/>
              <a:defRPr/>
            </a:pPr>
            <a:r>
              <a:rPr lang="en-US" sz="950">
                <a:solidFill>
                  <a:srgbClr val="D6ECE9"/>
                </a:solidFill>
                <a:latin typeface="Courier New"/>
                <a:ea typeface="Courier New"/>
                <a:cs typeface="Courier New"/>
              </a:rPr>
              <a:t>{</a:t>
            </a:r>
            <a:endParaRPr lang="en-US" sz="950"/>
          </a:p>
          <a:p>
            <a:pPr marL="0" indent="0">
              <a:buNone/>
              <a:defRPr/>
            </a:pPr>
            <a:r>
              <a:rPr lang="en-US" sz="950">
                <a:solidFill>
                  <a:srgbClr val="D6ECE9"/>
                </a:solidFill>
                <a:latin typeface="Courier New"/>
                <a:ea typeface="Courier New"/>
                <a:cs typeface="Courier New"/>
              </a:rPr>
              <a:t>  "label": "positive",</a:t>
            </a:r>
            <a:endParaRPr lang="en-US" sz="950"/>
          </a:p>
          <a:p>
            <a:pPr marL="0" indent="0">
              <a:buNone/>
              <a:defRPr/>
            </a:pPr>
            <a:r>
              <a:rPr lang="en-US" sz="950">
                <a:solidFill>
                  <a:srgbClr val="D6ECE9"/>
                </a:solidFill>
                <a:latin typeface="Courier New"/>
                <a:ea typeface="Courier New"/>
                <a:cs typeface="Courier New"/>
              </a:rPr>
              <a:t>  "confidence": 0.9432,</a:t>
            </a:r>
            <a:endParaRPr lang="en-US" sz="950"/>
          </a:p>
          <a:p>
            <a:pPr marL="0" indent="0">
              <a:buNone/>
              <a:defRPr/>
            </a:pPr>
            <a:r>
              <a:rPr lang="en-US" sz="950">
                <a:solidFill>
                  <a:srgbClr val="D6ECE9"/>
                </a:solidFill>
                <a:latin typeface="Courier New"/>
                <a:ea typeface="Courier New"/>
                <a:cs typeface="Courier New"/>
              </a:rPr>
              <a:t>  "scores": { "negative": 0.0568, "positive": 0.9432 },</a:t>
            </a:r>
            <a:endParaRPr lang="en-US" sz="950"/>
          </a:p>
          <a:p>
            <a:pPr marL="0" indent="0">
              <a:buNone/>
              <a:defRPr/>
            </a:pPr>
            <a:r>
              <a:rPr lang="en-US" sz="950">
                <a:solidFill>
                  <a:srgbClr val="D6ECE9"/>
                </a:solidFill>
                <a:latin typeface="Courier New"/>
                <a:ea typeface="Courier New"/>
                <a:cs typeface="Courier New"/>
              </a:rPr>
              <a:t>  "is_positive": true</a:t>
            </a:r>
            <a:endParaRPr lang="en-US" sz="950"/>
          </a:p>
          <a:p>
            <a:pPr marL="0" indent="0">
              <a:buNone/>
              <a:defRPr/>
            </a:pPr>
            <a:r>
              <a:rPr lang="en-US" sz="950">
                <a:solidFill>
                  <a:srgbClr val="D6ECE9"/>
                </a:solidFill>
                <a:latin typeface="Courier New"/>
                <a:ea typeface="Courier New"/>
                <a:cs typeface="Courier New"/>
              </a:rPr>
              <a:t>}</a:t>
            </a:r>
            <a:endParaRPr lang="en-US" sz="950"/>
          </a:p>
        </p:txBody>
      </p:sp>
      <p:sp>
        <p:nvSpPr>
          <p:cNvPr id="210987785" name="Text 39"/>
          <p:cNvSpPr/>
          <p:nvPr/>
        </p:nvSpPr>
        <p:spPr bwMode="auto">
          <a:xfrm>
            <a:off x="914400" y="5513832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9EA8A6"/>
                </a:solidFill>
              </a:rPr>
              <a:t>FastAPI memuat model .joblib, menerima teks review, lalu mengembalikan label dan confidence.</a:t>
            </a:r>
            <a:endParaRPr lang="en-US" sz="1200"/>
          </a:p>
        </p:txBody>
      </p:sp>
      <p:sp>
        <p:nvSpPr>
          <p:cNvPr id="1159478557" name="Text 40"/>
          <p:cNvSpPr/>
          <p:nvPr/>
        </p:nvSpPr>
        <p:spPr bwMode="auto">
          <a:xfrm>
            <a:off x="566928" y="6446520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700">
                <a:solidFill>
                  <a:srgbClr val="9EA8A6"/>
                </a:solidFill>
              </a:rPr>
              <a:t>Nuxt Movies · NLP Sentiment Classification · 09</a:t>
            </a:r>
            <a:endParaRPr lang="en-US" sz="7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0">
    <p:bg>
      <p:bgPr shadeToTitle="0">
        <a:solidFill>
          <a:srgbClr val="050808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2541166" name="Shape 0"/>
          <p:cNvSpPr/>
          <p:nvPr/>
        </p:nvSpPr>
        <p:spPr bwMode="auto">
          <a:xfrm>
            <a:off x="0" y="0"/>
            <a:ext cx="12191695" cy="6858000"/>
          </a:xfrm>
          <a:prstGeom prst="rect">
            <a:avLst/>
          </a:prstGeom>
          <a:solidFill>
            <a:srgbClr val="050808"/>
          </a:solidFill>
          <a:ln w="12700">
            <a:solidFill>
              <a:srgbClr val="050808"/>
            </a:solidFill>
            <a:prstDash val="solid"/>
          </a:ln>
        </p:spPr>
      </p:sp>
      <p:sp>
        <p:nvSpPr>
          <p:cNvPr id="997061922" name="Shape 1"/>
          <p:cNvSpPr/>
          <p:nvPr/>
        </p:nvSpPr>
        <p:spPr bwMode="auto">
          <a:xfrm>
            <a:off x="0" y="0"/>
            <a:ext cx="12191695" cy="6858000"/>
          </a:xfrm>
          <a:prstGeom prst="rect">
            <a:avLst/>
          </a:prstGeom>
          <a:solidFill>
            <a:srgbClr val="071111">
              <a:alpha val="80000"/>
            </a:srgbClr>
          </a:solidFill>
          <a:ln w="12700">
            <a:solidFill>
              <a:srgbClr val="071111">
                <a:alpha val="0"/>
              </a:srgbClr>
            </a:solidFill>
            <a:prstDash val="solid"/>
          </a:ln>
        </p:spPr>
      </p:sp>
      <p:sp>
        <p:nvSpPr>
          <p:cNvPr id="1450439550" name="Shape 2"/>
          <p:cNvSpPr/>
          <p:nvPr/>
        </p:nvSpPr>
        <p:spPr bwMode="auto">
          <a:xfrm>
            <a:off x="0" y="0"/>
            <a:ext cx="0" cy="6858000"/>
          </a:xfrm>
          <a:prstGeom prst="line">
            <a:avLst/>
          </a:prstGeom>
          <a:noFill/>
          <a:ln w="4445">
            <a:solidFill>
              <a:srgbClr val="132020">
                <a:alpha val="45000"/>
              </a:srgbClr>
            </a:solidFill>
            <a:prstDash val="solid"/>
          </a:ln>
        </p:spPr>
      </p:sp>
      <p:sp>
        <p:nvSpPr>
          <p:cNvPr id="724392442" name="Shape 3"/>
          <p:cNvSpPr/>
          <p:nvPr/>
        </p:nvSpPr>
        <p:spPr bwMode="auto">
          <a:xfrm>
            <a:off x="713232" y="0"/>
            <a:ext cx="0" cy="6858000"/>
          </a:xfrm>
          <a:prstGeom prst="line">
            <a:avLst/>
          </a:prstGeom>
          <a:noFill/>
          <a:ln w="4445">
            <a:solidFill>
              <a:srgbClr val="132020">
                <a:alpha val="45000"/>
              </a:srgbClr>
            </a:solidFill>
            <a:prstDash val="solid"/>
          </a:ln>
        </p:spPr>
      </p:sp>
      <p:sp>
        <p:nvSpPr>
          <p:cNvPr id="84209618" name="Shape 4"/>
          <p:cNvSpPr/>
          <p:nvPr/>
        </p:nvSpPr>
        <p:spPr bwMode="auto">
          <a:xfrm>
            <a:off x="1426464" y="0"/>
            <a:ext cx="0" cy="6858000"/>
          </a:xfrm>
          <a:prstGeom prst="line">
            <a:avLst/>
          </a:prstGeom>
          <a:noFill/>
          <a:ln w="4445">
            <a:solidFill>
              <a:srgbClr val="132020">
                <a:alpha val="45000"/>
              </a:srgbClr>
            </a:solidFill>
            <a:prstDash val="solid"/>
          </a:ln>
        </p:spPr>
      </p:sp>
      <p:sp>
        <p:nvSpPr>
          <p:cNvPr id="2033443755" name="Shape 5"/>
          <p:cNvSpPr/>
          <p:nvPr/>
        </p:nvSpPr>
        <p:spPr bwMode="auto">
          <a:xfrm>
            <a:off x="2139696" y="0"/>
            <a:ext cx="0" cy="6858000"/>
          </a:xfrm>
          <a:prstGeom prst="line">
            <a:avLst/>
          </a:prstGeom>
          <a:noFill/>
          <a:ln w="4445">
            <a:solidFill>
              <a:srgbClr val="132020">
                <a:alpha val="45000"/>
              </a:srgbClr>
            </a:solidFill>
            <a:prstDash val="solid"/>
          </a:ln>
        </p:spPr>
      </p:sp>
      <p:sp>
        <p:nvSpPr>
          <p:cNvPr id="1453812062" name="Shape 6"/>
          <p:cNvSpPr/>
          <p:nvPr/>
        </p:nvSpPr>
        <p:spPr bwMode="auto">
          <a:xfrm>
            <a:off x="2852928" y="0"/>
            <a:ext cx="0" cy="6858000"/>
          </a:xfrm>
          <a:prstGeom prst="line">
            <a:avLst/>
          </a:prstGeom>
          <a:noFill/>
          <a:ln w="4445">
            <a:solidFill>
              <a:srgbClr val="132020">
                <a:alpha val="45000"/>
              </a:srgbClr>
            </a:solidFill>
            <a:prstDash val="solid"/>
          </a:ln>
        </p:spPr>
      </p:sp>
      <p:sp>
        <p:nvSpPr>
          <p:cNvPr id="1391478991" name="Shape 7"/>
          <p:cNvSpPr/>
          <p:nvPr/>
        </p:nvSpPr>
        <p:spPr bwMode="auto">
          <a:xfrm>
            <a:off x="3566160" y="0"/>
            <a:ext cx="0" cy="6858000"/>
          </a:xfrm>
          <a:prstGeom prst="line">
            <a:avLst/>
          </a:prstGeom>
          <a:noFill/>
          <a:ln w="4445">
            <a:solidFill>
              <a:srgbClr val="132020">
                <a:alpha val="45000"/>
              </a:srgbClr>
            </a:solidFill>
            <a:prstDash val="solid"/>
          </a:ln>
        </p:spPr>
      </p:sp>
      <p:sp>
        <p:nvSpPr>
          <p:cNvPr id="1036497909" name="Shape 8"/>
          <p:cNvSpPr/>
          <p:nvPr/>
        </p:nvSpPr>
        <p:spPr bwMode="auto">
          <a:xfrm>
            <a:off x="4279392" y="0"/>
            <a:ext cx="0" cy="6858000"/>
          </a:xfrm>
          <a:prstGeom prst="line">
            <a:avLst/>
          </a:prstGeom>
          <a:noFill/>
          <a:ln w="4445">
            <a:solidFill>
              <a:srgbClr val="132020">
                <a:alpha val="45000"/>
              </a:srgbClr>
            </a:solidFill>
            <a:prstDash val="solid"/>
          </a:ln>
        </p:spPr>
      </p:sp>
      <p:sp>
        <p:nvSpPr>
          <p:cNvPr id="1828319823" name="Shape 9"/>
          <p:cNvSpPr/>
          <p:nvPr/>
        </p:nvSpPr>
        <p:spPr bwMode="auto">
          <a:xfrm>
            <a:off x="4992624" y="0"/>
            <a:ext cx="0" cy="6858000"/>
          </a:xfrm>
          <a:prstGeom prst="line">
            <a:avLst/>
          </a:prstGeom>
          <a:noFill/>
          <a:ln w="4445">
            <a:solidFill>
              <a:srgbClr val="132020">
                <a:alpha val="45000"/>
              </a:srgbClr>
            </a:solidFill>
            <a:prstDash val="solid"/>
          </a:ln>
        </p:spPr>
      </p:sp>
      <p:sp>
        <p:nvSpPr>
          <p:cNvPr id="1069539471" name="Shape 10"/>
          <p:cNvSpPr/>
          <p:nvPr/>
        </p:nvSpPr>
        <p:spPr bwMode="auto">
          <a:xfrm>
            <a:off x="5705856" y="0"/>
            <a:ext cx="0" cy="6858000"/>
          </a:xfrm>
          <a:prstGeom prst="line">
            <a:avLst/>
          </a:prstGeom>
          <a:noFill/>
          <a:ln w="4445">
            <a:solidFill>
              <a:srgbClr val="132020">
                <a:alpha val="45000"/>
              </a:srgbClr>
            </a:solidFill>
            <a:prstDash val="solid"/>
          </a:ln>
        </p:spPr>
      </p:sp>
      <p:sp>
        <p:nvSpPr>
          <p:cNvPr id="1635764128" name="Shape 11"/>
          <p:cNvSpPr/>
          <p:nvPr/>
        </p:nvSpPr>
        <p:spPr bwMode="auto">
          <a:xfrm>
            <a:off x="6419088" y="0"/>
            <a:ext cx="0" cy="6858000"/>
          </a:xfrm>
          <a:prstGeom prst="line">
            <a:avLst/>
          </a:prstGeom>
          <a:noFill/>
          <a:ln w="4445">
            <a:solidFill>
              <a:srgbClr val="132020">
                <a:alpha val="45000"/>
              </a:srgbClr>
            </a:solidFill>
            <a:prstDash val="solid"/>
          </a:ln>
        </p:spPr>
      </p:sp>
      <p:sp>
        <p:nvSpPr>
          <p:cNvPr id="69251278" name="Shape 12"/>
          <p:cNvSpPr/>
          <p:nvPr/>
        </p:nvSpPr>
        <p:spPr bwMode="auto">
          <a:xfrm>
            <a:off x="7132320" y="0"/>
            <a:ext cx="0" cy="6858000"/>
          </a:xfrm>
          <a:prstGeom prst="line">
            <a:avLst/>
          </a:prstGeom>
          <a:noFill/>
          <a:ln w="4445">
            <a:solidFill>
              <a:srgbClr val="132020">
                <a:alpha val="45000"/>
              </a:srgbClr>
            </a:solidFill>
            <a:prstDash val="solid"/>
          </a:ln>
        </p:spPr>
      </p:sp>
      <p:sp>
        <p:nvSpPr>
          <p:cNvPr id="263838506" name="Shape 13"/>
          <p:cNvSpPr/>
          <p:nvPr/>
        </p:nvSpPr>
        <p:spPr bwMode="auto">
          <a:xfrm>
            <a:off x="7845552" y="0"/>
            <a:ext cx="0" cy="6858000"/>
          </a:xfrm>
          <a:prstGeom prst="line">
            <a:avLst/>
          </a:prstGeom>
          <a:noFill/>
          <a:ln w="4445">
            <a:solidFill>
              <a:srgbClr val="132020">
                <a:alpha val="45000"/>
              </a:srgbClr>
            </a:solidFill>
            <a:prstDash val="solid"/>
          </a:ln>
        </p:spPr>
      </p:sp>
      <p:sp>
        <p:nvSpPr>
          <p:cNvPr id="1652000175" name="Shape 14"/>
          <p:cNvSpPr/>
          <p:nvPr/>
        </p:nvSpPr>
        <p:spPr bwMode="auto">
          <a:xfrm>
            <a:off x="8558784" y="0"/>
            <a:ext cx="0" cy="6858000"/>
          </a:xfrm>
          <a:prstGeom prst="line">
            <a:avLst/>
          </a:prstGeom>
          <a:noFill/>
          <a:ln w="4445">
            <a:solidFill>
              <a:srgbClr val="132020">
                <a:alpha val="45000"/>
              </a:srgbClr>
            </a:solidFill>
            <a:prstDash val="solid"/>
          </a:ln>
        </p:spPr>
      </p:sp>
      <p:sp>
        <p:nvSpPr>
          <p:cNvPr id="1980647478" name="Shape 15"/>
          <p:cNvSpPr/>
          <p:nvPr/>
        </p:nvSpPr>
        <p:spPr bwMode="auto">
          <a:xfrm>
            <a:off x="9272016" y="0"/>
            <a:ext cx="0" cy="6858000"/>
          </a:xfrm>
          <a:prstGeom prst="line">
            <a:avLst/>
          </a:prstGeom>
          <a:noFill/>
          <a:ln w="4445">
            <a:solidFill>
              <a:srgbClr val="132020">
                <a:alpha val="45000"/>
              </a:srgbClr>
            </a:solidFill>
            <a:prstDash val="solid"/>
          </a:ln>
        </p:spPr>
      </p:sp>
      <p:sp>
        <p:nvSpPr>
          <p:cNvPr id="749931360" name="Shape 16"/>
          <p:cNvSpPr/>
          <p:nvPr/>
        </p:nvSpPr>
        <p:spPr bwMode="auto">
          <a:xfrm>
            <a:off x="9985248" y="0"/>
            <a:ext cx="0" cy="6858000"/>
          </a:xfrm>
          <a:prstGeom prst="line">
            <a:avLst/>
          </a:prstGeom>
          <a:noFill/>
          <a:ln w="4445">
            <a:solidFill>
              <a:srgbClr val="132020">
                <a:alpha val="45000"/>
              </a:srgbClr>
            </a:solidFill>
            <a:prstDash val="solid"/>
          </a:ln>
        </p:spPr>
      </p:sp>
      <p:sp>
        <p:nvSpPr>
          <p:cNvPr id="452578129" name="Shape 17"/>
          <p:cNvSpPr/>
          <p:nvPr/>
        </p:nvSpPr>
        <p:spPr bwMode="auto">
          <a:xfrm>
            <a:off x="10698480" y="0"/>
            <a:ext cx="0" cy="6858000"/>
          </a:xfrm>
          <a:prstGeom prst="line">
            <a:avLst/>
          </a:prstGeom>
          <a:noFill/>
          <a:ln w="4445">
            <a:solidFill>
              <a:srgbClr val="132020">
                <a:alpha val="45000"/>
              </a:srgbClr>
            </a:solidFill>
            <a:prstDash val="solid"/>
          </a:ln>
        </p:spPr>
      </p:sp>
      <p:sp>
        <p:nvSpPr>
          <p:cNvPr id="601473905" name="Shape 18"/>
          <p:cNvSpPr/>
          <p:nvPr/>
        </p:nvSpPr>
        <p:spPr bwMode="auto">
          <a:xfrm>
            <a:off x="11411712" y="0"/>
            <a:ext cx="0" cy="6858000"/>
          </a:xfrm>
          <a:prstGeom prst="line">
            <a:avLst/>
          </a:prstGeom>
          <a:noFill/>
          <a:ln w="4445">
            <a:solidFill>
              <a:srgbClr val="132020">
                <a:alpha val="45000"/>
              </a:srgbClr>
            </a:solidFill>
            <a:prstDash val="solid"/>
          </a:ln>
        </p:spPr>
      </p:sp>
      <p:sp>
        <p:nvSpPr>
          <p:cNvPr id="933374514" name="Shape 19"/>
          <p:cNvSpPr/>
          <p:nvPr/>
        </p:nvSpPr>
        <p:spPr bwMode="auto">
          <a:xfrm>
            <a:off x="12124943" y="0"/>
            <a:ext cx="0" cy="6858000"/>
          </a:xfrm>
          <a:prstGeom prst="line">
            <a:avLst/>
          </a:prstGeom>
          <a:noFill/>
          <a:ln w="4445">
            <a:solidFill>
              <a:srgbClr val="132020">
                <a:alpha val="45000"/>
              </a:srgbClr>
            </a:solidFill>
            <a:prstDash val="solid"/>
          </a:ln>
        </p:spPr>
      </p:sp>
      <p:sp>
        <p:nvSpPr>
          <p:cNvPr id="25459975" name="Shape 20"/>
          <p:cNvSpPr/>
          <p:nvPr/>
        </p:nvSpPr>
        <p:spPr bwMode="auto">
          <a:xfrm>
            <a:off x="0" y="0"/>
            <a:ext cx="12191695" cy="0"/>
          </a:xfrm>
          <a:prstGeom prst="line">
            <a:avLst/>
          </a:prstGeom>
          <a:noFill/>
          <a:ln w="4445">
            <a:solidFill>
              <a:srgbClr val="132020">
                <a:alpha val="38000"/>
              </a:srgbClr>
            </a:solidFill>
            <a:prstDash val="solid"/>
          </a:ln>
        </p:spPr>
      </p:sp>
      <p:sp>
        <p:nvSpPr>
          <p:cNvPr id="1894184961" name="Shape 21"/>
          <p:cNvSpPr/>
          <p:nvPr/>
        </p:nvSpPr>
        <p:spPr bwMode="auto">
          <a:xfrm>
            <a:off x="0" y="713232"/>
            <a:ext cx="12191695" cy="0"/>
          </a:xfrm>
          <a:prstGeom prst="line">
            <a:avLst/>
          </a:prstGeom>
          <a:noFill/>
          <a:ln w="4445">
            <a:solidFill>
              <a:srgbClr val="132020">
                <a:alpha val="38000"/>
              </a:srgbClr>
            </a:solidFill>
            <a:prstDash val="solid"/>
          </a:ln>
        </p:spPr>
      </p:sp>
      <p:sp>
        <p:nvSpPr>
          <p:cNvPr id="461629240" name="Shape 22"/>
          <p:cNvSpPr/>
          <p:nvPr/>
        </p:nvSpPr>
        <p:spPr bwMode="auto">
          <a:xfrm>
            <a:off x="0" y="1426464"/>
            <a:ext cx="12191695" cy="0"/>
          </a:xfrm>
          <a:prstGeom prst="line">
            <a:avLst/>
          </a:prstGeom>
          <a:noFill/>
          <a:ln w="4445">
            <a:solidFill>
              <a:srgbClr val="132020">
                <a:alpha val="38000"/>
              </a:srgbClr>
            </a:solidFill>
            <a:prstDash val="solid"/>
          </a:ln>
        </p:spPr>
      </p:sp>
      <p:sp>
        <p:nvSpPr>
          <p:cNvPr id="970978145" name="Shape 23"/>
          <p:cNvSpPr/>
          <p:nvPr/>
        </p:nvSpPr>
        <p:spPr bwMode="auto">
          <a:xfrm>
            <a:off x="0" y="2139696"/>
            <a:ext cx="12191695" cy="0"/>
          </a:xfrm>
          <a:prstGeom prst="line">
            <a:avLst/>
          </a:prstGeom>
          <a:noFill/>
          <a:ln w="4445">
            <a:solidFill>
              <a:srgbClr val="132020">
                <a:alpha val="38000"/>
              </a:srgbClr>
            </a:solidFill>
            <a:prstDash val="solid"/>
          </a:ln>
        </p:spPr>
      </p:sp>
      <p:sp>
        <p:nvSpPr>
          <p:cNvPr id="2132362086" name="Shape 24"/>
          <p:cNvSpPr/>
          <p:nvPr/>
        </p:nvSpPr>
        <p:spPr bwMode="auto">
          <a:xfrm>
            <a:off x="0" y="2852928"/>
            <a:ext cx="12191695" cy="0"/>
          </a:xfrm>
          <a:prstGeom prst="line">
            <a:avLst/>
          </a:prstGeom>
          <a:noFill/>
          <a:ln w="4445">
            <a:solidFill>
              <a:srgbClr val="132020">
                <a:alpha val="38000"/>
              </a:srgbClr>
            </a:solidFill>
            <a:prstDash val="solid"/>
          </a:ln>
        </p:spPr>
      </p:sp>
      <p:sp>
        <p:nvSpPr>
          <p:cNvPr id="2124125457" name="Shape 25"/>
          <p:cNvSpPr/>
          <p:nvPr/>
        </p:nvSpPr>
        <p:spPr bwMode="auto">
          <a:xfrm>
            <a:off x="0" y="3566160"/>
            <a:ext cx="12191695" cy="0"/>
          </a:xfrm>
          <a:prstGeom prst="line">
            <a:avLst/>
          </a:prstGeom>
          <a:noFill/>
          <a:ln w="4445">
            <a:solidFill>
              <a:srgbClr val="132020">
                <a:alpha val="38000"/>
              </a:srgbClr>
            </a:solidFill>
            <a:prstDash val="solid"/>
          </a:ln>
        </p:spPr>
      </p:sp>
      <p:sp>
        <p:nvSpPr>
          <p:cNvPr id="608956056" name="Shape 26"/>
          <p:cNvSpPr/>
          <p:nvPr/>
        </p:nvSpPr>
        <p:spPr bwMode="auto">
          <a:xfrm>
            <a:off x="0" y="4279392"/>
            <a:ext cx="12191695" cy="0"/>
          </a:xfrm>
          <a:prstGeom prst="line">
            <a:avLst/>
          </a:prstGeom>
          <a:noFill/>
          <a:ln w="4445">
            <a:solidFill>
              <a:srgbClr val="132020">
                <a:alpha val="38000"/>
              </a:srgbClr>
            </a:solidFill>
            <a:prstDash val="solid"/>
          </a:ln>
        </p:spPr>
      </p:sp>
      <p:sp>
        <p:nvSpPr>
          <p:cNvPr id="1448269133" name="Shape 27"/>
          <p:cNvSpPr/>
          <p:nvPr/>
        </p:nvSpPr>
        <p:spPr bwMode="auto">
          <a:xfrm>
            <a:off x="0" y="4992624"/>
            <a:ext cx="12191695" cy="0"/>
          </a:xfrm>
          <a:prstGeom prst="line">
            <a:avLst/>
          </a:prstGeom>
          <a:noFill/>
          <a:ln w="4445">
            <a:solidFill>
              <a:srgbClr val="132020">
                <a:alpha val="38000"/>
              </a:srgbClr>
            </a:solidFill>
            <a:prstDash val="solid"/>
          </a:ln>
        </p:spPr>
      </p:sp>
      <p:sp>
        <p:nvSpPr>
          <p:cNvPr id="1703510057" name="Shape 28"/>
          <p:cNvSpPr/>
          <p:nvPr/>
        </p:nvSpPr>
        <p:spPr bwMode="auto">
          <a:xfrm>
            <a:off x="0" y="5705856"/>
            <a:ext cx="12191695" cy="0"/>
          </a:xfrm>
          <a:prstGeom prst="line">
            <a:avLst/>
          </a:prstGeom>
          <a:noFill/>
          <a:ln w="4445">
            <a:solidFill>
              <a:srgbClr val="132020">
                <a:alpha val="38000"/>
              </a:srgbClr>
            </a:solidFill>
            <a:prstDash val="solid"/>
          </a:ln>
        </p:spPr>
      </p:sp>
      <p:sp>
        <p:nvSpPr>
          <p:cNvPr id="742230437" name="Shape 29"/>
          <p:cNvSpPr/>
          <p:nvPr/>
        </p:nvSpPr>
        <p:spPr bwMode="auto">
          <a:xfrm>
            <a:off x="0" y="6419088"/>
            <a:ext cx="12191695" cy="0"/>
          </a:xfrm>
          <a:prstGeom prst="line">
            <a:avLst/>
          </a:prstGeom>
          <a:noFill/>
          <a:ln w="4445">
            <a:solidFill>
              <a:srgbClr val="132020">
                <a:alpha val="38000"/>
              </a:srgbClr>
            </a:solidFill>
            <a:prstDash val="solid"/>
          </a:ln>
        </p:spPr>
      </p:sp>
      <p:sp>
        <p:nvSpPr>
          <p:cNvPr id="1355868753" name="Shape 30"/>
          <p:cNvSpPr/>
          <p:nvPr/>
        </p:nvSpPr>
        <p:spPr bwMode="auto">
          <a:xfrm>
            <a:off x="0" y="0"/>
            <a:ext cx="82296" cy="6858000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pic>
        <p:nvPicPr>
          <p:cNvPr id="74017512" name="Image 0" descr="/home/fanff/fanfan/ML/NLP_coolyeah/TA/ppt_nuxt_movies/assets/generated/nuxt-movies-logo.png"/>
          <p:cNvPicPr>
            <a:picLocks noChangeAspect="1"/>
          </p:cNvPicPr>
          <p:nvPr/>
        </p:nvPicPr>
        <p:blipFill rotWithShape="1">
          <a:blip r:embed="rId3">
            <a:alphaModFix amt="94000"/>
          </a:blip>
          <a:stretch/>
        </p:blipFill>
        <p:spPr bwMode="auto">
          <a:xfrm>
            <a:off x="11356848" y="237744"/>
            <a:ext cx="411480" cy="411480"/>
          </a:xfrm>
          <a:prstGeom prst="rect">
            <a:avLst/>
          </a:prstGeom>
        </p:spPr>
      </p:pic>
      <p:sp>
        <p:nvSpPr>
          <p:cNvPr id="1295734007" name="Text 31"/>
          <p:cNvSpPr/>
          <p:nvPr/>
        </p:nvSpPr>
        <p:spPr bwMode="auto">
          <a:xfrm>
            <a:off x="548640" y="329184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000" b="1">
                <a:solidFill>
                  <a:srgbClr val="F4F7F6"/>
                </a:solidFill>
                <a:latin typeface="Georgia"/>
                <a:ea typeface="Georgia"/>
                <a:cs typeface="Georgia"/>
              </a:rPr>
              <a:t>Arsitektur Sistem</a:t>
            </a:r>
            <a:endParaRPr lang="en-US" sz="2000"/>
          </a:p>
        </p:txBody>
      </p:sp>
      <p:sp>
        <p:nvSpPr>
          <p:cNvPr id="80215039" name="Shape 32"/>
          <p:cNvSpPr/>
          <p:nvPr/>
        </p:nvSpPr>
        <p:spPr bwMode="auto">
          <a:xfrm>
            <a:off x="548640" y="804672"/>
            <a:ext cx="1828800" cy="0"/>
          </a:xfrm>
          <a:prstGeom prst="line">
            <a:avLst/>
          </a:prstGeom>
          <a:noFill/>
          <a:ln w="25400">
            <a:solidFill>
              <a:srgbClr val="24D6C3"/>
            </a:solidFill>
            <a:prstDash val="solid"/>
          </a:ln>
        </p:spPr>
      </p:sp>
      <p:sp>
        <p:nvSpPr>
          <p:cNvPr id="430889649" name="Shape 33"/>
          <p:cNvSpPr/>
          <p:nvPr/>
        </p:nvSpPr>
        <p:spPr bwMode="auto">
          <a:xfrm>
            <a:off x="731520" y="2743200"/>
            <a:ext cx="1600200" cy="713232"/>
          </a:xfrm>
          <a:prstGeom prst="roundRect">
            <a:avLst>
              <a:gd name="adj" fmla="val 8974"/>
            </a:avLst>
          </a:prstGeom>
          <a:solidFill>
            <a:srgbClr val="101818"/>
          </a:solidFill>
          <a:ln w="12700">
            <a:solidFill>
              <a:srgbClr val="24D6C3"/>
            </a:solidFill>
            <a:prstDash val="solid"/>
          </a:ln>
        </p:spPr>
      </p:sp>
      <p:sp>
        <p:nvSpPr>
          <p:cNvPr id="48042731" name="Text 34"/>
          <p:cNvSpPr/>
          <p:nvPr/>
        </p:nvSpPr>
        <p:spPr bwMode="auto">
          <a:xfrm>
            <a:off x="841248" y="28803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  <a:defRPr/>
            </a:pPr>
            <a:r>
              <a:rPr lang="en-US" sz="1050" b="1">
                <a:solidFill>
                  <a:srgbClr val="F4F7F6"/>
                </a:solidFill>
              </a:rPr>
              <a:t>User / Admin</a:t>
            </a:r>
            <a:endParaRPr lang="en-US" sz="1050"/>
          </a:p>
          <a:p>
            <a:pPr marL="0" indent="0" algn="ctr">
              <a:buNone/>
              <a:defRPr/>
            </a:pPr>
            <a:r>
              <a:rPr lang="en-US" sz="1050" b="1">
                <a:solidFill>
                  <a:srgbClr val="F4F7F6"/>
                </a:solidFill>
              </a:rPr>
              <a:t>Browser</a:t>
            </a:r>
            <a:endParaRPr lang="en-US" sz="1050"/>
          </a:p>
        </p:txBody>
      </p:sp>
      <p:sp>
        <p:nvSpPr>
          <p:cNvPr id="1436479394" name="Shape 35"/>
          <p:cNvSpPr/>
          <p:nvPr/>
        </p:nvSpPr>
        <p:spPr bwMode="auto">
          <a:xfrm>
            <a:off x="2743200" y="2743200"/>
            <a:ext cx="1600200" cy="713232"/>
          </a:xfrm>
          <a:prstGeom prst="roundRect">
            <a:avLst>
              <a:gd name="adj" fmla="val 8974"/>
            </a:avLst>
          </a:prstGeom>
          <a:solidFill>
            <a:srgbClr val="101818"/>
          </a:solidFill>
          <a:ln w="12700">
            <a:solidFill>
              <a:srgbClr val="24D6C3"/>
            </a:solidFill>
            <a:prstDash val="solid"/>
          </a:ln>
        </p:spPr>
      </p:sp>
      <p:sp>
        <p:nvSpPr>
          <p:cNvPr id="643043911" name="Text 36"/>
          <p:cNvSpPr/>
          <p:nvPr/>
        </p:nvSpPr>
        <p:spPr bwMode="auto">
          <a:xfrm>
            <a:off x="2852928" y="28803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  <a:defRPr/>
            </a:pPr>
            <a:r>
              <a:rPr lang="en-US" sz="1050" b="1">
                <a:solidFill>
                  <a:srgbClr val="F4F7F6"/>
                </a:solidFill>
              </a:rPr>
              <a:t>Nuxt 3</a:t>
            </a:r>
            <a:endParaRPr lang="en-US" sz="1050"/>
          </a:p>
          <a:p>
            <a:pPr marL="0" indent="0" algn="ctr">
              <a:buNone/>
              <a:defRPr/>
            </a:pPr>
            <a:r>
              <a:rPr lang="en-US" sz="1050" b="1">
                <a:solidFill>
                  <a:srgbClr val="F4F7F6"/>
                </a:solidFill>
              </a:rPr>
              <a:t>Frontend</a:t>
            </a:r>
            <a:endParaRPr lang="en-US" sz="1050"/>
          </a:p>
        </p:txBody>
      </p:sp>
      <p:sp>
        <p:nvSpPr>
          <p:cNvPr id="525115128" name="Shape 37"/>
          <p:cNvSpPr/>
          <p:nvPr/>
        </p:nvSpPr>
        <p:spPr bwMode="auto">
          <a:xfrm>
            <a:off x="4754880" y="2743200"/>
            <a:ext cx="1600200" cy="713232"/>
          </a:xfrm>
          <a:prstGeom prst="roundRect">
            <a:avLst>
              <a:gd name="adj" fmla="val 8974"/>
            </a:avLst>
          </a:prstGeom>
          <a:solidFill>
            <a:srgbClr val="101818"/>
          </a:solidFill>
          <a:ln w="12700">
            <a:solidFill>
              <a:srgbClr val="24D6C3"/>
            </a:solidFill>
            <a:prstDash val="solid"/>
          </a:ln>
        </p:spPr>
      </p:sp>
      <p:sp>
        <p:nvSpPr>
          <p:cNvPr id="1137933516" name="Text 38"/>
          <p:cNvSpPr/>
          <p:nvPr/>
        </p:nvSpPr>
        <p:spPr bwMode="auto">
          <a:xfrm>
            <a:off x="4864607" y="28803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  <a:defRPr/>
            </a:pPr>
            <a:r>
              <a:rPr lang="en-US" sz="1050" b="1">
                <a:solidFill>
                  <a:srgbClr val="F4F7F6"/>
                </a:solidFill>
              </a:rPr>
              <a:t>Nuxt Server</a:t>
            </a:r>
            <a:endParaRPr lang="en-US" sz="1050"/>
          </a:p>
          <a:p>
            <a:pPr marL="0" indent="0" algn="ctr">
              <a:buNone/>
              <a:defRPr/>
            </a:pPr>
            <a:r>
              <a:rPr lang="en-US" sz="1050" b="1">
                <a:solidFill>
                  <a:srgbClr val="F4F7F6"/>
                </a:solidFill>
              </a:rPr>
              <a:t>API</a:t>
            </a:r>
            <a:endParaRPr lang="en-US" sz="1050"/>
          </a:p>
        </p:txBody>
      </p:sp>
      <p:sp>
        <p:nvSpPr>
          <p:cNvPr id="1800315412" name="Shape 39"/>
          <p:cNvSpPr/>
          <p:nvPr/>
        </p:nvSpPr>
        <p:spPr bwMode="auto">
          <a:xfrm>
            <a:off x="7132320" y="1417320"/>
            <a:ext cx="1600200" cy="713232"/>
          </a:xfrm>
          <a:prstGeom prst="roundRect">
            <a:avLst>
              <a:gd name="adj" fmla="val 8974"/>
            </a:avLst>
          </a:prstGeom>
          <a:solidFill>
            <a:srgbClr val="101818"/>
          </a:solidFill>
          <a:ln w="12700">
            <a:solidFill>
              <a:srgbClr val="24D6C3"/>
            </a:solidFill>
            <a:prstDash val="solid"/>
          </a:ln>
        </p:spPr>
      </p:sp>
      <p:sp>
        <p:nvSpPr>
          <p:cNvPr id="724597828" name="Text 40"/>
          <p:cNvSpPr/>
          <p:nvPr/>
        </p:nvSpPr>
        <p:spPr bwMode="auto">
          <a:xfrm>
            <a:off x="7242048" y="15544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  <a:defRPr/>
            </a:pPr>
            <a:r>
              <a:rPr lang="en-US" sz="1050" b="1">
                <a:solidFill>
                  <a:srgbClr val="F4F7F6"/>
                </a:solidFill>
              </a:rPr>
              <a:t>PostgreSQL</a:t>
            </a:r>
            <a:endParaRPr lang="en-US" sz="1050"/>
          </a:p>
          <a:p>
            <a:pPr marL="0" indent="0" algn="ctr">
              <a:buNone/>
              <a:defRPr/>
            </a:pPr>
            <a:r>
              <a:rPr lang="en-US" sz="1050" b="1">
                <a:solidFill>
                  <a:srgbClr val="F4F7F6"/>
                </a:solidFill>
              </a:rPr>
              <a:t>+ Prisma</a:t>
            </a:r>
            <a:endParaRPr lang="en-US" sz="1050"/>
          </a:p>
        </p:txBody>
      </p:sp>
      <p:sp>
        <p:nvSpPr>
          <p:cNvPr id="154005152" name="Shape 41"/>
          <p:cNvSpPr/>
          <p:nvPr/>
        </p:nvSpPr>
        <p:spPr bwMode="auto">
          <a:xfrm>
            <a:off x="7132320" y="3566160"/>
            <a:ext cx="1600200" cy="713232"/>
          </a:xfrm>
          <a:prstGeom prst="roundRect">
            <a:avLst>
              <a:gd name="adj" fmla="val 8974"/>
            </a:avLst>
          </a:prstGeom>
          <a:solidFill>
            <a:srgbClr val="101818"/>
          </a:solidFill>
          <a:ln w="12700">
            <a:solidFill>
              <a:srgbClr val="24D6C3"/>
            </a:solidFill>
            <a:prstDash val="solid"/>
          </a:ln>
        </p:spPr>
      </p:sp>
      <p:sp>
        <p:nvSpPr>
          <p:cNvPr id="783810664" name="Text 42"/>
          <p:cNvSpPr/>
          <p:nvPr/>
        </p:nvSpPr>
        <p:spPr bwMode="auto">
          <a:xfrm>
            <a:off x="7242048" y="37033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  <a:defRPr/>
            </a:pPr>
            <a:r>
              <a:rPr lang="en-US" sz="1050" b="1">
                <a:solidFill>
                  <a:srgbClr val="F4F7F6"/>
                </a:solidFill>
              </a:rPr>
              <a:t>TMDB</a:t>
            </a:r>
            <a:endParaRPr lang="en-US" sz="1050"/>
          </a:p>
          <a:p>
            <a:pPr marL="0" indent="0" algn="ctr">
              <a:buNone/>
              <a:defRPr/>
            </a:pPr>
            <a:r>
              <a:rPr lang="en-US" sz="1050" b="1">
                <a:solidFill>
                  <a:srgbClr val="F4F7F6"/>
                </a:solidFill>
              </a:rPr>
              <a:t>API</a:t>
            </a:r>
            <a:endParaRPr lang="en-US" sz="1050"/>
          </a:p>
        </p:txBody>
      </p:sp>
      <p:sp>
        <p:nvSpPr>
          <p:cNvPr id="1333599518" name="Shape 43"/>
          <p:cNvSpPr/>
          <p:nvPr/>
        </p:nvSpPr>
        <p:spPr bwMode="auto">
          <a:xfrm>
            <a:off x="7132320" y="5029200"/>
            <a:ext cx="1600200" cy="713232"/>
          </a:xfrm>
          <a:prstGeom prst="roundRect">
            <a:avLst>
              <a:gd name="adj" fmla="val 8974"/>
            </a:avLst>
          </a:prstGeom>
          <a:solidFill>
            <a:srgbClr val="101818"/>
          </a:solidFill>
          <a:ln w="12700">
            <a:solidFill>
              <a:srgbClr val="24D6C3"/>
            </a:solidFill>
            <a:prstDash val="solid"/>
          </a:ln>
        </p:spPr>
      </p:sp>
      <p:sp>
        <p:nvSpPr>
          <p:cNvPr id="910562275" name="Text 44"/>
          <p:cNvSpPr/>
          <p:nvPr/>
        </p:nvSpPr>
        <p:spPr bwMode="auto">
          <a:xfrm>
            <a:off x="7242048" y="51663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  <a:defRPr/>
            </a:pPr>
            <a:r>
              <a:rPr lang="en-US" sz="1050" b="1">
                <a:solidFill>
                  <a:srgbClr val="F4F7F6"/>
                </a:solidFill>
              </a:rPr>
              <a:t>FastAPI</a:t>
            </a:r>
            <a:endParaRPr lang="en-US" sz="1050"/>
          </a:p>
          <a:p>
            <a:pPr marL="0" indent="0" algn="ctr">
              <a:buNone/>
              <a:defRPr/>
            </a:pPr>
            <a:r>
              <a:rPr lang="en-US" sz="1050" b="1">
                <a:solidFill>
                  <a:srgbClr val="F4F7F6"/>
                </a:solidFill>
              </a:rPr>
              <a:t>Model API</a:t>
            </a:r>
            <a:endParaRPr lang="en-US" sz="1050"/>
          </a:p>
        </p:txBody>
      </p:sp>
      <p:sp>
        <p:nvSpPr>
          <p:cNvPr id="211323492" name="Shape 45"/>
          <p:cNvSpPr/>
          <p:nvPr/>
        </p:nvSpPr>
        <p:spPr bwMode="auto">
          <a:xfrm>
            <a:off x="9509760" y="5029200"/>
            <a:ext cx="1600200" cy="713232"/>
          </a:xfrm>
          <a:prstGeom prst="roundRect">
            <a:avLst>
              <a:gd name="adj" fmla="val 8974"/>
            </a:avLst>
          </a:prstGeom>
          <a:solidFill>
            <a:srgbClr val="101818"/>
          </a:solidFill>
          <a:ln w="12700">
            <a:solidFill>
              <a:srgbClr val="24D6C3"/>
            </a:solidFill>
            <a:prstDash val="solid"/>
          </a:ln>
        </p:spPr>
      </p:sp>
      <p:sp>
        <p:nvSpPr>
          <p:cNvPr id="2103160857" name="Text 46"/>
          <p:cNvSpPr/>
          <p:nvPr/>
        </p:nvSpPr>
        <p:spPr bwMode="auto">
          <a:xfrm>
            <a:off x="9619488" y="51663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  <a:defRPr/>
            </a:pPr>
            <a:r>
              <a:rPr lang="en-US" sz="1050" b="1">
                <a:solidFill>
                  <a:srgbClr val="F4F7F6"/>
                </a:solidFill>
              </a:rPr>
              <a:t>TF-IDF +</a:t>
            </a:r>
            <a:endParaRPr lang="en-US" sz="1050"/>
          </a:p>
          <a:p>
            <a:pPr marL="0" indent="0" algn="ctr">
              <a:buNone/>
              <a:defRPr/>
            </a:pPr>
            <a:r>
              <a:rPr lang="en-US" sz="1050" b="1">
                <a:solidFill>
                  <a:srgbClr val="F4F7F6"/>
                </a:solidFill>
              </a:rPr>
              <a:t>Logistic Reg.</a:t>
            </a:r>
            <a:endParaRPr lang="en-US" sz="1050"/>
          </a:p>
        </p:txBody>
      </p:sp>
      <p:sp>
        <p:nvSpPr>
          <p:cNvPr id="537695708" name="Shape 47"/>
          <p:cNvSpPr/>
          <p:nvPr/>
        </p:nvSpPr>
        <p:spPr bwMode="auto">
          <a:xfrm>
            <a:off x="2331720" y="3090672"/>
            <a:ext cx="347472" cy="0"/>
          </a:xfrm>
          <a:prstGeom prst="line">
            <a:avLst/>
          </a:prstGeom>
          <a:noFill/>
          <a:ln w="19050">
            <a:solidFill>
              <a:srgbClr val="24D6C3"/>
            </a:solidFill>
            <a:prstDash val="solid"/>
            <a:headEnd type="none"/>
            <a:tailEnd type="triangle"/>
          </a:ln>
        </p:spPr>
      </p:sp>
      <p:sp>
        <p:nvSpPr>
          <p:cNvPr id="1557862072" name="Shape 48"/>
          <p:cNvSpPr/>
          <p:nvPr/>
        </p:nvSpPr>
        <p:spPr bwMode="auto">
          <a:xfrm>
            <a:off x="4343400" y="3090672"/>
            <a:ext cx="347472" cy="0"/>
          </a:xfrm>
          <a:prstGeom prst="line">
            <a:avLst/>
          </a:prstGeom>
          <a:noFill/>
          <a:ln w="19050">
            <a:solidFill>
              <a:srgbClr val="24D6C3"/>
            </a:solidFill>
            <a:prstDash val="solid"/>
            <a:headEnd type="none"/>
            <a:tailEnd type="triangle"/>
          </a:ln>
        </p:spPr>
      </p:sp>
      <p:sp>
        <p:nvSpPr>
          <p:cNvPr id="1498793919" name="Shape 49"/>
          <p:cNvSpPr/>
          <p:nvPr/>
        </p:nvSpPr>
        <p:spPr bwMode="auto">
          <a:xfrm flipH="0" flipV="1">
            <a:off x="6355079" y="1945821"/>
            <a:ext cx="777240" cy="980258"/>
          </a:xfrm>
          <a:prstGeom prst="line">
            <a:avLst/>
          </a:prstGeom>
          <a:noFill/>
          <a:ln w="19050">
            <a:solidFill>
              <a:srgbClr val="24D6C3"/>
            </a:solidFill>
            <a:prstDash val="solid"/>
            <a:headEnd type="none"/>
            <a:tailEnd type="triangle"/>
          </a:ln>
        </p:spPr>
      </p:sp>
      <p:sp>
        <p:nvSpPr>
          <p:cNvPr id="1528241692" name="Shape 50"/>
          <p:cNvSpPr/>
          <p:nvPr/>
        </p:nvSpPr>
        <p:spPr bwMode="auto">
          <a:xfrm flipH="0" flipV="0">
            <a:off x="6355079" y="3218687"/>
            <a:ext cx="777240" cy="577704"/>
          </a:xfrm>
          <a:prstGeom prst="line">
            <a:avLst/>
          </a:prstGeom>
          <a:noFill/>
          <a:ln w="19050">
            <a:solidFill>
              <a:srgbClr val="24D6C3"/>
            </a:solidFill>
            <a:prstDash val="solid"/>
            <a:headEnd type="none"/>
            <a:tailEnd type="triangle"/>
          </a:ln>
        </p:spPr>
      </p:sp>
      <p:sp>
        <p:nvSpPr>
          <p:cNvPr id="1917272542" name="Shape 51"/>
          <p:cNvSpPr/>
          <p:nvPr/>
        </p:nvSpPr>
        <p:spPr bwMode="auto">
          <a:xfrm>
            <a:off x="6355080" y="3401568"/>
            <a:ext cx="658368" cy="1737360"/>
          </a:xfrm>
          <a:prstGeom prst="line">
            <a:avLst/>
          </a:prstGeom>
          <a:noFill/>
          <a:ln w="19050">
            <a:solidFill>
              <a:srgbClr val="24D6C3"/>
            </a:solidFill>
            <a:prstDash val="solid"/>
            <a:headEnd type="none"/>
            <a:tailEnd type="triangle"/>
          </a:ln>
        </p:spPr>
      </p:sp>
      <p:sp>
        <p:nvSpPr>
          <p:cNvPr id="1507009979" name="Shape 52"/>
          <p:cNvSpPr/>
          <p:nvPr/>
        </p:nvSpPr>
        <p:spPr bwMode="auto">
          <a:xfrm>
            <a:off x="8732520" y="5376672"/>
            <a:ext cx="658368" cy="0"/>
          </a:xfrm>
          <a:prstGeom prst="line">
            <a:avLst/>
          </a:prstGeom>
          <a:noFill/>
          <a:ln w="19050">
            <a:solidFill>
              <a:srgbClr val="24D6C3"/>
            </a:solidFill>
            <a:prstDash val="solid"/>
            <a:headEnd type="none"/>
            <a:tailEnd type="triangle"/>
          </a:ln>
        </p:spPr>
      </p:sp>
      <p:sp>
        <p:nvSpPr>
          <p:cNvPr id="341424420" name="Text 53"/>
          <p:cNvSpPr/>
          <p:nvPr/>
        </p:nvSpPr>
        <p:spPr bwMode="auto">
          <a:xfrm>
            <a:off x="777240" y="5989320"/>
            <a:ext cx="996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50">
                <a:solidFill>
                  <a:srgbClr val="9EA8A6"/>
                </a:solidFill>
              </a:rPr>
              <a:t>Browser tidak memanggil model API langsung. Nuxt server menjadi boundary agar API key aman dan hasil prediksi bisa langsung disimpan.</a:t>
            </a:r>
            <a:endParaRPr lang="en-US" sz="1150"/>
          </a:p>
        </p:txBody>
      </p:sp>
      <p:sp>
        <p:nvSpPr>
          <p:cNvPr id="870882074" name="Text 54"/>
          <p:cNvSpPr/>
          <p:nvPr/>
        </p:nvSpPr>
        <p:spPr bwMode="auto">
          <a:xfrm>
            <a:off x="566928" y="6446520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700">
                <a:solidFill>
                  <a:srgbClr val="9EA8A6"/>
                </a:solidFill>
              </a:rPr>
              <a:t>Nuxt Movies · NLP Sentiment Classification · 10</a:t>
            </a:r>
            <a:endParaRPr lang="en-US" sz="7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1">
    <p:bg>
      <p:bgPr shadeToTitle="0">
        <a:solidFill>
          <a:srgbClr val="050808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6971959" name="Shape 0"/>
          <p:cNvSpPr/>
          <p:nvPr/>
        </p:nvSpPr>
        <p:spPr bwMode="auto">
          <a:xfrm>
            <a:off x="0" y="0"/>
            <a:ext cx="12191695" cy="6858000"/>
          </a:xfrm>
          <a:prstGeom prst="rect">
            <a:avLst/>
          </a:prstGeom>
          <a:solidFill>
            <a:srgbClr val="050808"/>
          </a:solidFill>
          <a:ln w="12700">
            <a:solidFill>
              <a:srgbClr val="050808"/>
            </a:solidFill>
            <a:prstDash val="solid"/>
          </a:ln>
        </p:spPr>
      </p:sp>
      <p:sp>
        <p:nvSpPr>
          <p:cNvPr id="167912352" name="Shape 1"/>
          <p:cNvSpPr/>
          <p:nvPr/>
        </p:nvSpPr>
        <p:spPr bwMode="auto">
          <a:xfrm>
            <a:off x="0" y="0"/>
            <a:ext cx="12191695" cy="6858000"/>
          </a:xfrm>
          <a:prstGeom prst="rect">
            <a:avLst/>
          </a:prstGeom>
          <a:solidFill>
            <a:srgbClr val="071111">
              <a:alpha val="80000"/>
            </a:srgbClr>
          </a:solidFill>
          <a:ln w="12700">
            <a:solidFill>
              <a:srgbClr val="071111">
                <a:alpha val="0"/>
              </a:srgbClr>
            </a:solidFill>
            <a:prstDash val="solid"/>
          </a:ln>
        </p:spPr>
        <p:txBody>
          <a:bodyPr anchor="ctr"/>
          <a:p>
            <a:pPr algn="ctr">
              <a:defRPr/>
            </a:pPr>
            <a:r>
              <a:rPr/>
              <a:t>V</a:t>
            </a:r>
            <a:endParaRPr/>
          </a:p>
        </p:txBody>
      </p:sp>
      <p:sp>
        <p:nvSpPr>
          <p:cNvPr id="1093493657" name="Shape 2"/>
          <p:cNvSpPr/>
          <p:nvPr/>
        </p:nvSpPr>
        <p:spPr bwMode="auto">
          <a:xfrm>
            <a:off x="0" y="0"/>
            <a:ext cx="0" cy="6858000"/>
          </a:xfrm>
          <a:prstGeom prst="line">
            <a:avLst/>
          </a:prstGeom>
          <a:noFill/>
          <a:ln w="4445">
            <a:solidFill>
              <a:srgbClr val="132020">
                <a:alpha val="45000"/>
              </a:srgbClr>
            </a:solidFill>
            <a:prstDash val="solid"/>
          </a:ln>
        </p:spPr>
      </p:sp>
      <p:sp>
        <p:nvSpPr>
          <p:cNvPr id="1154504520" name="Shape 3"/>
          <p:cNvSpPr/>
          <p:nvPr/>
        </p:nvSpPr>
        <p:spPr bwMode="auto">
          <a:xfrm>
            <a:off x="713232" y="0"/>
            <a:ext cx="0" cy="6858000"/>
          </a:xfrm>
          <a:prstGeom prst="line">
            <a:avLst/>
          </a:prstGeom>
          <a:noFill/>
          <a:ln w="4445">
            <a:solidFill>
              <a:srgbClr val="132020">
                <a:alpha val="45000"/>
              </a:srgbClr>
            </a:solidFill>
            <a:prstDash val="solid"/>
          </a:ln>
        </p:spPr>
      </p:sp>
      <p:sp>
        <p:nvSpPr>
          <p:cNvPr id="2108430501" name="Shape 4"/>
          <p:cNvSpPr/>
          <p:nvPr/>
        </p:nvSpPr>
        <p:spPr bwMode="auto">
          <a:xfrm>
            <a:off x="1426464" y="0"/>
            <a:ext cx="0" cy="6858000"/>
          </a:xfrm>
          <a:prstGeom prst="line">
            <a:avLst/>
          </a:prstGeom>
          <a:noFill/>
          <a:ln w="4445">
            <a:solidFill>
              <a:srgbClr val="132020">
                <a:alpha val="45000"/>
              </a:srgbClr>
            </a:solidFill>
            <a:prstDash val="solid"/>
          </a:ln>
        </p:spPr>
      </p:sp>
      <p:sp>
        <p:nvSpPr>
          <p:cNvPr id="1058632229" name="Shape 5"/>
          <p:cNvSpPr/>
          <p:nvPr/>
        </p:nvSpPr>
        <p:spPr bwMode="auto">
          <a:xfrm>
            <a:off x="2139696" y="0"/>
            <a:ext cx="0" cy="6858000"/>
          </a:xfrm>
          <a:prstGeom prst="line">
            <a:avLst/>
          </a:prstGeom>
          <a:noFill/>
          <a:ln w="4445">
            <a:solidFill>
              <a:srgbClr val="132020">
                <a:alpha val="45000"/>
              </a:srgbClr>
            </a:solidFill>
            <a:prstDash val="solid"/>
          </a:ln>
        </p:spPr>
      </p:sp>
      <p:sp>
        <p:nvSpPr>
          <p:cNvPr id="326077772" name="Shape 6"/>
          <p:cNvSpPr/>
          <p:nvPr/>
        </p:nvSpPr>
        <p:spPr bwMode="auto">
          <a:xfrm>
            <a:off x="2852928" y="0"/>
            <a:ext cx="0" cy="6858000"/>
          </a:xfrm>
          <a:prstGeom prst="line">
            <a:avLst/>
          </a:prstGeom>
          <a:noFill/>
          <a:ln w="4445">
            <a:solidFill>
              <a:srgbClr val="132020">
                <a:alpha val="45000"/>
              </a:srgbClr>
            </a:solidFill>
            <a:prstDash val="solid"/>
          </a:ln>
        </p:spPr>
      </p:sp>
      <p:sp>
        <p:nvSpPr>
          <p:cNvPr id="1392655295" name="Shape 7"/>
          <p:cNvSpPr/>
          <p:nvPr/>
        </p:nvSpPr>
        <p:spPr bwMode="auto">
          <a:xfrm>
            <a:off x="3566160" y="0"/>
            <a:ext cx="0" cy="6858000"/>
          </a:xfrm>
          <a:prstGeom prst="line">
            <a:avLst/>
          </a:prstGeom>
          <a:noFill/>
          <a:ln w="4445">
            <a:solidFill>
              <a:srgbClr val="132020">
                <a:alpha val="45000"/>
              </a:srgbClr>
            </a:solidFill>
            <a:prstDash val="solid"/>
          </a:ln>
        </p:spPr>
      </p:sp>
      <p:sp>
        <p:nvSpPr>
          <p:cNvPr id="137111110" name="Shape 8"/>
          <p:cNvSpPr/>
          <p:nvPr/>
        </p:nvSpPr>
        <p:spPr bwMode="auto">
          <a:xfrm>
            <a:off x="4279392" y="0"/>
            <a:ext cx="0" cy="6858000"/>
          </a:xfrm>
          <a:prstGeom prst="line">
            <a:avLst/>
          </a:prstGeom>
          <a:noFill/>
          <a:ln w="4445">
            <a:solidFill>
              <a:srgbClr val="132020">
                <a:alpha val="45000"/>
              </a:srgbClr>
            </a:solidFill>
            <a:prstDash val="solid"/>
          </a:ln>
        </p:spPr>
      </p:sp>
      <p:sp>
        <p:nvSpPr>
          <p:cNvPr id="1392371018" name="Shape 9"/>
          <p:cNvSpPr/>
          <p:nvPr/>
        </p:nvSpPr>
        <p:spPr bwMode="auto">
          <a:xfrm>
            <a:off x="4992624" y="0"/>
            <a:ext cx="0" cy="6858000"/>
          </a:xfrm>
          <a:prstGeom prst="line">
            <a:avLst/>
          </a:prstGeom>
          <a:noFill/>
          <a:ln w="4445">
            <a:solidFill>
              <a:srgbClr val="132020">
                <a:alpha val="45000"/>
              </a:srgbClr>
            </a:solidFill>
            <a:prstDash val="solid"/>
          </a:ln>
        </p:spPr>
      </p:sp>
      <p:sp>
        <p:nvSpPr>
          <p:cNvPr id="1224444615" name="Shape 10"/>
          <p:cNvSpPr/>
          <p:nvPr/>
        </p:nvSpPr>
        <p:spPr bwMode="auto">
          <a:xfrm>
            <a:off x="5705856" y="0"/>
            <a:ext cx="0" cy="6858000"/>
          </a:xfrm>
          <a:prstGeom prst="line">
            <a:avLst/>
          </a:prstGeom>
          <a:noFill/>
          <a:ln w="4445">
            <a:solidFill>
              <a:srgbClr val="132020">
                <a:alpha val="45000"/>
              </a:srgbClr>
            </a:solidFill>
            <a:prstDash val="solid"/>
          </a:ln>
        </p:spPr>
      </p:sp>
      <p:sp>
        <p:nvSpPr>
          <p:cNvPr id="185240968" name="Shape 11"/>
          <p:cNvSpPr/>
          <p:nvPr/>
        </p:nvSpPr>
        <p:spPr bwMode="auto">
          <a:xfrm>
            <a:off x="6419088" y="0"/>
            <a:ext cx="0" cy="6858000"/>
          </a:xfrm>
          <a:prstGeom prst="line">
            <a:avLst/>
          </a:prstGeom>
          <a:noFill/>
          <a:ln w="4445">
            <a:solidFill>
              <a:srgbClr val="132020">
                <a:alpha val="45000"/>
              </a:srgbClr>
            </a:solidFill>
            <a:prstDash val="solid"/>
          </a:ln>
        </p:spPr>
      </p:sp>
      <p:sp>
        <p:nvSpPr>
          <p:cNvPr id="1796753279" name="Shape 12"/>
          <p:cNvSpPr/>
          <p:nvPr/>
        </p:nvSpPr>
        <p:spPr bwMode="auto">
          <a:xfrm>
            <a:off x="7132320" y="0"/>
            <a:ext cx="0" cy="6858000"/>
          </a:xfrm>
          <a:prstGeom prst="line">
            <a:avLst/>
          </a:prstGeom>
          <a:noFill/>
          <a:ln w="4445">
            <a:solidFill>
              <a:srgbClr val="132020">
                <a:alpha val="45000"/>
              </a:srgbClr>
            </a:solidFill>
            <a:prstDash val="solid"/>
          </a:ln>
        </p:spPr>
      </p:sp>
      <p:sp>
        <p:nvSpPr>
          <p:cNvPr id="604367258" name="Shape 13"/>
          <p:cNvSpPr/>
          <p:nvPr/>
        </p:nvSpPr>
        <p:spPr bwMode="auto">
          <a:xfrm>
            <a:off x="7845552" y="0"/>
            <a:ext cx="0" cy="6858000"/>
          </a:xfrm>
          <a:prstGeom prst="line">
            <a:avLst/>
          </a:prstGeom>
          <a:noFill/>
          <a:ln w="4445">
            <a:solidFill>
              <a:srgbClr val="132020">
                <a:alpha val="45000"/>
              </a:srgbClr>
            </a:solidFill>
            <a:prstDash val="solid"/>
          </a:ln>
        </p:spPr>
      </p:sp>
      <p:sp>
        <p:nvSpPr>
          <p:cNvPr id="1169143350" name="Shape 14"/>
          <p:cNvSpPr/>
          <p:nvPr/>
        </p:nvSpPr>
        <p:spPr bwMode="auto">
          <a:xfrm>
            <a:off x="8558784" y="0"/>
            <a:ext cx="0" cy="6858000"/>
          </a:xfrm>
          <a:prstGeom prst="line">
            <a:avLst/>
          </a:prstGeom>
          <a:noFill/>
          <a:ln w="4445">
            <a:solidFill>
              <a:srgbClr val="132020">
                <a:alpha val="45000"/>
              </a:srgbClr>
            </a:solidFill>
            <a:prstDash val="solid"/>
          </a:ln>
        </p:spPr>
      </p:sp>
      <p:sp>
        <p:nvSpPr>
          <p:cNvPr id="633553410" name="Shape 15"/>
          <p:cNvSpPr/>
          <p:nvPr/>
        </p:nvSpPr>
        <p:spPr bwMode="auto">
          <a:xfrm>
            <a:off x="9272016" y="0"/>
            <a:ext cx="0" cy="6858000"/>
          </a:xfrm>
          <a:prstGeom prst="line">
            <a:avLst/>
          </a:prstGeom>
          <a:noFill/>
          <a:ln w="4445">
            <a:solidFill>
              <a:srgbClr val="132020">
                <a:alpha val="45000"/>
              </a:srgbClr>
            </a:solidFill>
            <a:prstDash val="solid"/>
          </a:ln>
        </p:spPr>
      </p:sp>
      <p:sp>
        <p:nvSpPr>
          <p:cNvPr id="310344466" name="Shape 16"/>
          <p:cNvSpPr/>
          <p:nvPr/>
        </p:nvSpPr>
        <p:spPr bwMode="auto">
          <a:xfrm>
            <a:off x="9985248" y="0"/>
            <a:ext cx="0" cy="6858000"/>
          </a:xfrm>
          <a:prstGeom prst="line">
            <a:avLst/>
          </a:prstGeom>
          <a:noFill/>
          <a:ln w="4445">
            <a:solidFill>
              <a:srgbClr val="132020">
                <a:alpha val="45000"/>
              </a:srgbClr>
            </a:solidFill>
            <a:prstDash val="solid"/>
          </a:ln>
        </p:spPr>
      </p:sp>
      <p:sp>
        <p:nvSpPr>
          <p:cNvPr id="1565908307" name="Shape 17"/>
          <p:cNvSpPr/>
          <p:nvPr/>
        </p:nvSpPr>
        <p:spPr bwMode="auto">
          <a:xfrm>
            <a:off x="10698480" y="0"/>
            <a:ext cx="0" cy="6858000"/>
          </a:xfrm>
          <a:prstGeom prst="line">
            <a:avLst/>
          </a:prstGeom>
          <a:noFill/>
          <a:ln w="4445">
            <a:solidFill>
              <a:srgbClr val="132020">
                <a:alpha val="45000"/>
              </a:srgbClr>
            </a:solidFill>
            <a:prstDash val="solid"/>
          </a:ln>
        </p:spPr>
      </p:sp>
      <p:sp>
        <p:nvSpPr>
          <p:cNvPr id="446906898" name="Shape 18"/>
          <p:cNvSpPr/>
          <p:nvPr/>
        </p:nvSpPr>
        <p:spPr bwMode="auto">
          <a:xfrm>
            <a:off x="11411712" y="0"/>
            <a:ext cx="0" cy="6858000"/>
          </a:xfrm>
          <a:prstGeom prst="line">
            <a:avLst/>
          </a:prstGeom>
          <a:noFill/>
          <a:ln w="4445">
            <a:solidFill>
              <a:srgbClr val="132020">
                <a:alpha val="45000"/>
              </a:srgbClr>
            </a:solidFill>
            <a:prstDash val="solid"/>
          </a:ln>
        </p:spPr>
      </p:sp>
      <p:sp>
        <p:nvSpPr>
          <p:cNvPr id="1307068500" name="Shape 19"/>
          <p:cNvSpPr/>
          <p:nvPr/>
        </p:nvSpPr>
        <p:spPr bwMode="auto">
          <a:xfrm>
            <a:off x="12124943" y="0"/>
            <a:ext cx="0" cy="6858000"/>
          </a:xfrm>
          <a:prstGeom prst="line">
            <a:avLst/>
          </a:prstGeom>
          <a:noFill/>
          <a:ln w="4445">
            <a:solidFill>
              <a:srgbClr val="132020">
                <a:alpha val="45000"/>
              </a:srgbClr>
            </a:solidFill>
            <a:prstDash val="solid"/>
          </a:ln>
        </p:spPr>
      </p:sp>
      <p:sp>
        <p:nvSpPr>
          <p:cNvPr id="780934377" name="Shape 20"/>
          <p:cNvSpPr/>
          <p:nvPr/>
        </p:nvSpPr>
        <p:spPr bwMode="auto">
          <a:xfrm>
            <a:off x="0" y="0"/>
            <a:ext cx="12191695" cy="0"/>
          </a:xfrm>
          <a:prstGeom prst="line">
            <a:avLst/>
          </a:prstGeom>
          <a:noFill/>
          <a:ln w="4445">
            <a:solidFill>
              <a:srgbClr val="132020">
                <a:alpha val="38000"/>
              </a:srgbClr>
            </a:solidFill>
            <a:prstDash val="solid"/>
          </a:ln>
        </p:spPr>
      </p:sp>
      <p:sp>
        <p:nvSpPr>
          <p:cNvPr id="980679740" name="Shape 21"/>
          <p:cNvSpPr/>
          <p:nvPr/>
        </p:nvSpPr>
        <p:spPr bwMode="auto">
          <a:xfrm>
            <a:off x="0" y="713232"/>
            <a:ext cx="12191695" cy="0"/>
          </a:xfrm>
          <a:prstGeom prst="line">
            <a:avLst/>
          </a:prstGeom>
          <a:noFill/>
          <a:ln w="4445">
            <a:solidFill>
              <a:srgbClr val="132020">
                <a:alpha val="38000"/>
              </a:srgbClr>
            </a:solidFill>
            <a:prstDash val="solid"/>
          </a:ln>
        </p:spPr>
      </p:sp>
      <p:sp>
        <p:nvSpPr>
          <p:cNvPr id="1643259075" name="Shape 22"/>
          <p:cNvSpPr/>
          <p:nvPr/>
        </p:nvSpPr>
        <p:spPr bwMode="auto">
          <a:xfrm>
            <a:off x="0" y="1426464"/>
            <a:ext cx="12191695" cy="0"/>
          </a:xfrm>
          <a:prstGeom prst="line">
            <a:avLst/>
          </a:prstGeom>
          <a:noFill/>
          <a:ln w="4445">
            <a:solidFill>
              <a:srgbClr val="132020">
                <a:alpha val="38000"/>
              </a:srgbClr>
            </a:solidFill>
            <a:prstDash val="solid"/>
          </a:ln>
        </p:spPr>
      </p:sp>
      <p:sp>
        <p:nvSpPr>
          <p:cNvPr id="1024246379" name="Shape 23"/>
          <p:cNvSpPr/>
          <p:nvPr/>
        </p:nvSpPr>
        <p:spPr bwMode="auto">
          <a:xfrm>
            <a:off x="0" y="2139696"/>
            <a:ext cx="12191695" cy="0"/>
          </a:xfrm>
          <a:prstGeom prst="line">
            <a:avLst/>
          </a:prstGeom>
          <a:noFill/>
          <a:ln w="4445">
            <a:solidFill>
              <a:srgbClr val="132020">
                <a:alpha val="38000"/>
              </a:srgbClr>
            </a:solidFill>
            <a:prstDash val="solid"/>
          </a:ln>
        </p:spPr>
      </p:sp>
      <p:sp>
        <p:nvSpPr>
          <p:cNvPr id="503088277" name="Shape 24"/>
          <p:cNvSpPr/>
          <p:nvPr/>
        </p:nvSpPr>
        <p:spPr bwMode="auto">
          <a:xfrm>
            <a:off x="0" y="2852928"/>
            <a:ext cx="12191695" cy="0"/>
          </a:xfrm>
          <a:prstGeom prst="line">
            <a:avLst/>
          </a:prstGeom>
          <a:noFill/>
          <a:ln w="4445">
            <a:solidFill>
              <a:srgbClr val="132020">
                <a:alpha val="38000"/>
              </a:srgbClr>
            </a:solidFill>
            <a:prstDash val="solid"/>
          </a:ln>
        </p:spPr>
      </p:sp>
      <p:sp>
        <p:nvSpPr>
          <p:cNvPr id="122380872" name="Shape 25"/>
          <p:cNvSpPr/>
          <p:nvPr/>
        </p:nvSpPr>
        <p:spPr bwMode="auto">
          <a:xfrm>
            <a:off x="0" y="3566160"/>
            <a:ext cx="12191695" cy="0"/>
          </a:xfrm>
          <a:prstGeom prst="line">
            <a:avLst/>
          </a:prstGeom>
          <a:noFill/>
          <a:ln w="4445">
            <a:solidFill>
              <a:srgbClr val="132020">
                <a:alpha val="38000"/>
              </a:srgbClr>
            </a:solidFill>
            <a:prstDash val="solid"/>
          </a:ln>
        </p:spPr>
      </p:sp>
      <p:sp>
        <p:nvSpPr>
          <p:cNvPr id="751434334" name="Shape 26"/>
          <p:cNvSpPr/>
          <p:nvPr/>
        </p:nvSpPr>
        <p:spPr bwMode="auto">
          <a:xfrm>
            <a:off x="0" y="4279392"/>
            <a:ext cx="12191695" cy="0"/>
          </a:xfrm>
          <a:prstGeom prst="line">
            <a:avLst/>
          </a:prstGeom>
          <a:noFill/>
          <a:ln w="4445">
            <a:solidFill>
              <a:srgbClr val="132020">
                <a:alpha val="38000"/>
              </a:srgbClr>
            </a:solidFill>
            <a:prstDash val="solid"/>
          </a:ln>
        </p:spPr>
      </p:sp>
      <p:sp>
        <p:nvSpPr>
          <p:cNvPr id="1553180495" name="Shape 27"/>
          <p:cNvSpPr/>
          <p:nvPr/>
        </p:nvSpPr>
        <p:spPr bwMode="auto">
          <a:xfrm>
            <a:off x="0" y="4992624"/>
            <a:ext cx="12191695" cy="0"/>
          </a:xfrm>
          <a:prstGeom prst="line">
            <a:avLst/>
          </a:prstGeom>
          <a:noFill/>
          <a:ln w="4445">
            <a:solidFill>
              <a:srgbClr val="132020">
                <a:alpha val="38000"/>
              </a:srgbClr>
            </a:solidFill>
            <a:prstDash val="solid"/>
          </a:ln>
        </p:spPr>
      </p:sp>
      <p:sp>
        <p:nvSpPr>
          <p:cNvPr id="504990388" name="Shape 28"/>
          <p:cNvSpPr/>
          <p:nvPr/>
        </p:nvSpPr>
        <p:spPr bwMode="auto">
          <a:xfrm>
            <a:off x="0" y="5705856"/>
            <a:ext cx="12191695" cy="0"/>
          </a:xfrm>
          <a:prstGeom prst="line">
            <a:avLst/>
          </a:prstGeom>
          <a:noFill/>
          <a:ln w="4445">
            <a:solidFill>
              <a:srgbClr val="132020">
                <a:alpha val="38000"/>
              </a:srgbClr>
            </a:solidFill>
            <a:prstDash val="solid"/>
          </a:ln>
        </p:spPr>
      </p:sp>
      <p:sp>
        <p:nvSpPr>
          <p:cNvPr id="1754734330" name="Shape 29"/>
          <p:cNvSpPr/>
          <p:nvPr/>
        </p:nvSpPr>
        <p:spPr bwMode="auto">
          <a:xfrm>
            <a:off x="0" y="6419088"/>
            <a:ext cx="12191695" cy="0"/>
          </a:xfrm>
          <a:prstGeom prst="line">
            <a:avLst/>
          </a:prstGeom>
          <a:noFill/>
          <a:ln w="4445">
            <a:solidFill>
              <a:srgbClr val="132020">
                <a:alpha val="38000"/>
              </a:srgbClr>
            </a:solidFill>
            <a:prstDash val="solid"/>
          </a:ln>
        </p:spPr>
      </p:sp>
      <p:sp>
        <p:nvSpPr>
          <p:cNvPr id="1831264661" name="Shape 30"/>
          <p:cNvSpPr/>
          <p:nvPr/>
        </p:nvSpPr>
        <p:spPr bwMode="auto">
          <a:xfrm>
            <a:off x="0" y="0"/>
            <a:ext cx="82296" cy="6858000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pic>
        <p:nvPicPr>
          <p:cNvPr id="1802382412" name="Image 0" descr="/home/fanff/fanfan/ML/NLP_coolyeah/TA/ppt_nuxt_movies/assets/generated/nuxt-movies-logo.png"/>
          <p:cNvPicPr>
            <a:picLocks noChangeAspect="1"/>
          </p:cNvPicPr>
          <p:nvPr/>
        </p:nvPicPr>
        <p:blipFill rotWithShape="1">
          <a:blip r:embed="rId3">
            <a:alphaModFix amt="94000"/>
          </a:blip>
          <a:stretch/>
        </p:blipFill>
        <p:spPr bwMode="auto">
          <a:xfrm>
            <a:off x="11356848" y="237744"/>
            <a:ext cx="411480" cy="411480"/>
          </a:xfrm>
          <a:prstGeom prst="rect">
            <a:avLst/>
          </a:prstGeom>
        </p:spPr>
      </p:pic>
      <p:sp>
        <p:nvSpPr>
          <p:cNvPr id="971126377" name="Text 31"/>
          <p:cNvSpPr/>
          <p:nvPr/>
        </p:nvSpPr>
        <p:spPr bwMode="auto">
          <a:xfrm>
            <a:off x="548640" y="329184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000" b="1">
                <a:solidFill>
                  <a:srgbClr val="F4F7F6"/>
                </a:solidFill>
                <a:latin typeface="Georgia"/>
                <a:ea typeface="Georgia"/>
                <a:cs typeface="Georgia"/>
              </a:rPr>
              <a:t>Alur Aplikasi Realtime</a:t>
            </a:r>
            <a:endParaRPr lang="en-US" sz="2000"/>
          </a:p>
        </p:txBody>
      </p:sp>
      <p:sp>
        <p:nvSpPr>
          <p:cNvPr id="1322499524" name="Shape 32"/>
          <p:cNvSpPr/>
          <p:nvPr/>
        </p:nvSpPr>
        <p:spPr bwMode="auto">
          <a:xfrm>
            <a:off x="548640" y="804672"/>
            <a:ext cx="1828800" cy="0"/>
          </a:xfrm>
          <a:prstGeom prst="line">
            <a:avLst/>
          </a:prstGeom>
          <a:noFill/>
          <a:ln w="25400">
            <a:solidFill>
              <a:srgbClr val="24D6C3"/>
            </a:solidFill>
            <a:prstDash val="solid"/>
          </a:ln>
        </p:spPr>
      </p:sp>
      <p:sp>
        <p:nvSpPr>
          <p:cNvPr id="410531642" name="Shape 33"/>
          <p:cNvSpPr/>
          <p:nvPr/>
        </p:nvSpPr>
        <p:spPr bwMode="auto">
          <a:xfrm>
            <a:off x="685800" y="1234440"/>
            <a:ext cx="2148840" cy="822960"/>
          </a:xfrm>
          <a:prstGeom prst="roundRect">
            <a:avLst>
              <a:gd name="adj" fmla="val 7778"/>
            </a:avLst>
          </a:prstGeom>
          <a:solidFill>
            <a:srgbClr val="101818"/>
          </a:solidFill>
          <a:ln w="12700">
            <a:solidFill>
              <a:srgbClr val="253232"/>
            </a:solidFill>
            <a:prstDash val="solid"/>
          </a:ln>
        </p:spPr>
      </p:sp>
      <p:sp>
        <p:nvSpPr>
          <p:cNvPr id="447492997" name="Text 34"/>
          <p:cNvSpPr/>
          <p:nvPr/>
        </p:nvSpPr>
        <p:spPr bwMode="auto">
          <a:xfrm>
            <a:off x="822960" y="137160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24D6C3"/>
                </a:solidFill>
              </a:rPr>
              <a:t>01</a:t>
            </a:r>
            <a:endParaRPr lang="en-US" sz="1100"/>
          </a:p>
        </p:txBody>
      </p:sp>
      <p:sp>
        <p:nvSpPr>
          <p:cNvPr id="1845252684" name="Text 35"/>
          <p:cNvSpPr/>
          <p:nvPr/>
        </p:nvSpPr>
        <p:spPr bwMode="auto">
          <a:xfrm>
            <a:off x="1234440" y="1389888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050">
                <a:solidFill>
                  <a:srgbClr val="F4F7F6"/>
                </a:solidFill>
              </a:rPr>
              <a:t>Browse katalog movie/TV</a:t>
            </a:r>
            <a:endParaRPr lang="en-US" sz="1050"/>
          </a:p>
        </p:txBody>
      </p:sp>
      <p:sp>
        <p:nvSpPr>
          <p:cNvPr id="908473100" name="Shape 36"/>
          <p:cNvSpPr/>
          <p:nvPr/>
        </p:nvSpPr>
        <p:spPr bwMode="auto">
          <a:xfrm>
            <a:off x="3474720" y="1234440"/>
            <a:ext cx="2148840" cy="822960"/>
          </a:xfrm>
          <a:prstGeom prst="roundRect">
            <a:avLst>
              <a:gd name="adj" fmla="val 7778"/>
            </a:avLst>
          </a:prstGeom>
          <a:solidFill>
            <a:srgbClr val="101818"/>
          </a:solidFill>
          <a:ln w="12700">
            <a:solidFill>
              <a:srgbClr val="253232"/>
            </a:solidFill>
            <a:prstDash val="solid"/>
          </a:ln>
        </p:spPr>
      </p:sp>
      <p:sp>
        <p:nvSpPr>
          <p:cNvPr id="222030729" name="Text 37"/>
          <p:cNvSpPr/>
          <p:nvPr/>
        </p:nvSpPr>
        <p:spPr bwMode="auto">
          <a:xfrm>
            <a:off x="3611880" y="137160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24D6C3"/>
                </a:solidFill>
              </a:rPr>
              <a:t>02</a:t>
            </a:r>
            <a:endParaRPr lang="en-US" sz="1100"/>
          </a:p>
        </p:txBody>
      </p:sp>
      <p:sp>
        <p:nvSpPr>
          <p:cNvPr id="563602058" name="Text 38"/>
          <p:cNvSpPr/>
          <p:nvPr/>
        </p:nvSpPr>
        <p:spPr bwMode="auto">
          <a:xfrm>
            <a:off x="4023360" y="1389888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050">
                <a:solidFill>
                  <a:srgbClr val="F4F7F6"/>
                </a:solidFill>
              </a:rPr>
              <a:t>Buka detail media</a:t>
            </a:r>
            <a:endParaRPr lang="en-US" sz="1050"/>
          </a:p>
        </p:txBody>
      </p:sp>
      <p:sp>
        <p:nvSpPr>
          <p:cNvPr id="958212472" name="Shape 39"/>
          <p:cNvSpPr/>
          <p:nvPr/>
        </p:nvSpPr>
        <p:spPr bwMode="auto">
          <a:xfrm>
            <a:off x="6263640" y="1234440"/>
            <a:ext cx="2148840" cy="822960"/>
          </a:xfrm>
          <a:prstGeom prst="roundRect">
            <a:avLst>
              <a:gd name="adj" fmla="val 7778"/>
            </a:avLst>
          </a:prstGeom>
          <a:solidFill>
            <a:srgbClr val="101818"/>
          </a:solidFill>
          <a:ln w="12700">
            <a:solidFill>
              <a:srgbClr val="253232"/>
            </a:solidFill>
            <a:prstDash val="solid"/>
          </a:ln>
        </p:spPr>
      </p:sp>
      <p:sp>
        <p:nvSpPr>
          <p:cNvPr id="51496720" name="Text 40"/>
          <p:cNvSpPr/>
          <p:nvPr/>
        </p:nvSpPr>
        <p:spPr bwMode="auto">
          <a:xfrm>
            <a:off x="6400800" y="137160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24D6C3"/>
                </a:solidFill>
              </a:rPr>
              <a:t>03</a:t>
            </a:r>
            <a:endParaRPr lang="en-US" sz="1100"/>
          </a:p>
        </p:txBody>
      </p:sp>
      <p:sp>
        <p:nvSpPr>
          <p:cNvPr id="77271432" name="Text 41"/>
          <p:cNvSpPr/>
          <p:nvPr/>
        </p:nvSpPr>
        <p:spPr bwMode="auto">
          <a:xfrm>
            <a:off x="6812280" y="1389888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050">
                <a:solidFill>
                  <a:srgbClr val="F4F7F6"/>
                </a:solidFill>
              </a:rPr>
              <a:t>Login approved user</a:t>
            </a:r>
            <a:endParaRPr lang="en-US" sz="1050"/>
          </a:p>
        </p:txBody>
      </p:sp>
      <p:sp>
        <p:nvSpPr>
          <p:cNvPr id="366215318" name="Shape 42"/>
          <p:cNvSpPr/>
          <p:nvPr/>
        </p:nvSpPr>
        <p:spPr bwMode="auto">
          <a:xfrm>
            <a:off x="9052560" y="1234440"/>
            <a:ext cx="2148840" cy="822960"/>
          </a:xfrm>
          <a:prstGeom prst="roundRect">
            <a:avLst>
              <a:gd name="adj" fmla="val 7778"/>
            </a:avLst>
          </a:prstGeom>
          <a:solidFill>
            <a:srgbClr val="101818"/>
          </a:solidFill>
          <a:ln w="12700">
            <a:solidFill>
              <a:srgbClr val="253232"/>
            </a:solidFill>
            <a:prstDash val="solid"/>
          </a:ln>
        </p:spPr>
        <p:txBody>
          <a:bodyPr anchor="ctr"/>
          <a:p>
            <a:pPr algn="ctr">
              <a:defRPr/>
            </a:pPr>
            <a:r>
              <a:rPr/>
              <a:t> </a:t>
            </a:r>
            <a:endParaRPr/>
          </a:p>
        </p:txBody>
      </p:sp>
      <p:sp>
        <p:nvSpPr>
          <p:cNvPr id="272657692" name="Text 43"/>
          <p:cNvSpPr/>
          <p:nvPr/>
        </p:nvSpPr>
        <p:spPr bwMode="auto">
          <a:xfrm>
            <a:off x="9189720" y="137160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24D6C3"/>
                </a:solidFill>
              </a:rPr>
              <a:t>04</a:t>
            </a:r>
            <a:endParaRPr lang="en-US" sz="1100"/>
          </a:p>
        </p:txBody>
      </p:sp>
      <p:sp>
        <p:nvSpPr>
          <p:cNvPr id="272542394" name="Text 44"/>
          <p:cNvSpPr/>
          <p:nvPr/>
        </p:nvSpPr>
        <p:spPr bwMode="auto">
          <a:xfrm>
            <a:off x="9601200" y="1389888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050">
                <a:solidFill>
                  <a:srgbClr val="F4F7F6"/>
                </a:solidFill>
              </a:rPr>
              <a:t>Tulis review</a:t>
            </a:r>
            <a:endParaRPr lang="en-US" sz="1050"/>
          </a:p>
        </p:txBody>
      </p:sp>
      <p:sp>
        <p:nvSpPr>
          <p:cNvPr id="1809338965" name="Shape 45"/>
          <p:cNvSpPr/>
          <p:nvPr/>
        </p:nvSpPr>
        <p:spPr bwMode="auto">
          <a:xfrm>
            <a:off x="685800" y="3154680"/>
            <a:ext cx="2148840" cy="822960"/>
          </a:xfrm>
          <a:prstGeom prst="roundRect">
            <a:avLst>
              <a:gd name="adj" fmla="val 7778"/>
            </a:avLst>
          </a:prstGeom>
          <a:solidFill>
            <a:srgbClr val="101818"/>
          </a:solidFill>
          <a:ln w="12700">
            <a:solidFill>
              <a:srgbClr val="253232"/>
            </a:solidFill>
            <a:prstDash val="solid"/>
          </a:ln>
        </p:spPr>
      </p:sp>
      <p:sp>
        <p:nvSpPr>
          <p:cNvPr id="544867221" name="Text 46"/>
          <p:cNvSpPr/>
          <p:nvPr/>
        </p:nvSpPr>
        <p:spPr bwMode="auto">
          <a:xfrm>
            <a:off x="822960" y="329184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24D6C3"/>
                </a:solidFill>
              </a:rPr>
              <a:t>05</a:t>
            </a:r>
            <a:endParaRPr lang="en-US" sz="1100"/>
          </a:p>
        </p:txBody>
      </p:sp>
      <p:sp>
        <p:nvSpPr>
          <p:cNvPr id="501064592" name="Text 47"/>
          <p:cNvSpPr/>
          <p:nvPr/>
        </p:nvSpPr>
        <p:spPr bwMode="auto">
          <a:xfrm>
            <a:off x="1234440" y="3310127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050">
                <a:solidFill>
                  <a:srgbClr val="F4F7F6"/>
                </a:solidFill>
              </a:rPr>
              <a:t>Validasi session + rate limit</a:t>
            </a:r>
            <a:endParaRPr lang="en-US" sz="1050"/>
          </a:p>
        </p:txBody>
      </p:sp>
      <p:sp>
        <p:nvSpPr>
          <p:cNvPr id="1307056615" name="Shape 48"/>
          <p:cNvSpPr/>
          <p:nvPr/>
        </p:nvSpPr>
        <p:spPr bwMode="auto">
          <a:xfrm>
            <a:off x="3474720" y="3154680"/>
            <a:ext cx="2148840" cy="822960"/>
          </a:xfrm>
          <a:prstGeom prst="roundRect">
            <a:avLst>
              <a:gd name="adj" fmla="val 7778"/>
            </a:avLst>
          </a:prstGeom>
          <a:solidFill>
            <a:srgbClr val="171111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922083866" name="Text 49"/>
          <p:cNvSpPr/>
          <p:nvPr/>
        </p:nvSpPr>
        <p:spPr bwMode="auto">
          <a:xfrm>
            <a:off x="3611880" y="329184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E50914"/>
                </a:solidFill>
              </a:rPr>
              <a:t>06</a:t>
            </a:r>
            <a:endParaRPr lang="en-US" sz="1100"/>
          </a:p>
        </p:txBody>
      </p:sp>
      <p:sp>
        <p:nvSpPr>
          <p:cNvPr id="471043721" name="Text 50"/>
          <p:cNvSpPr/>
          <p:nvPr/>
        </p:nvSpPr>
        <p:spPr bwMode="auto">
          <a:xfrm>
            <a:off x="4023360" y="3310127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050">
                <a:solidFill>
                  <a:srgbClr val="F4F7F6"/>
                </a:solidFill>
              </a:rPr>
              <a:t>POST /predict ke FastAPI</a:t>
            </a:r>
            <a:endParaRPr lang="en-US" sz="1050"/>
          </a:p>
        </p:txBody>
      </p:sp>
      <p:sp>
        <p:nvSpPr>
          <p:cNvPr id="1312370853" name="Shape 51"/>
          <p:cNvSpPr/>
          <p:nvPr/>
        </p:nvSpPr>
        <p:spPr bwMode="auto">
          <a:xfrm>
            <a:off x="6263640" y="3154680"/>
            <a:ext cx="2148840" cy="822960"/>
          </a:xfrm>
          <a:prstGeom prst="roundRect">
            <a:avLst>
              <a:gd name="adj" fmla="val 7778"/>
            </a:avLst>
          </a:prstGeom>
          <a:solidFill>
            <a:srgbClr val="101818"/>
          </a:solidFill>
          <a:ln w="12700">
            <a:solidFill>
              <a:srgbClr val="253232"/>
            </a:solidFill>
            <a:prstDash val="solid"/>
          </a:ln>
        </p:spPr>
      </p:sp>
      <p:sp>
        <p:nvSpPr>
          <p:cNvPr id="155708452" name="Text 52"/>
          <p:cNvSpPr/>
          <p:nvPr/>
        </p:nvSpPr>
        <p:spPr bwMode="auto">
          <a:xfrm>
            <a:off x="6400800" y="329184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24D6C3"/>
                </a:solidFill>
              </a:rPr>
              <a:t>07</a:t>
            </a:r>
            <a:endParaRPr lang="en-US" sz="1100"/>
          </a:p>
        </p:txBody>
      </p:sp>
      <p:sp>
        <p:nvSpPr>
          <p:cNvPr id="1800297208" name="Text 53"/>
          <p:cNvSpPr/>
          <p:nvPr/>
        </p:nvSpPr>
        <p:spPr bwMode="auto">
          <a:xfrm>
            <a:off x="6812280" y="3310127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050">
                <a:solidFill>
                  <a:srgbClr val="F4F7F6"/>
                </a:solidFill>
              </a:rPr>
              <a:t>Simpan review + sentiment</a:t>
            </a:r>
            <a:endParaRPr lang="en-US" sz="1050"/>
          </a:p>
        </p:txBody>
      </p:sp>
      <p:sp>
        <p:nvSpPr>
          <p:cNvPr id="316621809" name="Shape 54"/>
          <p:cNvSpPr/>
          <p:nvPr/>
        </p:nvSpPr>
        <p:spPr bwMode="auto">
          <a:xfrm>
            <a:off x="9052560" y="3154680"/>
            <a:ext cx="2148840" cy="822960"/>
          </a:xfrm>
          <a:prstGeom prst="roundRect">
            <a:avLst>
              <a:gd name="adj" fmla="val 7778"/>
            </a:avLst>
          </a:prstGeom>
          <a:solidFill>
            <a:srgbClr val="101818"/>
          </a:solidFill>
          <a:ln w="12700">
            <a:solidFill>
              <a:srgbClr val="253232"/>
            </a:solidFill>
            <a:prstDash val="solid"/>
          </a:ln>
        </p:spPr>
      </p:sp>
      <p:sp>
        <p:nvSpPr>
          <p:cNvPr id="1464286328" name="Text 55"/>
          <p:cNvSpPr/>
          <p:nvPr/>
        </p:nvSpPr>
        <p:spPr bwMode="auto">
          <a:xfrm>
            <a:off x="9189720" y="329184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24D6C3"/>
                </a:solidFill>
              </a:rPr>
              <a:t>08</a:t>
            </a:r>
            <a:endParaRPr lang="en-US" sz="1100"/>
          </a:p>
        </p:txBody>
      </p:sp>
      <p:sp>
        <p:nvSpPr>
          <p:cNvPr id="2008412860" name="Text 56"/>
          <p:cNvSpPr/>
          <p:nvPr/>
        </p:nvSpPr>
        <p:spPr bwMode="auto">
          <a:xfrm>
            <a:off x="9601200" y="3310127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050">
                <a:solidFill>
                  <a:srgbClr val="F4F7F6"/>
                </a:solidFill>
              </a:rPr>
              <a:t>UI menampilkan label realtime</a:t>
            </a:r>
            <a:endParaRPr lang="en-US" sz="1050"/>
          </a:p>
        </p:txBody>
      </p:sp>
      <p:sp>
        <p:nvSpPr>
          <p:cNvPr id="903409617" name="Shape 57"/>
          <p:cNvSpPr/>
          <p:nvPr/>
        </p:nvSpPr>
        <p:spPr bwMode="auto">
          <a:xfrm flipH="0" flipV="0">
            <a:off x="2834279" y="1709927"/>
            <a:ext cx="640440" cy="0"/>
          </a:xfrm>
          <a:prstGeom prst="line">
            <a:avLst/>
          </a:prstGeom>
          <a:noFill/>
          <a:ln w="15240">
            <a:solidFill>
              <a:srgbClr val="24D6C3"/>
            </a:solidFill>
            <a:prstDash val="solid"/>
            <a:tailEnd type="triangle"/>
          </a:ln>
        </p:spPr>
      </p:sp>
      <p:sp>
        <p:nvSpPr>
          <p:cNvPr id="263289196" name="Shape 58"/>
          <p:cNvSpPr/>
          <p:nvPr/>
        </p:nvSpPr>
        <p:spPr bwMode="auto">
          <a:xfrm>
            <a:off x="5321808" y="5486400"/>
            <a:ext cx="1234440" cy="256032"/>
          </a:xfrm>
          <a:prstGeom prst="roundRect">
            <a:avLst>
              <a:gd name="adj" fmla="val 17857"/>
            </a:avLst>
          </a:prstGeom>
          <a:solidFill>
            <a:srgbClr val="E50914">
              <a:alpha val="95000"/>
            </a:srgbClr>
          </a:solidFill>
          <a:ln w="10160">
            <a:solidFill>
              <a:srgbClr val="E50914">
                <a:alpha val="75000"/>
              </a:srgbClr>
            </a:solidFill>
            <a:prstDash val="solid"/>
          </a:ln>
        </p:spPr>
      </p:sp>
      <p:sp>
        <p:nvSpPr>
          <p:cNvPr id="919134168" name="Text 59"/>
          <p:cNvSpPr/>
          <p:nvPr/>
        </p:nvSpPr>
        <p:spPr bwMode="auto">
          <a:xfrm>
            <a:off x="5394960" y="5536692"/>
            <a:ext cx="1097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700" b="1">
                <a:solidFill>
                  <a:srgbClr val="FFFFFF"/>
                </a:solidFill>
              </a:rPr>
              <a:t>inti NLP realtime</a:t>
            </a:r>
            <a:endParaRPr lang="en-US" sz="700"/>
          </a:p>
        </p:txBody>
      </p:sp>
      <p:sp>
        <p:nvSpPr>
          <p:cNvPr id="1816859931" name="Text 60"/>
          <p:cNvSpPr/>
          <p:nvPr/>
        </p:nvSpPr>
        <p:spPr bwMode="auto">
          <a:xfrm>
            <a:off x="566928" y="6446520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700">
                <a:solidFill>
                  <a:srgbClr val="9EA8A6"/>
                </a:solidFill>
              </a:rPr>
              <a:t>Nuxt Movies · NLP Sentiment Classification · 11</a:t>
            </a:r>
            <a:endParaRPr lang="en-US" sz="700"/>
          </a:p>
        </p:txBody>
      </p:sp>
      <p:sp>
        <p:nvSpPr>
          <p:cNvPr id="75494145" name="Shape 57"/>
          <p:cNvSpPr/>
          <p:nvPr/>
        </p:nvSpPr>
        <p:spPr bwMode="auto">
          <a:xfrm flipH="0" flipV="0">
            <a:off x="5623560" y="1645560"/>
            <a:ext cx="640080" cy="0"/>
          </a:xfrm>
          <a:prstGeom prst="line">
            <a:avLst/>
          </a:prstGeom>
          <a:noFill/>
          <a:ln w="15240">
            <a:solidFill>
              <a:srgbClr val="24D6C3"/>
            </a:solidFill>
            <a:prstDash val="solid"/>
            <a:tailEnd type="triangle"/>
          </a:ln>
        </p:spPr>
      </p:sp>
      <p:sp>
        <p:nvSpPr>
          <p:cNvPr id="1489472820" name="Shape 57"/>
          <p:cNvSpPr/>
          <p:nvPr/>
        </p:nvSpPr>
        <p:spPr bwMode="auto">
          <a:xfrm flipH="0" flipV="0">
            <a:off x="8412479" y="1645560"/>
            <a:ext cx="640080" cy="0"/>
          </a:xfrm>
          <a:prstGeom prst="line">
            <a:avLst/>
          </a:prstGeom>
          <a:noFill/>
          <a:ln w="15240">
            <a:solidFill>
              <a:srgbClr val="24D6C3"/>
            </a:solidFill>
            <a:prstDash val="solid"/>
            <a:tailEnd type="triangle"/>
          </a:ln>
        </p:spPr>
      </p:sp>
      <p:sp>
        <p:nvSpPr>
          <p:cNvPr id="1261858347" name="Shape 57"/>
          <p:cNvSpPr/>
          <p:nvPr/>
        </p:nvSpPr>
        <p:spPr bwMode="auto">
          <a:xfrm flipH="1" flipV="0">
            <a:off x="1760219" y="2057040"/>
            <a:ext cx="8366760" cy="1097640"/>
          </a:xfrm>
          <a:prstGeom prst="line">
            <a:avLst/>
          </a:prstGeom>
          <a:noFill/>
          <a:ln w="15240">
            <a:solidFill>
              <a:srgbClr val="24D6C3"/>
            </a:solidFill>
            <a:prstDash val="solid"/>
            <a:tailEnd type="triangle"/>
          </a:ln>
        </p:spPr>
      </p:sp>
      <p:sp>
        <p:nvSpPr>
          <p:cNvPr id="2073491241" name="Shape 57"/>
          <p:cNvSpPr/>
          <p:nvPr/>
        </p:nvSpPr>
        <p:spPr bwMode="auto">
          <a:xfrm flipH="0" flipV="0">
            <a:off x="2852928" y="3565800"/>
            <a:ext cx="621791" cy="0"/>
          </a:xfrm>
          <a:prstGeom prst="line">
            <a:avLst/>
          </a:prstGeom>
          <a:noFill/>
          <a:ln w="15240">
            <a:solidFill>
              <a:srgbClr val="24D6C3"/>
            </a:solidFill>
            <a:prstDash val="solid"/>
            <a:tailEnd type="triangle"/>
          </a:ln>
        </p:spPr>
      </p:sp>
      <p:sp>
        <p:nvSpPr>
          <p:cNvPr id="266356449" name="Shape 57"/>
          <p:cNvSpPr/>
          <p:nvPr/>
        </p:nvSpPr>
        <p:spPr bwMode="auto">
          <a:xfrm flipH="0" flipV="0">
            <a:off x="5623560" y="3565440"/>
            <a:ext cx="640080" cy="360"/>
          </a:xfrm>
          <a:prstGeom prst="line">
            <a:avLst/>
          </a:prstGeom>
          <a:noFill/>
          <a:ln w="15240">
            <a:solidFill>
              <a:srgbClr val="24D6C3"/>
            </a:solidFill>
            <a:prstDash val="solid"/>
            <a:tailEnd type="triangle"/>
          </a:ln>
        </p:spPr>
      </p:sp>
      <p:sp>
        <p:nvSpPr>
          <p:cNvPr id="204002676" name="Shape 57"/>
          <p:cNvSpPr/>
          <p:nvPr/>
        </p:nvSpPr>
        <p:spPr bwMode="auto">
          <a:xfrm flipH="0" flipV="0">
            <a:off x="8412480" y="3565080"/>
            <a:ext cx="640080" cy="359"/>
          </a:xfrm>
          <a:prstGeom prst="line">
            <a:avLst/>
          </a:prstGeom>
          <a:noFill/>
          <a:ln w="15240">
            <a:solidFill>
              <a:srgbClr val="24D6C3"/>
            </a:solidFill>
            <a:prstDash val="solid"/>
            <a:tailEnd type="triangle"/>
          </a:ln>
        </p:spPr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2">
    <p:bg>
      <p:bgPr shadeToTitle="0">
        <a:solidFill>
          <a:srgbClr val="050808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24212466" name="Shape 0"/>
          <p:cNvSpPr/>
          <p:nvPr/>
        </p:nvSpPr>
        <p:spPr bwMode="auto">
          <a:xfrm>
            <a:off x="0" y="0"/>
            <a:ext cx="12191695" cy="6858000"/>
          </a:xfrm>
          <a:prstGeom prst="rect">
            <a:avLst/>
          </a:prstGeom>
          <a:solidFill>
            <a:srgbClr val="050808"/>
          </a:solidFill>
          <a:ln w="12700">
            <a:solidFill>
              <a:srgbClr val="050808"/>
            </a:solidFill>
            <a:prstDash val="solid"/>
          </a:ln>
        </p:spPr>
      </p:sp>
      <p:sp>
        <p:nvSpPr>
          <p:cNvPr id="348280169" name="Shape 1"/>
          <p:cNvSpPr/>
          <p:nvPr/>
        </p:nvSpPr>
        <p:spPr bwMode="auto">
          <a:xfrm>
            <a:off x="0" y="0"/>
            <a:ext cx="12191695" cy="6858000"/>
          </a:xfrm>
          <a:prstGeom prst="rect">
            <a:avLst/>
          </a:prstGeom>
          <a:solidFill>
            <a:srgbClr val="071111">
              <a:alpha val="80000"/>
            </a:srgbClr>
          </a:solidFill>
          <a:ln w="12700">
            <a:solidFill>
              <a:srgbClr val="071111">
                <a:alpha val="0"/>
              </a:srgbClr>
            </a:solidFill>
            <a:prstDash val="solid"/>
          </a:ln>
        </p:spPr>
      </p:sp>
      <p:sp>
        <p:nvSpPr>
          <p:cNvPr id="1991258627" name="Shape 2"/>
          <p:cNvSpPr/>
          <p:nvPr/>
        </p:nvSpPr>
        <p:spPr bwMode="auto">
          <a:xfrm>
            <a:off x="0" y="0"/>
            <a:ext cx="0" cy="6858000"/>
          </a:xfrm>
          <a:prstGeom prst="line">
            <a:avLst/>
          </a:prstGeom>
          <a:noFill/>
          <a:ln w="4445">
            <a:solidFill>
              <a:srgbClr val="132020">
                <a:alpha val="45000"/>
              </a:srgbClr>
            </a:solidFill>
            <a:prstDash val="solid"/>
          </a:ln>
        </p:spPr>
      </p:sp>
      <p:sp>
        <p:nvSpPr>
          <p:cNvPr id="1240093336" name="Shape 3"/>
          <p:cNvSpPr/>
          <p:nvPr/>
        </p:nvSpPr>
        <p:spPr bwMode="auto">
          <a:xfrm>
            <a:off x="713232" y="0"/>
            <a:ext cx="0" cy="6858000"/>
          </a:xfrm>
          <a:prstGeom prst="line">
            <a:avLst/>
          </a:prstGeom>
          <a:noFill/>
          <a:ln w="4445">
            <a:solidFill>
              <a:srgbClr val="132020">
                <a:alpha val="45000"/>
              </a:srgbClr>
            </a:solidFill>
            <a:prstDash val="solid"/>
          </a:ln>
        </p:spPr>
      </p:sp>
      <p:sp>
        <p:nvSpPr>
          <p:cNvPr id="682932460" name="Shape 4"/>
          <p:cNvSpPr/>
          <p:nvPr/>
        </p:nvSpPr>
        <p:spPr bwMode="auto">
          <a:xfrm>
            <a:off x="1426464" y="0"/>
            <a:ext cx="0" cy="6858000"/>
          </a:xfrm>
          <a:prstGeom prst="line">
            <a:avLst/>
          </a:prstGeom>
          <a:noFill/>
          <a:ln w="4445">
            <a:solidFill>
              <a:srgbClr val="132020">
                <a:alpha val="45000"/>
              </a:srgbClr>
            </a:solidFill>
            <a:prstDash val="solid"/>
          </a:ln>
        </p:spPr>
      </p:sp>
      <p:sp>
        <p:nvSpPr>
          <p:cNvPr id="1942371597" name="Shape 5"/>
          <p:cNvSpPr/>
          <p:nvPr/>
        </p:nvSpPr>
        <p:spPr bwMode="auto">
          <a:xfrm>
            <a:off x="2139696" y="0"/>
            <a:ext cx="0" cy="6858000"/>
          </a:xfrm>
          <a:prstGeom prst="line">
            <a:avLst/>
          </a:prstGeom>
          <a:noFill/>
          <a:ln w="4445">
            <a:solidFill>
              <a:srgbClr val="132020">
                <a:alpha val="45000"/>
              </a:srgbClr>
            </a:solidFill>
            <a:prstDash val="solid"/>
          </a:ln>
        </p:spPr>
      </p:sp>
      <p:sp>
        <p:nvSpPr>
          <p:cNvPr id="1630614381" name="Shape 6"/>
          <p:cNvSpPr/>
          <p:nvPr/>
        </p:nvSpPr>
        <p:spPr bwMode="auto">
          <a:xfrm>
            <a:off x="2852928" y="0"/>
            <a:ext cx="0" cy="6858000"/>
          </a:xfrm>
          <a:prstGeom prst="line">
            <a:avLst/>
          </a:prstGeom>
          <a:noFill/>
          <a:ln w="4445">
            <a:solidFill>
              <a:srgbClr val="132020">
                <a:alpha val="45000"/>
              </a:srgbClr>
            </a:solidFill>
            <a:prstDash val="solid"/>
          </a:ln>
        </p:spPr>
      </p:sp>
      <p:sp>
        <p:nvSpPr>
          <p:cNvPr id="493884892" name="Shape 7"/>
          <p:cNvSpPr/>
          <p:nvPr/>
        </p:nvSpPr>
        <p:spPr bwMode="auto">
          <a:xfrm>
            <a:off x="3566160" y="0"/>
            <a:ext cx="0" cy="6858000"/>
          </a:xfrm>
          <a:prstGeom prst="line">
            <a:avLst/>
          </a:prstGeom>
          <a:noFill/>
          <a:ln w="4445">
            <a:solidFill>
              <a:srgbClr val="132020">
                <a:alpha val="45000"/>
              </a:srgbClr>
            </a:solidFill>
            <a:prstDash val="solid"/>
          </a:ln>
        </p:spPr>
      </p:sp>
      <p:sp>
        <p:nvSpPr>
          <p:cNvPr id="1088432823" name="Shape 8"/>
          <p:cNvSpPr/>
          <p:nvPr/>
        </p:nvSpPr>
        <p:spPr bwMode="auto">
          <a:xfrm>
            <a:off x="4279392" y="0"/>
            <a:ext cx="0" cy="6858000"/>
          </a:xfrm>
          <a:prstGeom prst="line">
            <a:avLst/>
          </a:prstGeom>
          <a:noFill/>
          <a:ln w="4445">
            <a:solidFill>
              <a:srgbClr val="132020">
                <a:alpha val="45000"/>
              </a:srgbClr>
            </a:solidFill>
            <a:prstDash val="solid"/>
          </a:ln>
        </p:spPr>
      </p:sp>
      <p:sp>
        <p:nvSpPr>
          <p:cNvPr id="1679510680" name="Shape 9"/>
          <p:cNvSpPr/>
          <p:nvPr/>
        </p:nvSpPr>
        <p:spPr bwMode="auto">
          <a:xfrm>
            <a:off x="4992624" y="0"/>
            <a:ext cx="0" cy="6858000"/>
          </a:xfrm>
          <a:prstGeom prst="line">
            <a:avLst/>
          </a:prstGeom>
          <a:noFill/>
          <a:ln w="4445">
            <a:solidFill>
              <a:srgbClr val="132020">
                <a:alpha val="45000"/>
              </a:srgbClr>
            </a:solidFill>
            <a:prstDash val="solid"/>
          </a:ln>
        </p:spPr>
      </p:sp>
      <p:sp>
        <p:nvSpPr>
          <p:cNvPr id="1520408954" name="Shape 10"/>
          <p:cNvSpPr/>
          <p:nvPr/>
        </p:nvSpPr>
        <p:spPr bwMode="auto">
          <a:xfrm>
            <a:off x="5705856" y="0"/>
            <a:ext cx="0" cy="6858000"/>
          </a:xfrm>
          <a:prstGeom prst="line">
            <a:avLst/>
          </a:prstGeom>
          <a:noFill/>
          <a:ln w="4445">
            <a:solidFill>
              <a:srgbClr val="132020">
                <a:alpha val="45000"/>
              </a:srgbClr>
            </a:solidFill>
            <a:prstDash val="solid"/>
          </a:ln>
        </p:spPr>
      </p:sp>
      <p:sp>
        <p:nvSpPr>
          <p:cNvPr id="1398861172" name="Shape 11"/>
          <p:cNvSpPr/>
          <p:nvPr/>
        </p:nvSpPr>
        <p:spPr bwMode="auto">
          <a:xfrm>
            <a:off x="6419088" y="0"/>
            <a:ext cx="0" cy="6858000"/>
          </a:xfrm>
          <a:prstGeom prst="line">
            <a:avLst/>
          </a:prstGeom>
          <a:noFill/>
          <a:ln w="4445">
            <a:solidFill>
              <a:srgbClr val="132020">
                <a:alpha val="45000"/>
              </a:srgbClr>
            </a:solidFill>
            <a:prstDash val="solid"/>
          </a:ln>
        </p:spPr>
      </p:sp>
      <p:sp>
        <p:nvSpPr>
          <p:cNvPr id="330172212" name="Shape 12"/>
          <p:cNvSpPr/>
          <p:nvPr/>
        </p:nvSpPr>
        <p:spPr bwMode="auto">
          <a:xfrm>
            <a:off x="7132320" y="0"/>
            <a:ext cx="0" cy="6858000"/>
          </a:xfrm>
          <a:prstGeom prst="line">
            <a:avLst/>
          </a:prstGeom>
          <a:noFill/>
          <a:ln w="4445">
            <a:solidFill>
              <a:srgbClr val="132020">
                <a:alpha val="45000"/>
              </a:srgbClr>
            </a:solidFill>
            <a:prstDash val="solid"/>
          </a:ln>
        </p:spPr>
      </p:sp>
      <p:sp>
        <p:nvSpPr>
          <p:cNvPr id="1131877176" name="Shape 13"/>
          <p:cNvSpPr/>
          <p:nvPr/>
        </p:nvSpPr>
        <p:spPr bwMode="auto">
          <a:xfrm>
            <a:off x="7845552" y="0"/>
            <a:ext cx="0" cy="6858000"/>
          </a:xfrm>
          <a:prstGeom prst="line">
            <a:avLst/>
          </a:prstGeom>
          <a:noFill/>
          <a:ln w="4445">
            <a:solidFill>
              <a:srgbClr val="132020">
                <a:alpha val="45000"/>
              </a:srgbClr>
            </a:solidFill>
            <a:prstDash val="solid"/>
          </a:ln>
        </p:spPr>
      </p:sp>
      <p:sp>
        <p:nvSpPr>
          <p:cNvPr id="1458478588" name="Shape 14"/>
          <p:cNvSpPr/>
          <p:nvPr/>
        </p:nvSpPr>
        <p:spPr bwMode="auto">
          <a:xfrm>
            <a:off x="8558784" y="0"/>
            <a:ext cx="0" cy="6858000"/>
          </a:xfrm>
          <a:prstGeom prst="line">
            <a:avLst/>
          </a:prstGeom>
          <a:noFill/>
          <a:ln w="4445">
            <a:solidFill>
              <a:srgbClr val="132020">
                <a:alpha val="45000"/>
              </a:srgbClr>
            </a:solidFill>
            <a:prstDash val="solid"/>
          </a:ln>
        </p:spPr>
      </p:sp>
      <p:sp>
        <p:nvSpPr>
          <p:cNvPr id="982081575" name="Shape 15"/>
          <p:cNvSpPr/>
          <p:nvPr/>
        </p:nvSpPr>
        <p:spPr bwMode="auto">
          <a:xfrm>
            <a:off x="9272016" y="0"/>
            <a:ext cx="0" cy="6858000"/>
          </a:xfrm>
          <a:prstGeom prst="line">
            <a:avLst/>
          </a:prstGeom>
          <a:noFill/>
          <a:ln w="4445">
            <a:solidFill>
              <a:srgbClr val="132020">
                <a:alpha val="45000"/>
              </a:srgbClr>
            </a:solidFill>
            <a:prstDash val="solid"/>
          </a:ln>
        </p:spPr>
      </p:sp>
      <p:sp>
        <p:nvSpPr>
          <p:cNvPr id="853600048" name="Shape 16"/>
          <p:cNvSpPr/>
          <p:nvPr/>
        </p:nvSpPr>
        <p:spPr bwMode="auto">
          <a:xfrm>
            <a:off x="9985248" y="0"/>
            <a:ext cx="0" cy="6858000"/>
          </a:xfrm>
          <a:prstGeom prst="line">
            <a:avLst/>
          </a:prstGeom>
          <a:noFill/>
          <a:ln w="4445">
            <a:solidFill>
              <a:srgbClr val="132020">
                <a:alpha val="45000"/>
              </a:srgbClr>
            </a:solidFill>
            <a:prstDash val="solid"/>
          </a:ln>
        </p:spPr>
      </p:sp>
      <p:sp>
        <p:nvSpPr>
          <p:cNvPr id="1424375705" name="Shape 17"/>
          <p:cNvSpPr/>
          <p:nvPr/>
        </p:nvSpPr>
        <p:spPr bwMode="auto">
          <a:xfrm>
            <a:off x="10698480" y="0"/>
            <a:ext cx="0" cy="6858000"/>
          </a:xfrm>
          <a:prstGeom prst="line">
            <a:avLst/>
          </a:prstGeom>
          <a:noFill/>
          <a:ln w="4445">
            <a:solidFill>
              <a:srgbClr val="132020">
                <a:alpha val="45000"/>
              </a:srgbClr>
            </a:solidFill>
            <a:prstDash val="solid"/>
          </a:ln>
        </p:spPr>
      </p:sp>
      <p:sp>
        <p:nvSpPr>
          <p:cNvPr id="1927912243" name="Shape 18"/>
          <p:cNvSpPr/>
          <p:nvPr/>
        </p:nvSpPr>
        <p:spPr bwMode="auto">
          <a:xfrm>
            <a:off x="11411712" y="0"/>
            <a:ext cx="0" cy="6858000"/>
          </a:xfrm>
          <a:prstGeom prst="line">
            <a:avLst/>
          </a:prstGeom>
          <a:noFill/>
          <a:ln w="4445">
            <a:solidFill>
              <a:srgbClr val="132020">
                <a:alpha val="45000"/>
              </a:srgbClr>
            </a:solidFill>
            <a:prstDash val="solid"/>
          </a:ln>
        </p:spPr>
      </p:sp>
      <p:sp>
        <p:nvSpPr>
          <p:cNvPr id="175404160" name="Shape 19"/>
          <p:cNvSpPr/>
          <p:nvPr/>
        </p:nvSpPr>
        <p:spPr bwMode="auto">
          <a:xfrm>
            <a:off x="12124943" y="0"/>
            <a:ext cx="0" cy="6858000"/>
          </a:xfrm>
          <a:prstGeom prst="line">
            <a:avLst/>
          </a:prstGeom>
          <a:noFill/>
          <a:ln w="4445">
            <a:solidFill>
              <a:srgbClr val="132020">
                <a:alpha val="45000"/>
              </a:srgbClr>
            </a:solidFill>
            <a:prstDash val="solid"/>
          </a:ln>
        </p:spPr>
      </p:sp>
      <p:sp>
        <p:nvSpPr>
          <p:cNvPr id="1141742319" name="Shape 20"/>
          <p:cNvSpPr/>
          <p:nvPr/>
        </p:nvSpPr>
        <p:spPr bwMode="auto">
          <a:xfrm>
            <a:off x="0" y="0"/>
            <a:ext cx="12191695" cy="0"/>
          </a:xfrm>
          <a:prstGeom prst="line">
            <a:avLst/>
          </a:prstGeom>
          <a:noFill/>
          <a:ln w="4445">
            <a:solidFill>
              <a:srgbClr val="132020">
                <a:alpha val="38000"/>
              </a:srgbClr>
            </a:solidFill>
            <a:prstDash val="solid"/>
          </a:ln>
        </p:spPr>
      </p:sp>
      <p:sp>
        <p:nvSpPr>
          <p:cNvPr id="271681244" name="Shape 21"/>
          <p:cNvSpPr/>
          <p:nvPr/>
        </p:nvSpPr>
        <p:spPr bwMode="auto">
          <a:xfrm>
            <a:off x="0" y="713232"/>
            <a:ext cx="12191695" cy="0"/>
          </a:xfrm>
          <a:prstGeom prst="line">
            <a:avLst/>
          </a:prstGeom>
          <a:noFill/>
          <a:ln w="4445">
            <a:solidFill>
              <a:srgbClr val="132020">
                <a:alpha val="38000"/>
              </a:srgbClr>
            </a:solidFill>
            <a:prstDash val="solid"/>
          </a:ln>
        </p:spPr>
      </p:sp>
      <p:sp>
        <p:nvSpPr>
          <p:cNvPr id="372720475" name="Shape 22"/>
          <p:cNvSpPr/>
          <p:nvPr/>
        </p:nvSpPr>
        <p:spPr bwMode="auto">
          <a:xfrm>
            <a:off x="0" y="1426464"/>
            <a:ext cx="12191695" cy="0"/>
          </a:xfrm>
          <a:prstGeom prst="line">
            <a:avLst/>
          </a:prstGeom>
          <a:noFill/>
          <a:ln w="4445">
            <a:solidFill>
              <a:srgbClr val="132020">
                <a:alpha val="38000"/>
              </a:srgbClr>
            </a:solidFill>
            <a:prstDash val="solid"/>
          </a:ln>
        </p:spPr>
      </p:sp>
      <p:sp>
        <p:nvSpPr>
          <p:cNvPr id="357077330" name="Shape 23"/>
          <p:cNvSpPr/>
          <p:nvPr/>
        </p:nvSpPr>
        <p:spPr bwMode="auto">
          <a:xfrm>
            <a:off x="0" y="2139696"/>
            <a:ext cx="12191695" cy="0"/>
          </a:xfrm>
          <a:prstGeom prst="line">
            <a:avLst/>
          </a:prstGeom>
          <a:noFill/>
          <a:ln w="4445">
            <a:solidFill>
              <a:srgbClr val="132020">
                <a:alpha val="38000"/>
              </a:srgbClr>
            </a:solidFill>
            <a:prstDash val="solid"/>
          </a:ln>
        </p:spPr>
      </p:sp>
      <p:sp>
        <p:nvSpPr>
          <p:cNvPr id="978442322" name="Shape 24"/>
          <p:cNvSpPr/>
          <p:nvPr/>
        </p:nvSpPr>
        <p:spPr bwMode="auto">
          <a:xfrm>
            <a:off x="0" y="2852928"/>
            <a:ext cx="12191695" cy="0"/>
          </a:xfrm>
          <a:prstGeom prst="line">
            <a:avLst/>
          </a:prstGeom>
          <a:noFill/>
          <a:ln w="4445">
            <a:solidFill>
              <a:srgbClr val="132020">
                <a:alpha val="38000"/>
              </a:srgbClr>
            </a:solidFill>
            <a:prstDash val="solid"/>
          </a:ln>
        </p:spPr>
      </p:sp>
      <p:sp>
        <p:nvSpPr>
          <p:cNvPr id="1626686507" name="Shape 25"/>
          <p:cNvSpPr/>
          <p:nvPr/>
        </p:nvSpPr>
        <p:spPr bwMode="auto">
          <a:xfrm>
            <a:off x="0" y="3566160"/>
            <a:ext cx="12191695" cy="0"/>
          </a:xfrm>
          <a:prstGeom prst="line">
            <a:avLst/>
          </a:prstGeom>
          <a:noFill/>
          <a:ln w="4445">
            <a:solidFill>
              <a:srgbClr val="132020">
                <a:alpha val="38000"/>
              </a:srgbClr>
            </a:solidFill>
            <a:prstDash val="solid"/>
          </a:ln>
        </p:spPr>
      </p:sp>
      <p:sp>
        <p:nvSpPr>
          <p:cNvPr id="602549451" name="Shape 26"/>
          <p:cNvSpPr/>
          <p:nvPr/>
        </p:nvSpPr>
        <p:spPr bwMode="auto">
          <a:xfrm>
            <a:off x="0" y="4279392"/>
            <a:ext cx="12191695" cy="0"/>
          </a:xfrm>
          <a:prstGeom prst="line">
            <a:avLst/>
          </a:prstGeom>
          <a:noFill/>
          <a:ln w="4445">
            <a:solidFill>
              <a:srgbClr val="132020">
                <a:alpha val="38000"/>
              </a:srgbClr>
            </a:solidFill>
            <a:prstDash val="solid"/>
          </a:ln>
        </p:spPr>
      </p:sp>
      <p:sp>
        <p:nvSpPr>
          <p:cNvPr id="134588781" name="Shape 27"/>
          <p:cNvSpPr/>
          <p:nvPr/>
        </p:nvSpPr>
        <p:spPr bwMode="auto">
          <a:xfrm>
            <a:off x="0" y="4992624"/>
            <a:ext cx="12191695" cy="0"/>
          </a:xfrm>
          <a:prstGeom prst="line">
            <a:avLst/>
          </a:prstGeom>
          <a:noFill/>
          <a:ln w="4445">
            <a:solidFill>
              <a:srgbClr val="132020">
                <a:alpha val="38000"/>
              </a:srgbClr>
            </a:solidFill>
            <a:prstDash val="solid"/>
          </a:ln>
        </p:spPr>
      </p:sp>
      <p:sp>
        <p:nvSpPr>
          <p:cNvPr id="1865730275" name="Shape 28"/>
          <p:cNvSpPr/>
          <p:nvPr/>
        </p:nvSpPr>
        <p:spPr bwMode="auto">
          <a:xfrm>
            <a:off x="0" y="5705856"/>
            <a:ext cx="12191695" cy="0"/>
          </a:xfrm>
          <a:prstGeom prst="line">
            <a:avLst/>
          </a:prstGeom>
          <a:noFill/>
          <a:ln w="4445">
            <a:solidFill>
              <a:srgbClr val="132020">
                <a:alpha val="38000"/>
              </a:srgbClr>
            </a:solidFill>
            <a:prstDash val="solid"/>
          </a:ln>
        </p:spPr>
      </p:sp>
      <p:sp>
        <p:nvSpPr>
          <p:cNvPr id="888455115" name="Shape 29"/>
          <p:cNvSpPr/>
          <p:nvPr/>
        </p:nvSpPr>
        <p:spPr bwMode="auto">
          <a:xfrm>
            <a:off x="0" y="6419088"/>
            <a:ext cx="12191695" cy="0"/>
          </a:xfrm>
          <a:prstGeom prst="line">
            <a:avLst/>
          </a:prstGeom>
          <a:noFill/>
          <a:ln w="4445">
            <a:solidFill>
              <a:srgbClr val="132020">
                <a:alpha val="38000"/>
              </a:srgbClr>
            </a:solidFill>
            <a:prstDash val="solid"/>
          </a:ln>
        </p:spPr>
      </p:sp>
      <p:sp>
        <p:nvSpPr>
          <p:cNvPr id="1192819474" name="Shape 30"/>
          <p:cNvSpPr/>
          <p:nvPr/>
        </p:nvSpPr>
        <p:spPr bwMode="auto">
          <a:xfrm>
            <a:off x="0" y="0"/>
            <a:ext cx="82296" cy="6858000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pic>
        <p:nvPicPr>
          <p:cNvPr id="612972283" name="Image 0" descr="/home/fanff/fanfan/ML/NLP_coolyeah/TA/ppt_nuxt_movies/assets/generated/nuxt-movies-logo.png"/>
          <p:cNvPicPr>
            <a:picLocks noChangeAspect="1"/>
          </p:cNvPicPr>
          <p:nvPr/>
        </p:nvPicPr>
        <p:blipFill rotWithShape="1">
          <a:blip r:embed="rId3">
            <a:alphaModFix amt="94000"/>
          </a:blip>
          <a:stretch/>
        </p:blipFill>
        <p:spPr bwMode="auto">
          <a:xfrm>
            <a:off x="11356848" y="237744"/>
            <a:ext cx="411480" cy="411480"/>
          </a:xfrm>
          <a:prstGeom prst="rect">
            <a:avLst/>
          </a:prstGeom>
        </p:spPr>
      </p:pic>
      <p:sp>
        <p:nvSpPr>
          <p:cNvPr id="451087763" name="Text 31"/>
          <p:cNvSpPr/>
          <p:nvPr/>
        </p:nvSpPr>
        <p:spPr bwMode="auto">
          <a:xfrm>
            <a:off x="548640" y="329184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000" b="1">
                <a:solidFill>
                  <a:srgbClr val="F4F7F6"/>
                </a:solidFill>
                <a:latin typeface="Georgia"/>
                <a:ea typeface="Georgia"/>
                <a:cs typeface="Georgia"/>
              </a:rPr>
              <a:t>Role, Database, dan Keamanan</a:t>
            </a:r>
            <a:endParaRPr lang="en-US" sz="2000"/>
          </a:p>
        </p:txBody>
      </p:sp>
      <p:sp>
        <p:nvSpPr>
          <p:cNvPr id="1624671577" name="Shape 32"/>
          <p:cNvSpPr/>
          <p:nvPr/>
        </p:nvSpPr>
        <p:spPr bwMode="auto">
          <a:xfrm>
            <a:off x="548640" y="804672"/>
            <a:ext cx="1828800" cy="0"/>
          </a:xfrm>
          <a:prstGeom prst="line">
            <a:avLst/>
          </a:prstGeom>
          <a:noFill/>
          <a:ln w="25400">
            <a:solidFill>
              <a:srgbClr val="24D6C3"/>
            </a:solidFill>
            <a:prstDash val="solid"/>
          </a:ln>
        </p:spPr>
      </p:sp>
      <p:sp>
        <p:nvSpPr>
          <p:cNvPr id="1842187647" name="Shape 33"/>
          <p:cNvSpPr/>
          <p:nvPr/>
        </p:nvSpPr>
        <p:spPr bwMode="auto">
          <a:xfrm>
            <a:off x="685800" y="1143000"/>
            <a:ext cx="3246120" cy="4480560"/>
          </a:xfrm>
          <a:prstGeom prst="roundRect">
            <a:avLst>
              <a:gd name="adj" fmla="val 1972"/>
            </a:avLst>
          </a:prstGeom>
          <a:solidFill>
            <a:srgbClr val="0B1111"/>
          </a:solidFill>
          <a:ln w="12700">
            <a:solidFill>
              <a:srgbClr val="253232"/>
            </a:solidFill>
            <a:prstDash val="solid"/>
          </a:ln>
        </p:spPr>
      </p:sp>
      <p:sp>
        <p:nvSpPr>
          <p:cNvPr id="521456" name="Text 34"/>
          <p:cNvSpPr/>
          <p:nvPr/>
        </p:nvSpPr>
        <p:spPr bwMode="auto">
          <a:xfrm>
            <a:off x="914400" y="14173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800" b="1">
                <a:solidFill>
                  <a:srgbClr val="24D6C3"/>
                </a:solidFill>
              </a:rPr>
              <a:t>Role</a:t>
            </a:r>
            <a:endParaRPr lang="en-US" sz="1800"/>
          </a:p>
        </p:txBody>
      </p:sp>
      <p:sp>
        <p:nvSpPr>
          <p:cNvPr id="2009856980" name="Shape 37"/>
          <p:cNvSpPr/>
          <p:nvPr/>
        </p:nvSpPr>
        <p:spPr bwMode="auto">
          <a:xfrm>
            <a:off x="914400" y="2560320"/>
            <a:ext cx="73152" cy="73152"/>
          </a:xfrm>
          <a:prstGeom prst="ellipse">
            <a:avLst/>
          </a:prstGeom>
          <a:solidFill>
            <a:srgbClr val="24D6C3"/>
          </a:solidFill>
          <a:ln w="12700">
            <a:solidFill>
              <a:srgbClr val="24D6C3"/>
            </a:solidFill>
            <a:prstDash val="solid"/>
          </a:ln>
        </p:spPr>
      </p:sp>
      <p:sp>
        <p:nvSpPr>
          <p:cNvPr id="2095539963" name="Text 38"/>
          <p:cNvSpPr/>
          <p:nvPr/>
        </p:nvSpPr>
        <p:spPr bwMode="auto">
          <a:xfrm>
            <a:off x="1078992" y="2487168"/>
            <a:ext cx="2606040" cy="2286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F4F7F6"/>
                </a:solidFill>
              </a:rPr>
              <a:t>Pending user: menunggu approval</a:t>
            </a:r>
            <a:endParaRPr lang="en-US" sz="1000"/>
          </a:p>
        </p:txBody>
      </p:sp>
      <p:sp>
        <p:nvSpPr>
          <p:cNvPr id="2002710533" name="Shape 39"/>
          <p:cNvSpPr/>
          <p:nvPr/>
        </p:nvSpPr>
        <p:spPr bwMode="auto">
          <a:xfrm>
            <a:off x="914400" y="3127248"/>
            <a:ext cx="73152" cy="73152"/>
          </a:xfrm>
          <a:prstGeom prst="ellipse">
            <a:avLst/>
          </a:prstGeom>
          <a:solidFill>
            <a:srgbClr val="24D6C3"/>
          </a:solidFill>
          <a:ln w="12700">
            <a:solidFill>
              <a:srgbClr val="24D6C3"/>
            </a:solidFill>
            <a:prstDash val="solid"/>
          </a:ln>
        </p:spPr>
      </p:sp>
      <p:sp>
        <p:nvSpPr>
          <p:cNvPr id="1227263810" name="Text 40"/>
          <p:cNvSpPr/>
          <p:nvPr/>
        </p:nvSpPr>
        <p:spPr bwMode="auto">
          <a:xfrm>
            <a:off x="1078992" y="3054096"/>
            <a:ext cx="2606040" cy="2286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F4F7F6"/>
                </a:solidFill>
              </a:rPr>
              <a:t>Approved user: tulis/edit/hapus review sendiri</a:t>
            </a:r>
            <a:endParaRPr lang="en-US" sz="1000"/>
          </a:p>
        </p:txBody>
      </p:sp>
      <p:sp>
        <p:nvSpPr>
          <p:cNvPr id="1921811535" name="Shape 41"/>
          <p:cNvSpPr/>
          <p:nvPr/>
        </p:nvSpPr>
        <p:spPr bwMode="auto">
          <a:xfrm>
            <a:off x="914400" y="3694176"/>
            <a:ext cx="73152" cy="73152"/>
          </a:xfrm>
          <a:prstGeom prst="ellipse">
            <a:avLst/>
          </a:prstGeom>
          <a:solidFill>
            <a:srgbClr val="24D6C3"/>
          </a:solidFill>
          <a:ln w="12700">
            <a:solidFill>
              <a:srgbClr val="24D6C3"/>
            </a:solidFill>
            <a:prstDash val="solid"/>
          </a:ln>
        </p:spPr>
      </p:sp>
      <p:sp>
        <p:nvSpPr>
          <p:cNvPr id="1567782967" name="Text 42"/>
          <p:cNvSpPr/>
          <p:nvPr/>
        </p:nvSpPr>
        <p:spPr bwMode="auto">
          <a:xfrm>
            <a:off x="1078992" y="3621024"/>
            <a:ext cx="2606040" cy="2286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F4F7F6"/>
                </a:solidFill>
              </a:rPr>
              <a:t>Admin: approval dan moderasi</a:t>
            </a:r>
            <a:endParaRPr lang="en-US" sz="1000"/>
          </a:p>
        </p:txBody>
      </p:sp>
      <p:sp>
        <p:nvSpPr>
          <p:cNvPr id="432093959" name="Shape 43"/>
          <p:cNvSpPr/>
          <p:nvPr/>
        </p:nvSpPr>
        <p:spPr bwMode="auto">
          <a:xfrm>
            <a:off x="4480560" y="1143000"/>
            <a:ext cx="3246120" cy="4480560"/>
          </a:xfrm>
          <a:prstGeom prst="roundRect">
            <a:avLst>
              <a:gd name="adj" fmla="val 1972"/>
            </a:avLst>
          </a:prstGeom>
          <a:solidFill>
            <a:srgbClr val="0B1111"/>
          </a:solidFill>
          <a:ln w="12700">
            <a:solidFill>
              <a:srgbClr val="253232"/>
            </a:solidFill>
            <a:prstDash val="solid"/>
          </a:ln>
        </p:spPr>
      </p:sp>
      <p:sp>
        <p:nvSpPr>
          <p:cNvPr id="1904023089" name="Text 44"/>
          <p:cNvSpPr/>
          <p:nvPr/>
        </p:nvSpPr>
        <p:spPr bwMode="auto">
          <a:xfrm>
            <a:off x="4709160" y="14173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800" b="1">
                <a:solidFill>
                  <a:srgbClr val="F4B942"/>
                </a:solidFill>
              </a:rPr>
              <a:t>Database</a:t>
            </a:r>
            <a:endParaRPr lang="en-US" sz="1800"/>
          </a:p>
        </p:txBody>
      </p:sp>
      <p:sp>
        <p:nvSpPr>
          <p:cNvPr id="1392559892" name="Shape 45"/>
          <p:cNvSpPr/>
          <p:nvPr/>
        </p:nvSpPr>
        <p:spPr bwMode="auto">
          <a:xfrm>
            <a:off x="4709160" y="1993392"/>
            <a:ext cx="73152" cy="73152"/>
          </a:xfrm>
          <a:prstGeom prst="ellipse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2026872494" name="Text 46"/>
          <p:cNvSpPr/>
          <p:nvPr/>
        </p:nvSpPr>
        <p:spPr bwMode="auto">
          <a:xfrm>
            <a:off x="4873752" y="1920240"/>
            <a:ext cx="2606040" cy="2286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F4F7F6"/>
                </a:solidFill>
              </a:rPr>
              <a:t>User: akun dan approval status</a:t>
            </a:r>
            <a:endParaRPr lang="en-US" sz="1000"/>
          </a:p>
        </p:txBody>
      </p:sp>
      <p:sp>
        <p:nvSpPr>
          <p:cNvPr id="542896011" name="Shape 47"/>
          <p:cNvSpPr/>
          <p:nvPr/>
        </p:nvSpPr>
        <p:spPr bwMode="auto">
          <a:xfrm>
            <a:off x="4709160" y="2560320"/>
            <a:ext cx="73152" cy="73152"/>
          </a:xfrm>
          <a:prstGeom prst="ellipse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564060399" name="Text 48"/>
          <p:cNvSpPr/>
          <p:nvPr/>
        </p:nvSpPr>
        <p:spPr bwMode="auto">
          <a:xfrm>
            <a:off x="4873752" y="2487168"/>
            <a:ext cx="2606040" cy="2286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F4F7F6"/>
                </a:solidFill>
              </a:rPr>
              <a:t>Session: token HTTP-only cookie</a:t>
            </a:r>
            <a:endParaRPr lang="en-US" sz="1000"/>
          </a:p>
        </p:txBody>
      </p:sp>
      <p:sp>
        <p:nvSpPr>
          <p:cNvPr id="375019672" name="Shape 49"/>
          <p:cNvSpPr/>
          <p:nvPr/>
        </p:nvSpPr>
        <p:spPr bwMode="auto">
          <a:xfrm>
            <a:off x="4709160" y="3127248"/>
            <a:ext cx="73152" cy="73152"/>
          </a:xfrm>
          <a:prstGeom prst="ellipse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261628958" name="Text 50"/>
          <p:cNvSpPr/>
          <p:nvPr/>
        </p:nvSpPr>
        <p:spPr bwMode="auto">
          <a:xfrm>
            <a:off x="4873752" y="3054096"/>
            <a:ext cx="2606040" cy="2286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F4F7F6"/>
                </a:solidFill>
              </a:rPr>
              <a:t>Review: content, label, confidence, scores</a:t>
            </a:r>
            <a:endParaRPr lang="en-US" sz="1000"/>
          </a:p>
        </p:txBody>
      </p:sp>
      <p:sp>
        <p:nvSpPr>
          <p:cNvPr id="1610735678" name="Shape 51"/>
          <p:cNvSpPr/>
          <p:nvPr/>
        </p:nvSpPr>
        <p:spPr bwMode="auto">
          <a:xfrm>
            <a:off x="4709160" y="3694176"/>
            <a:ext cx="73152" cy="73152"/>
          </a:xfrm>
          <a:prstGeom prst="ellipse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1027162366" name="Text 52"/>
          <p:cNvSpPr/>
          <p:nvPr/>
        </p:nvSpPr>
        <p:spPr bwMode="auto">
          <a:xfrm>
            <a:off x="4873752" y="3621024"/>
            <a:ext cx="2606040" cy="2286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F4F7F6"/>
                </a:solidFill>
              </a:rPr>
              <a:t>ReviewHistory: jejak perubahan review</a:t>
            </a:r>
            <a:endParaRPr lang="en-US" sz="1000"/>
          </a:p>
        </p:txBody>
      </p:sp>
      <p:sp>
        <p:nvSpPr>
          <p:cNvPr id="483655600" name="Shape 53"/>
          <p:cNvSpPr/>
          <p:nvPr/>
        </p:nvSpPr>
        <p:spPr bwMode="auto">
          <a:xfrm>
            <a:off x="8275320" y="1143000"/>
            <a:ext cx="3246120" cy="4480560"/>
          </a:xfrm>
          <a:prstGeom prst="roundRect">
            <a:avLst>
              <a:gd name="adj" fmla="val 1972"/>
            </a:avLst>
          </a:prstGeom>
          <a:solidFill>
            <a:srgbClr val="0B1111"/>
          </a:solidFill>
          <a:ln w="12700">
            <a:solidFill>
              <a:srgbClr val="253232"/>
            </a:solidFill>
            <a:prstDash val="solid"/>
          </a:ln>
        </p:spPr>
      </p:sp>
      <p:sp>
        <p:nvSpPr>
          <p:cNvPr id="603937893" name="Text 54"/>
          <p:cNvSpPr/>
          <p:nvPr/>
        </p:nvSpPr>
        <p:spPr bwMode="auto">
          <a:xfrm>
            <a:off x="8503920" y="14173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800" b="1">
                <a:solidFill>
                  <a:srgbClr val="E50914"/>
                </a:solidFill>
              </a:rPr>
              <a:t>Keamanan</a:t>
            </a:r>
            <a:endParaRPr lang="en-US" sz="1800"/>
          </a:p>
        </p:txBody>
      </p:sp>
      <p:sp>
        <p:nvSpPr>
          <p:cNvPr id="86570909" name="Shape 55"/>
          <p:cNvSpPr/>
          <p:nvPr/>
        </p:nvSpPr>
        <p:spPr bwMode="auto">
          <a:xfrm>
            <a:off x="8503920" y="1993392"/>
            <a:ext cx="73152" cy="73152"/>
          </a:xfrm>
          <a:prstGeom prst="ellipse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583118820" name="Text 56"/>
          <p:cNvSpPr/>
          <p:nvPr/>
        </p:nvSpPr>
        <p:spPr bwMode="auto">
          <a:xfrm>
            <a:off x="8668512" y="1920240"/>
            <a:ext cx="2606040" cy="2286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F4F7F6"/>
                </a:solidFill>
              </a:rPr>
              <a:t>Password hash Argon2</a:t>
            </a:r>
            <a:endParaRPr lang="en-US" sz="1000"/>
          </a:p>
        </p:txBody>
      </p:sp>
      <p:sp>
        <p:nvSpPr>
          <p:cNvPr id="685156431" name="Shape 57"/>
          <p:cNvSpPr/>
          <p:nvPr/>
        </p:nvSpPr>
        <p:spPr bwMode="auto">
          <a:xfrm>
            <a:off x="8503920" y="2560320"/>
            <a:ext cx="73152" cy="73152"/>
          </a:xfrm>
          <a:prstGeom prst="ellipse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163633615" name="Text 58"/>
          <p:cNvSpPr/>
          <p:nvPr/>
        </p:nvSpPr>
        <p:spPr bwMode="auto">
          <a:xfrm>
            <a:off x="8668512" y="2487168"/>
            <a:ext cx="2606040" cy="2286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F4F7F6"/>
                </a:solidFill>
              </a:rPr>
              <a:t>Session HTTP-only cookie</a:t>
            </a:r>
            <a:endParaRPr lang="en-US" sz="1000"/>
          </a:p>
        </p:txBody>
      </p:sp>
      <p:sp>
        <p:nvSpPr>
          <p:cNvPr id="192238456" name="Shape 59"/>
          <p:cNvSpPr/>
          <p:nvPr/>
        </p:nvSpPr>
        <p:spPr bwMode="auto">
          <a:xfrm>
            <a:off x="8503920" y="3127248"/>
            <a:ext cx="73152" cy="73152"/>
          </a:xfrm>
          <a:prstGeom prst="ellipse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855049829" name="Text 60"/>
          <p:cNvSpPr/>
          <p:nvPr/>
        </p:nvSpPr>
        <p:spPr bwMode="auto">
          <a:xfrm>
            <a:off x="8668512" y="3054096"/>
            <a:ext cx="2606040" cy="2286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F4F7F6"/>
                </a:solidFill>
              </a:rPr>
              <a:t>Origin validation untuk mutating API</a:t>
            </a:r>
            <a:endParaRPr lang="en-US" sz="1000"/>
          </a:p>
        </p:txBody>
      </p:sp>
      <p:sp>
        <p:nvSpPr>
          <p:cNvPr id="1864099356" name="Shape 61"/>
          <p:cNvSpPr/>
          <p:nvPr/>
        </p:nvSpPr>
        <p:spPr bwMode="auto">
          <a:xfrm>
            <a:off x="8503920" y="3694176"/>
            <a:ext cx="73152" cy="73152"/>
          </a:xfrm>
          <a:prstGeom prst="ellipse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409947234" name="Text 62"/>
          <p:cNvSpPr/>
          <p:nvPr/>
        </p:nvSpPr>
        <p:spPr bwMode="auto">
          <a:xfrm>
            <a:off x="8668512" y="3621024"/>
            <a:ext cx="2606040" cy="2286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F4F7F6"/>
                </a:solidFill>
              </a:rPr>
              <a:t>Rate limit submit review</a:t>
            </a:r>
            <a:endParaRPr lang="en-US" sz="1000"/>
          </a:p>
        </p:txBody>
      </p:sp>
      <p:sp>
        <p:nvSpPr>
          <p:cNvPr id="995118129" name="Shape 63"/>
          <p:cNvSpPr/>
          <p:nvPr/>
        </p:nvSpPr>
        <p:spPr bwMode="auto">
          <a:xfrm>
            <a:off x="8503920" y="4261104"/>
            <a:ext cx="73152" cy="73152"/>
          </a:xfrm>
          <a:prstGeom prst="ellipse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1790666943" name="Text 64"/>
          <p:cNvSpPr/>
          <p:nvPr/>
        </p:nvSpPr>
        <p:spPr bwMode="auto">
          <a:xfrm>
            <a:off x="8668512" y="4187952"/>
            <a:ext cx="2606040" cy="2286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F4F7F6"/>
                </a:solidFill>
              </a:rPr>
              <a:t>Model API key hanya di server</a:t>
            </a:r>
            <a:endParaRPr lang="en-US" sz="1000"/>
          </a:p>
        </p:txBody>
      </p:sp>
      <p:sp>
        <p:nvSpPr>
          <p:cNvPr id="2046514748" name="Text 65"/>
          <p:cNvSpPr/>
          <p:nvPr/>
        </p:nvSpPr>
        <p:spPr bwMode="auto">
          <a:xfrm>
            <a:off x="566928" y="6446520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700">
                <a:solidFill>
                  <a:srgbClr val="9EA8A6"/>
                </a:solidFill>
              </a:rPr>
              <a:t>Nuxt Movies · NLP Sentiment Classification · 12</a:t>
            </a:r>
            <a:endParaRPr lang="en-US" sz="7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3">
    <p:bg>
      <p:bgPr shadeToTitle="0">
        <a:solidFill>
          <a:srgbClr val="050808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83199458" name="Shape 0"/>
          <p:cNvSpPr/>
          <p:nvPr/>
        </p:nvSpPr>
        <p:spPr bwMode="auto">
          <a:xfrm>
            <a:off x="0" y="0"/>
            <a:ext cx="12191695" cy="6858000"/>
          </a:xfrm>
          <a:prstGeom prst="rect">
            <a:avLst/>
          </a:prstGeom>
          <a:solidFill>
            <a:srgbClr val="050808"/>
          </a:solidFill>
          <a:ln w="12700">
            <a:solidFill>
              <a:srgbClr val="050808"/>
            </a:solidFill>
            <a:prstDash val="solid"/>
          </a:ln>
        </p:spPr>
      </p:sp>
      <p:sp>
        <p:nvSpPr>
          <p:cNvPr id="1712135352" name="Shape 1"/>
          <p:cNvSpPr/>
          <p:nvPr/>
        </p:nvSpPr>
        <p:spPr bwMode="auto">
          <a:xfrm>
            <a:off x="0" y="0"/>
            <a:ext cx="12191695" cy="6858000"/>
          </a:xfrm>
          <a:prstGeom prst="rect">
            <a:avLst/>
          </a:prstGeom>
          <a:solidFill>
            <a:srgbClr val="071111">
              <a:alpha val="80000"/>
            </a:srgbClr>
          </a:solidFill>
          <a:ln w="12700">
            <a:solidFill>
              <a:srgbClr val="071111">
                <a:alpha val="0"/>
              </a:srgbClr>
            </a:solidFill>
            <a:prstDash val="solid"/>
          </a:ln>
        </p:spPr>
      </p:sp>
      <p:sp>
        <p:nvSpPr>
          <p:cNvPr id="1106451873" name="Shape 2"/>
          <p:cNvSpPr/>
          <p:nvPr/>
        </p:nvSpPr>
        <p:spPr bwMode="auto">
          <a:xfrm>
            <a:off x="0" y="0"/>
            <a:ext cx="0" cy="6858000"/>
          </a:xfrm>
          <a:prstGeom prst="line">
            <a:avLst/>
          </a:prstGeom>
          <a:noFill/>
          <a:ln w="4445">
            <a:solidFill>
              <a:srgbClr val="132020">
                <a:alpha val="45000"/>
              </a:srgbClr>
            </a:solidFill>
            <a:prstDash val="solid"/>
          </a:ln>
        </p:spPr>
      </p:sp>
      <p:sp>
        <p:nvSpPr>
          <p:cNvPr id="547079946" name="Shape 3"/>
          <p:cNvSpPr/>
          <p:nvPr/>
        </p:nvSpPr>
        <p:spPr bwMode="auto">
          <a:xfrm>
            <a:off x="713232" y="0"/>
            <a:ext cx="0" cy="6858000"/>
          </a:xfrm>
          <a:prstGeom prst="line">
            <a:avLst/>
          </a:prstGeom>
          <a:noFill/>
          <a:ln w="4445">
            <a:solidFill>
              <a:srgbClr val="132020">
                <a:alpha val="45000"/>
              </a:srgbClr>
            </a:solidFill>
            <a:prstDash val="solid"/>
          </a:ln>
        </p:spPr>
      </p:sp>
      <p:sp>
        <p:nvSpPr>
          <p:cNvPr id="1234876706" name="Shape 4"/>
          <p:cNvSpPr/>
          <p:nvPr/>
        </p:nvSpPr>
        <p:spPr bwMode="auto">
          <a:xfrm>
            <a:off x="1426464" y="0"/>
            <a:ext cx="0" cy="6858000"/>
          </a:xfrm>
          <a:prstGeom prst="line">
            <a:avLst/>
          </a:prstGeom>
          <a:noFill/>
          <a:ln w="4445">
            <a:solidFill>
              <a:srgbClr val="132020">
                <a:alpha val="45000"/>
              </a:srgbClr>
            </a:solidFill>
            <a:prstDash val="solid"/>
          </a:ln>
        </p:spPr>
      </p:sp>
      <p:sp>
        <p:nvSpPr>
          <p:cNvPr id="1236677056" name="Shape 5"/>
          <p:cNvSpPr/>
          <p:nvPr/>
        </p:nvSpPr>
        <p:spPr bwMode="auto">
          <a:xfrm>
            <a:off x="2139696" y="0"/>
            <a:ext cx="0" cy="6858000"/>
          </a:xfrm>
          <a:prstGeom prst="line">
            <a:avLst/>
          </a:prstGeom>
          <a:noFill/>
          <a:ln w="4445">
            <a:solidFill>
              <a:srgbClr val="132020">
                <a:alpha val="45000"/>
              </a:srgbClr>
            </a:solidFill>
            <a:prstDash val="solid"/>
          </a:ln>
        </p:spPr>
      </p:sp>
      <p:sp>
        <p:nvSpPr>
          <p:cNvPr id="286118167" name="Shape 6"/>
          <p:cNvSpPr/>
          <p:nvPr/>
        </p:nvSpPr>
        <p:spPr bwMode="auto">
          <a:xfrm>
            <a:off x="2852928" y="0"/>
            <a:ext cx="0" cy="6858000"/>
          </a:xfrm>
          <a:prstGeom prst="line">
            <a:avLst/>
          </a:prstGeom>
          <a:noFill/>
          <a:ln w="4445">
            <a:solidFill>
              <a:srgbClr val="132020">
                <a:alpha val="45000"/>
              </a:srgbClr>
            </a:solidFill>
            <a:prstDash val="solid"/>
          </a:ln>
        </p:spPr>
      </p:sp>
      <p:sp>
        <p:nvSpPr>
          <p:cNvPr id="651865310" name="Shape 7"/>
          <p:cNvSpPr/>
          <p:nvPr/>
        </p:nvSpPr>
        <p:spPr bwMode="auto">
          <a:xfrm>
            <a:off x="3566160" y="0"/>
            <a:ext cx="0" cy="6858000"/>
          </a:xfrm>
          <a:prstGeom prst="line">
            <a:avLst/>
          </a:prstGeom>
          <a:noFill/>
          <a:ln w="4445">
            <a:solidFill>
              <a:srgbClr val="132020">
                <a:alpha val="45000"/>
              </a:srgbClr>
            </a:solidFill>
            <a:prstDash val="solid"/>
          </a:ln>
        </p:spPr>
      </p:sp>
      <p:sp>
        <p:nvSpPr>
          <p:cNvPr id="394031450" name="Shape 8"/>
          <p:cNvSpPr/>
          <p:nvPr/>
        </p:nvSpPr>
        <p:spPr bwMode="auto">
          <a:xfrm>
            <a:off x="4279392" y="0"/>
            <a:ext cx="0" cy="6858000"/>
          </a:xfrm>
          <a:prstGeom prst="line">
            <a:avLst/>
          </a:prstGeom>
          <a:noFill/>
          <a:ln w="4445">
            <a:solidFill>
              <a:srgbClr val="132020">
                <a:alpha val="45000"/>
              </a:srgbClr>
            </a:solidFill>
            <a:prstDash val="solid"/>
          </a:ln>
        </p:spPr>
      </p:sp>
      <p:sp>
        <p:nvSpPr>
          <p:cNvPr id="75543229" name="Shape 9"/>
          <p:cNvSpPr/>
          <p:nvPr/>
        </p:nvSpPr>
        <p:spPr bwMode="auto">
          <a:xfrm>
            <a:off x="4992624" y="0"/>
            <a:ext cx="0" cy="6858000"/>
          </a:xfrm>
          <a:prstGeom prst="line">
            <a:avLst/>
          </a:prstGeom>
          <a:noFill/>
          <a:ln w="4445">
            <a:solidFill>
              <a:srgbClr val="132020">
                <a:alpha val="45000"/>
              </a:srgbClr>
            </a:solidFill>
            <a:prstDash val="solid"/>
          </a:ln>
        </p:spPr>
      </p:sp>
      <p:sp>
        <p:nvSpPr>
          <p:cNvPr id="1586932309" name="Shape 10"/>
          <p:cNvSpPr/>
          <p:nvPr/>
        </p:nvSpPr>
        <p:spPr bwMode="auto">
          <a:xfrm>
            <a:off x="5705856" y="0"/>
            <a:ext cx="0" cy="6858000"/>
          </a:xfrm>
          <a:prstGeom prst="line">
            <a:avLst/>
          </a:prstGeom>
          <a:noFill/>
          <a:ln w="4445">
            <a:solidFill>
              <a:srgbClr val="132020">
                <a:alpha val="45000"/>
              </a:srgbClr>
            </a:solidFill>
            <a:prstDash val="solid"/>
          </a:ln>
        </p:spPr>
      </p:sp>
      <p:sp>
        <p:nvSpPr>
          <p:cNvPr id="72238920" name="Shape 11"/>
          <p:cNvSpPr/>
          <p:nvPr/>
        </p:nvSpPr>
        <p:spPr bwMode="auto">
          <a:xfrm>
            <a:off x="6419088" y="0"/>
            <a:ext cx="0" cy="6858000"/>
          </a:xfrm>
          <a:prstGeom prst="line">
            <a:avLst/>
          </a:prstGeom>
          <a:noFill/>
          <a:ln w="4445">
            <a:solidFill>
              <a:srgbClr val="132020">
                <a:alpha val="45000"/>
              </a:srgbClr>
            </a:solidFill>
            <a:prstDash val="solid"/>
          </a:ln>
        </p:spPr>
      </p:sp>
      <p:sp>
        <p:nvSpPr>
          <p:cNvPr id="897262841" name="Shape 12"/>
          <p:cNvSpPr/>
          <p:nvPr/>
        </p:nvSpPr>
        <p:spPr bwMode="auto">
          <a:xfrm>
            <a:off x="7132320" y="0"/>
            <a:ext cx="0" cy="6858000"/>
          </a:xfrm>
          <a:prstGeom prst="line">
            <a:avLst/>
          </a:prstGeom>
          <a:noFill/>
          <a:ln w="4445">
            <a:solidFill>
              <a:srgbClr val="132020">
                <a:alpha val="45000"/>
              </a:srgbClr>
            </a:solidFill>
            <a:prstDash val="solid"/>
          </a:ln>
        </p:spPr>
      </p:sp>
      <p:sp>
        <p:nvSpPr>
          <p:cNvPr id="784122475" name="Shape 13"/>
          <p:cNvSpPr/>
          <p:nvPr/>
        </p:nvSpPr>
        <p:spPr bwMode="auto">
          <a:xfrm>
            <a:off x="7845552" y="0"/>
            <a:ext cx="0" cy="6858000"/>
          </a:xfrm>
          <a:prstGeom prst="line">
            <a:avLst/>
          </a:prstGeom>
          <a:noFill/>
          <a:ln w="4445">
            <a:solidFill>
              <a:srgbClr val="132020">
                <a:alpha val="45000"/>
              </a:srgbClr>
            </a:solidFill>
            <a:prstDash val="solid"/>
          </a:ln>
        </p:spPr>
      </p:sp>
      <p:sp>
        <p:nvSpPr>
          <p:cNvPr id="634662909" name="Shape 14"/>
          <p:cNvSpPr/>
          <p:nvPr/>
        </p:nvSpPr>
        <p:spPr bwMode="auto">
          <a:xfrm>
            <a:off x="8558784" y="0"/>
            <a:ext cx="0" cy="6858000"/>
          </a:xfrm>
          <a:prstGeom prst="line">
            <a:avLst/>
          </a:prstGeom>
          <a:noFill/>
          <a:ln w="4445">
            <a:solidFill>
              <a:srgbClr val="132020">
                <a:alpha val="45000"/>
              </a:srgbClr>
            </a:solidFill>
            <a:prstDash val="solid"/>
          </a:ln>
        </p:spPr>
      </p:sp>
      <p:sp>
        <p:nvSpPr>
          <p:cNvPr id="1701371655" name="Shape 15"/>
          <p:cNvSpPr/>
          <p:nvPr/>
        </p:nvSpPr>
        <p:spPr bwMode="auto">
          <a:xfrm>
            <a:off x="9272016" y="0"/>
            <a:ext cx="0" cy="6858000"/>
          </a:xfrm>
          <a:prstGeom prst="line">
            <a:avLst/>
          </a:prstGeom>
          <a:noFill/>
          <a:ln w="4445">
            <a:solidFill>
              <a:srgbClr val="132020">
                <a:alpha val="45000"/>
              </a:srgbClr>
            </a:solidFill>
            <a:prstDash val="solid"/>
          </a:ln>
        </p:spPr>
      </p:sp>
      <p:sp>
        <p:nvSpPr>
          <p:cNvPr id="1189173608" name="Shape 16"/>
          <p:cNvSpPr/>
          <p:nvPr/>
        </p:nvSpPr>
        <p:spPr bwMode="auto">
          <a:xfrm>
            <a:off x="9985248" y="0"/>
            <a:ext cx="0" cy="6858000"/>
          </a:xfrm>
          <a:prstGeom prst="line">
            <a:avLst/>
          </a:prstGeom>
          <a:noFill/>
          <a:ln w="4445">
            <a:solidFill>
              <a:srgbClr val="132020">
                <a:alpha val="45000"/>
              </a:srgbClr>
            </a:solidFill>
            <a:prstDash val="solid"/>
          </a:ln>
        </p:spPr>
      </p:sp>
      <p:sp>
        <p:nvSpPr>
          <p:cNvPr id="175036622" name="Shape 17"/>
          <p:cNvSpPr/>
          <p:nvPr/>
        </p:nvSpPr>
        <p:spPr bwMode="auto">
          <a:xfrm>
            <a:off x="10698480" y="0"/>
            <a:ext cx="0" cy="6858000"/>
          </a:xfrm>
          <a:prstGeom prst="line">
            <a:avLst/>
          </a:prstGeom>
          <a:noFill/>
          <a:ln w="4445">
            <a:solidFill>
              <a:srgbClr val="132020">
                <a:alpha val="45000"/>
              </a:srgbClr>
            </a:solidFill>
            <a:prstDash val="solid"/>
          </a:ln>
        </p:spPr>
      </p:sp>
      <p:sp>
        <p:nvSpPr>
          <p:cNvPr id="1892247719" name="Shape 18"/>
          <p:cNvSpPr/>
          <p:nvPr/>
        </p:nvSpPr>
        <p:spPr bwMode="auto">
          <a:xfrm>
            <a:off x="11411712" y="0"/>
            <a:ext cx="0" cy="6858000"/>
          </a:xfrm>
          <a:prstGeom prst="line">
            <a:avLst/>
          </a:prstGeom>
          <a:noFill/>
          <a:ln w="4445">
            <a:solidFill>
              <a:srgbClr val="132020">
                <a:alpha val="45000"/>
              </a:srgbClr>
            </a:solidFill>
            <a:prstDash val="solid"/>
          </a:ln>
        </p:spPr>
      </p:sp>
      <p:sp>
        <p:nvSpPr>
          <p:cNvPr id="605563551" name="Shape 19"/>
          <p:cNvSpPr/>
          <p:nvPr/>
        </p:nvSpPr>
        <p:spPr bwMode="auto">
          <a:xfrm>
            <a:off x="12124943" y="0"/>
            <a:ext cx="0" cy="6858000"/>
          </a:xfrm>
          <a:prstGeom prst="line">
            <a:avLst/>
          </a:prstGeom>
          <a:noFill/>
          <a:ln w="4445">
            <a:solidFill>
              <a:srgbClr val="132020">
                <a:alpha val="45000"/>
              </a:srgbClr>
            </a:solidFill>
            <a:prstDash val="solid"/>
          </a:ln>
        </p:spPr>
      </p:sp>
      <p:sp>
        <p:nvSpPr>
          <p:cNvPr id="822013283" name="Shape 20"/>
          <p:cNvSpPr/>
          <p:nvPr/>
        </p:nvSpPr>
        <p:spPr bwMode="auto">
          <a:xfrm>
            <a:off x="0" y="0"/>
            <a:ext cx="12191695" cy="0"/>
          </a:xfrm>
          <a:prstGeom prst="line">
            <a:avLst/>
          </a:prstGeom>
          <a:noFill/>
          <a:ln w="4445">
            <a:solidFill>
              <a:srgbClr val="132020">
                <a:alpha val="38000"/>
              </a:srgbClr>
            </a:solidFill>
            <a:prstDash val="solid"/>
          </a:ln>
        </p:spPr>
      </p:sp>
      <p:sp>
        <p:nvSpPr>
          <p:cNvPr id="417490007" name="Shape 21"/>
          <p:cNvSpPr/>
          <p:nvPr/>
        </p:nvSpPr>
        <p:spPr bwMode="auto">
          <a:xfrm>
            <a:off x="0" y="713232"/>
            <a:ext cx="12191695" cy="0"/>
          </a:xfrm>
          <a:prstGeom prst="line">
            <a:avLst/>
          </a:prstGeom>
          <a:noFill/>
          <a:ln w="4445">
            <a:solidFill>
              <a:srgbClr val="132020">
                <a:alpha val="38000"/>
              </a:srgbClr>
            </a:solidFill>
            <a:prstDash val="solid"/>
          </a:ln>
        </p:spPr>
      </p:sp>
      <p:sp>
        <p:nvSpPr>
          <p:cNvPr id="114931220" name="Shape 22"/>
          <p:cNvSpPr/>
          <p:nvPr/>
        </p:nvSpPr>
        <p:spPr bwMode="auto">
          <a:xfrm>
            <a:off x="0" y="1426464"/>
            <a:ext cx="12191695" cy="0"/>
          </a:xfrm>
          <a:prstGeom prst="line">
            <a:avLst/>
          </a:prstGeom>
          <a:noFill/>
          <a:ln w="4445">
            <a:solidFill>
              <a:srgbClr val="132020">
                <a:alpha val="38000"/>
              </a:srgbClr>
            </a:solidFill>
            <a:prstDash val="solid"/>
          </a:ln>
        </p:spPr>
      </p:sp>
      <p:sp>
        <p:nvSpPr>
          <p:cNvPr id="2142129297" name="Shape 23"/>
          <p:cNvSpPr/>
          <p:nvPr/>
        </p:nvSpPr>
        <p:spPr bwMode="auto">
          <a:xfrm>
            <a:off x="0" y="2139696"/>
            <a:ext cx="12191695" cy="0"/>
          </a:xfrm>
          <a:prstGeom prst="line">
            <a:avLst/>
          </a:prstGeom>
          <a:noFill/>
          <a:ln w="4445">
            <a:solidFill>
              <a:srgbClr val="132020">
                <a:alpha val="38000"/>
              </a:srgbClr>
            </a:solidFill>
            <a:prstDash val="solid"/>
          </a:ln>
        </p:spPr>
      </p:sp>
      <p:sp>
        <p:nvSpPr>
          <p:cNvPr id="1342733075" name="Shape 24"/>
          <p:cNvSpPr/>
          <p:nvPr/>
        </p:nvSpPr>
        <p:spPr bwMode="auto">
          <a:xfrm>
            <a:off x="0" y="2852928"/>
            <a:ext cx="12191695" cy="0"/>
          </a:xfrm>
          <a:prstGeom prst="line">
            <a:avLst/>
          </a:prstGeom>
          <a:noFill/>
          <a:ln w="4445">
            <a:solidFill>
              <a:srgbClr val="132020">
                <a:alpha val="38000"/>
              </a:srgbClr>
            </a:solidFill>
            <a:prstDash val="solid"/>
          </a:ln>
        </p:spPr>
      </p:sp>
      <p:sp>
        <p:nvSpPr>
          <p:cNvPr id="774991551" name="Shape 25"/>
          <p:cNvSpPr/>
          <p:nvPr/>
        </p:nvSpPr>
        <p:spPr bwMode="auto">
          <a:xfrm>
            <a:off x="0" y="3566160"/>
            <a:ext cx="12191695" cy="0"/>
          </a:xfrm>
          <a:prstGeom prst="line">
            <a:avLst/>
          </a:prstGeom>
          <a:noFill/>
          <a:ln w="4445">
            <a:solidFill>
              <a:srgbClr val="132020">
                <a:alpha val="38000"/>
              </a:srgbClr>
            </a:solidFill>
            <a:prstDash val="solid"/>
          </a:ln>
        </p:spPr>
      </p:sp>
      <p:sp>
        <p:nvSpPr>
          <p:cNvPr id="948315500" name="Shape 26"/>
          <p:cNvSpPr/>
          <p:nvPr/>
        </p:nvSpPr>
        <p:spPr bwMode="auto">
          <a:xfrm>
            <a:off x="0" y="4279392"/>
            <a:ext cx="12191695" cy="0"/>
          </a:xfrm>
          <a:prstGeom prst="line">
            <a:avLst/>
          </a:prstGeom>
          <a:noFill/>
          <a:ln w="4445">
            <a:solidFill>
              <a:srgbClr val="132020">
                <a:alpha val="38000"/>
              </a:srgbClr>
            </a:solidFill>
            <a:prstDash val="solid"/>
          </a:ln>
        </p:spPr>
      </p:sp>
      <p:sp>
        <p:nvSpPr>
          <p:cNvPr id="1441229043" name="Shape 27"/>
          <p:cNvSpPr/>
          <p:nvPr/>
        </p:nvSpPr>
        <p:spPr bwMode="auto">
          <a:xfrm>
            <a:off x="0" y="4992624"/>
            <a:ext cx="12191695" cy="0"/>
          </a:xfrm>
          <a:prstGeom prst="line">
            <a:avLst/>
          </a:prstGeom>
          <a:noFill/>
          <a:ln w="4445">
            <a:solidFill>
              <a:srgbClr val="132020">
                <a:alpha val="38000"/>
              </a:srgbClr>
            </a:solidFill>
            <a:prstDash val="solid"/>
          </a:ln>
        </p:spPr>
      </p:sp>
      <p:sp>
        <p:nvSpPr>
          <p:cNvPr id="145091170" name="Shape 28"/>
          <p:cNvSpPr/>
          <p:nvPr/>
        </p:nvSpPr>
        <p:spPr bwMode="auto">
          <a:xfrm>
            <a:off x="0" y="5705856"/>
            <a:ext cx="12191695" cy="0"/>
          </a:xfrm>
          <a:prstGeom prst="line">
            <a:avLst/>
          </a:prstGeom>
          <a:noFill/>
          <a:ln w="4445">
            <a:solidFill>
              <a:srgbClr val="132020">
                <a:alpha val="38000"/>
              </a:srgbClr>
            </a:solidFill>
            <a:prstDash val="solid"/>
          </a:ln>
        </p:spPr>
      </p:sp>
      <p:sp>
        <p:nvSpPr>
          <p:cNvPr id="1004504075" name="Shape 29"/>
          <p:cNvSpPr/>
          <p:nvPr/>
        </p:nvSpPr>
        <p:spPr bwMode="auto">
          <a:xfrm>
            <a:off x="0" y="6419088"/>
            <a:ext cx="12191695" cy="0"/>
          </a:xfrm>
          <a:prstGeom prst="line">
            <a:avLst/>
          </a:prstGeom>
          <a:noFill/>
          <a:ln w="4445">
            <a:solidFill>
              <a:srgbClr val="132020">
                <a:alpha val="38000"/>
              </a:srgbClr>
            </a:solidFill>
            <a:prstDash val="solid"/>
          </a:ln>
        </p:spPr>
      </p:sp>
      <p:sp>
        <p:nvSpPr>
          <p:cNvPr id="365111605" name="Shape 30"/>
          <p:cNvSpPr/>
          <p:nvPr/>
        </p:nvSpPr>
        <p:spPr bwMode="auto">
          <a:xfrm>
            <a:off x="0" y="0"/>
            <a:ext cx="82296" cy="6858000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pic>
        <p:nvPicPr>
          <p:cNvPr id="293216522" name="Image 0" descr="/home/fanff/fanfan/ML/NLP_coolyeah/TA/ppt_nuxt_movies/assets/generated/nuxt-movies-logo.png"/>
          <p:cNvPicPr>
            <a:picLocks noChangeAspect="1"/>
          </p:cNvPicPr>
          <p:nvPr/>
        </p:nvPicPr>
        <p:blipFill rotWithShape="1">
          <a:blip r:embed="rId3">
            <a:alphaModFix amt="94000"/>
          </a:blip>
          <a:stretch/>
        </p:blipFill>
        <p:spPr bwMode="auto">
          <a:xfrm>
            <a:off x="11356848" y="237744"/>
            <a:ext cx="411480" cy="411480"/>
          </a:xfrm>
          <a:prstGeom prst="rect">
            <a:avLst/>
          </a:prstGeom>
        </p:spPr>
      </p:pic>
      <p:sp>
        <p:nvSpPr>
          <p:cNvPr id="1881926991" name="Text 31"/>
          <p:cNvSpPr/>
          <p:nvPr/>
        </p:nvSpPr>
        <p:spPr bwMode="auto">
          <a:xfrm>
            <a:off x="548640" y="329184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000" b="1">
                <a:solidFill>
                  <a:srgbClr val="F4F7F6"/>
                </a:solidFill>
                <a:latin typeface="Georgia"/>
                <a:ea typeface="Georgia"/>
                <a:cs typeface="Georgia"/>
              </a:rPr>
              <a:t>Demo, Kesimpulan, dan Pengembangan</a:t>
            </a:r>
            <a:endParaRPr lang="en-US" sz="2000"/>
          </a:p>
        </p:txBody>
      </p:sp>
      <p:sp>
        <p:nvSpPr>
          <p:cNvPr id="1487077886" name="Shape 32"/>
          <p:cNvSpPr/>
          <p:nvPr/>
        </p:nvSpPr>
        <p:spPr bwMode="auto">
          <a:xfrm>
            <a:off x="548640" y="804672"/>
            <a:ext cx="1828800" cy="0"/>
          </a:xfrm>
          <a:prstGeom prst="line">
            <a:avLst/>
          </a:prstGeom>
          <a:noFill/>
          <a:ln w="25400">
            <a:solidFill>
              <a:srgbClr val="24D6C3"/>
            </a:solidFill>
            <a:prstDash val="solid"/>
          </a:ln>
        </p:spPr>
      </p:sp>
      <p:sp>
        <p:nvSpPr>
          <p:cNvPr id="1891338033" name="Shape 47"/>
          <p:cNvSpPr/>
          <p:nvPr/>
        </p:nvSpPr>
        <p:spPr bwMode="auto">
          <a:xfrm>
            <a:off x="1650492" y="1097280"/>
            <a:ext cx="3154680" cy="4389120"/>
          </a:xfrm>
          <a:prstGeom prst="roundRect">
            <a:avLst>
              <a:gd name="adj" fmla="val 2029"/>
            </a:avLst>
          </a:prstGeom>
          <a:solidFill>
            <a:srgbClr val="0B1111"/>
          </a:solidFill>
          <a:ln w="12700">
            <a:solidFill>
              <a:srgbClr val="253232"/>
            </a:solidFill>
            <a:prstDash val="solid"/>
          </a:ln>
        </p:spPr>
      </p:sp>
      <p:sp>
        <p:nvSpPr>
          <p:cNvPr id="401453484" name="Text 48"/>
          <p:cNvSpPr/>
          <p:nvPr/>
        </p:nvSpPr>
        <p:spPr bwMode="auto">
          <a:xfrm>
            <a:off x="1924812" y="1417319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800" b="1">
                <a:solidFill>
                  <a:srgbClr val="F4F7F6"/>
                </a:solidFill>
              </a:rPr>
              <a:t>Kesimpulan</a:t>
            </a:r>
            <a:endParaRPr lang="en-US" sz="1800"/>
          </a:p>
        </p:txBody>
      </p:sp>
      <p:sp>
        <p:nvSpPr>
          <p:cNvPr id="725881519" name="Shape 49"/>
          <p:cNvSpPr/>
          <p:nvPr/>
        </p:nvSpPr>
        <p:spPr bwMode="auto">
          <a:xfrm>
            <a:off x="1924812" y="1947671"/>
            <a:ext cx="73152" cy="73152"/>
          </a:xfrm>
          <a:prstGeom prst="ellipse">
            <a:avLst/>
          </a:prstGeom>
          <a:solidFill>
            <a:srgbClr val="24D6C3"/>
          </a:solidFill>
          <a:ln w="12700">
            <a:solidFill>
              <a:srgbClr val="24D6C3"/>
            </a:solidFill>
            <a:prstDash val="solid"/>
          </a:ln>
        </p:spPr>
      </p:sp>
      <p:sp>
        <p:nvSpPr>
          <p:cNvPr id="539757549" name="Text 50"/>
          <p:cNvSpPr/>
          <p:nvPr/>
        </p:nvSpPr>
        <p:spPr bwMode="auto">
          <a:xfrm>
            <a:off x="2089404" y="1874520"/>
            <a:ext cx="2331720" cy="2286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F4F7F6"/>
                </a:solidFill>
              </a:rPr>
              <a:t>Website review film berhasil dibuat.</a:t>
            </a:r>
            <a:endParaRPr lang="en-US" sz="1100"/>
          </a:p>
        </p:txBody>
      </p:sp>
      <p:sp>
        <p:nvSpPr>
          <p:cNvPr id="1439205762" name="Shape 51"/>
          <p:cNvSpPr/>
          <p:nvPr/>
        </p:nvSpPr>
        <p:spPr bwMode="auto">
          <a:xfrm>
            <a:off x="1924812" y="2514599"/>
            <a:ext cx="73152" cy="73152"/>
          </a:xfrm>
          <a:prstGeom prst="ellipse">
            <a:avLst/>
          </a:prstGeom>
          <a:solidFill>
            <a:srgbClr val="24D6C3"/>
          </a:solidFill>
          <a:ln w="12700">
            <a:solidFill>
              <a:srgbClr val="24D6C3"/>
            </a:solidFill>
            <a:prstDash val="solid"/>
          </a:ln>
        </p:spPr>
      </p:sp>
      <p:sp>
        <p:nvSpPr>
          <p:cNvPr id="319446575" name="Text 52"/>
          <p:cNvSpPr/>
          <p:nvPr/>
        </p:nvSpPr>
        <p:spPr bwMode="auto">
          <a:xfrm>
            <a:off x="2089404" y="2441448"/>
            <a:ext cx="2331720" cy="2286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F4F7F6"/>
                </a:solidFill>
              </a:rPr>
              <a:t>Model NLP terintegrasi realtime.</a:t>
            </a:r>
            <a:endParaRPr lang="en-US" sz="1100"/>
          </a:p>
        </p:txBody>
      </p:sp>
      <p:sp>
        <p:nvSpPr>
          <p:cNvPr id="912398410" name="Shape 53"/>
          <p:cNvSpPr/>
          <p:nvPr/>
        </p:nvSpPr>
        <p:spPr bwMode="auto">
          <a:xfrm>
            <a:off x="1924812" y="3081528"/>
            <a:ext cx="73152" cy="73152"/>
          </a:xfrm>
          <a:prstGeom prst="ellipse">
            <a:avLst/>
          </a:prstGeom>
          <a:solidFill>
            <a:srgbClr val="24D6C3"/>
          </a:solidFill>
          <a:ln w="12700">
            <a:solidFill>
              <a:srgbClr val="24D6C3"/>
            </a:solidFill>
            <a:prstDash val="solid"/>
          </a:ln>
        </p:spPr>
      </p:sp>
      <p:sp>
        <p:nvSpPr>
          <p:cNvPr id="436421973" name="Text 54"/>
          <p:cNvSpPr/>
          <p:nvPr/>
        </p:nvSpPr>
        <p:spPr bwMode="auto">
          <a:xfrm>
            <a:off x="2089404" y="3008376"/>
            <a:ext cx="2331720" cy="2286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F4F7F6"/>
                </a:solidFill>
              </a:rPr>
              <a:t>Accuracy model final 90.3%.</a:t>
            </a:r>
            <a:endParaRPr lang="en-US" sz="1100"/>
          </a:p>
        </p:txBody>
      </p:sp>
      <p:sp>
        <p:nvSpPr>
          <p:cNvPr id="353170777" name="Shape 55"/>
          <p:cNvSpPr/>
          <p:nvPr/>
        </p:nvSpPr>
        <p:spPr bwMode="auto">
          <a:xfrm>
            <a:off x="1924812" y="3648456"/>
            <a:ext cx="73152" cy="73152"/>
          </a:xfrm>
          <a:prstGeom prst="ellipse">
            <a:avLst/>
          </a:prstGeom>
          <a:solidFill>
            <a:srgbClr val="24D6C3"/>
          </a:solidFill>
          <a:ln w="12700">
            <a:solidFill>
              <a:srgbClr val="24D6C3"/>
            </a:solidFill>
            <a:prstDash val="solid"/>
          </a:ln>
        </p:spPr>
      </p:sp>
      <p:sp>
        <p:nvSpPr>
          <p:cNvPr id="1724875663" name="Text 56"/>
          <p:cNvSpPr/>
          <p:nvPr/>
        </p:nvSpPr>
        <p:spPr bwMode="auto">
          <a:xfrm>
            <a:off x="2089404" y="3575303"/>
            <a:ext cx="2331720" cy="2286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F4F7F6"/>
                </a:solidFill>
              </a:rPr>
              <a:t>Review tersimpan bersama label dan confidence.</a:t>
            </a:r>
            <a:endParaRPr lang="en-US" sz="1100"/>
          </a:p>
        </p:txBody>
      </p:sp>
      <p:sp>
        <p:nvSpPr>
          <p:cNvPr id="188461933" name="Shape 57"/>
          <p:cNvSpPr/>
          <p:nvPr/>
        </p:nvSpPr>
        <p:spPr bwMode="auto">
          <a:xfrm>
            <a:off x="6419088" y="1106424"/>
            <a:ext cx="3154680" cy="4389120"/>
          </a:xfrm>
          <a:prstGeom prst="roundRect">
            <a:avLst>
              <a:gd name="adj" fmla="val 2029"/>
            </a:avLst>
          </a:prstGeom>
          <a:solidFill>
            <a:srgbClr val="0B1111"/>
          </a:solidFill>
          <a:ln w="12700">
            <a:solidFill>
              <a:srgbClr val="253232"/>
            </a:solidFill>
            <a:prstDash val="solid"/>
          </a:ln>
        </p:spPr>
      </p:sp>
      <p:sp>
        <p:nvSpPr>
          <p:cNvPr id="1113434367" name="Text 58"/>
          <p:cNvSpPr/>
          <p:nvPr/>
        </p:nvSpPr>
        <p:spPr bwMode="auto">
          <a:xfrm>
            <a:off x="6693408" y="1426464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800" b="1">
                <a:solidFill>
                  <a:srgbClr val="E50914"/>
                </a:solidFill>
              </a:rPr>
              <a:t>Pengembangan</a:t>
            </a:r>
            <a:endParaRPr lang="en-US" sz="1800"/>
          </a:p>
        </p:txBody>
      </p:sp>
      <p:sp>
        <p:nvSpPr>
          <p:cNvPr id="1361824836" name="Shape 59"/>
          <p:cNvSpPr/>
          <p:nvPr/>
        </p:nvSpPr>
        <p:spPr bwMode="auto">
          <a:xfrm>
            <a:off x="6693408" y="1956816"/>
            <a:ext cx="73152" cy="73152"/>
          </a:xfrm>
          <a:prstGeom prst="ellipse">
            <a:avLst/>
          </a:prstGeom>
          <a:solidFill>
            <a:srgbClr val="24D6C3"/>
          </a:solidFill>
          <a:ln w="12700">
            <a:solidFill>
              <a:srgbClr val="24D6C3"/>
            </a:solidFill>
            <a:prstDash val="solid"/>
          </a:ln>
        </p:spPr>
      </p:sp>
      <p:sp>
        <p:nvSpPr>
          <p:cNvPr id="1201000708" name="Text 60"/>
          <p:cNvSpPr/>
          <p:nvPr/>
        </p:nvSpPr>
        <p:spPr bwMode="auto">
          <a:xfrm>
            <a:off x="6858000" y="1883664"/>
            <a:ext cx="2331720" cy="2286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F4F7F6"/>
                </a:solidFill>
              </a:rPr>
              <a:t>Model Bahasa Indonesia atau multilingual.</a:t>
            </a:r>
            <a:endParaRPr lang="en-US" sz="1100"/>
          </a:p>
        </p:txBody>
      </p:sp>
      <p:sp>
        <p:nvSpPr>
          <p:cNvPr id="1537667894" name="Shape 61"/>
          <p:cNvSpPr/>
          <p:nvPr/>
        </p:nvSpPr>
        <p:spPr bwMode="auto">
          <a:xfrm>
            <a:off x="6693408" y="2523744"/>
            <a:ext cx="73152" cy="73152"/>
          </a:xfrm>
          <a:prstGeom prst="ellipse">
            <a:avLst/>
          </a:prstGeom>
          <a:solidFill>
            <a:srgbClr val="24D6C3"/>
          </a:solidFill>
          <a:ln w="12700">
            <a:solidFill>
              <a:srgbClr val="24D6C3"/>
            </a:solidFill>
            <a:prstDash val="solid"/>
          </a:ln>
        </p:spPr>
      </p:sp>
      <p:sp>
        <p:nvSpPr>
          <p:cNvPr id="1199560347" name="Text 62"/>
          <p:cNvSpPr/>
          <p:nvPr/>
        </p:nvSpPr>
        <p:spPr bwMode="auto">
          <a:xfrm>
            <a:off x="6858000" y="2441448"/>
            <a:ext cx="2331720" cy="2286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F4F7F6"/>
                </a:solidFill>
              </a:rPr>
              <a:t>Analytics sentimen per film.</a:t>
            </a:r>
            <a:endParaRPr lang="en-US" sz="1100"/>
          </a:p>
        </p:txBody>
      </p:sp>
      <p:sp>
        <p:nvSpPr>
          <p:cNvPr id="198167396" name="Text 67"/>
          <p:cNvSpPr/>
          <p:nvPr/>
        </p:nvSpPr>
        <p:spPr bwMode="auto">
          <a:xfrm>
            <a:off x="914400" y="5806440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24D6C3"/>
                </a:solidFill>
              </a:rPr>
              <a:t>Deliverable: source code website, notebook, model .joblib, dan PPT.</a:t>
            </a:r>
            <a:endParaRPr lang="en-US" sz="1300"/>
          </a:p>
        </p:txBody>
      </p:sp>
      <p:sp>
        <p:nvSpPr>
          <p:cNvPr id="242982459" name="Text 68"/>
          <p:cNvSpPr/>
          <p:nvPr/>
        </p:nvSpPr>
        <p:spPr bwMode="auto">
          <a:xfrm>
            <a:off x="566928" y="6446520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700">
                <a:solidFill>
                  <a:srgbClr val="9EA8A6"/>
                </a:solidFill>
              </a:rPr>
              <a:t>Nuxt Movies · NLP Sentiment Classification · 13</a:t>
            </a:r>
            <a:endParaRPr lang="en-US" sz="7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Georgia"/>
        <a:ea typeface="Arial"/>
        <a:cs typeface="Arial"/>
      </a:majorFont>
      <a:minorFont>
        <a:latin typeface="Aptos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ONLYOFFICE/9.3.1.8</Application>
  <PresentationFormat>On-screen Show (4:3)</PresentationFormat>
  <Paragraphs>0</Paragraphs>
  <Slides>13</Slides>
  <Notes>13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Nuxt Movies</Company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Movie Review Website with Realtime NLP Sentiment Classification</dc:title>
  <dc:subject>Movie Review Website with Realtime NLP Sentiment Classification</dc:subject>
  <dc:creator>Fan Fan Firgiawan</dc:creator>
  <cp:lastModifiedBy/>
  <cp:revision>4</cp:revision>
  <dcterms:created xsi:type="dcterms:W3CDTF">2026-04-29T13:42:06Z</dcterms:created>
  <dcterms:modified xsi:type="dcterms:W3CDTF">2026-05-03T02:58:59Z</dcterms:modified>
</cp:coreProperties>
</file>